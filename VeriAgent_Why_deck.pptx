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B07B16E-F5A2-4F95-81C9-B2A5316A3E0F}" type="datetimeFigureOut">
              <a:rPr lang="es-ES" smtClean="0"/>
              <a:t>26/10/2026</a:t>
            </a:fld>
            <a:endParaRPr lang="es-ES"/>
          </a:p>
        </p:txBody>
      </p:sp>
      <p:sp>
        <p:nvSpPr>
          <p:cNvPr id="4" name="Marcador de imagen d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79800DF-05B6-4C10-BEEB-95A97687C35E}" type="slidenum">
              <a:rPr lang="es-ES" smtClean="0"/>
              <a:t>‹Nº›</a:t>
            </a:fld>
            <a:endParaRPr lang="es-ES"/>
          </a:p>
        </p:txBody>
      </p:sp>
    </p:spTree>
    <p:extLst>
      <p:ext uri="{BB962C8B-B14F-4D97-AF65-F5344CB8AC3E}">
        <p14:creationId xmlns:p14="http://schemas.microsoft.com/office/powerpoint/2010/main" val="368447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Hi, I'm Alonso. This is VeriAgent Why, my solo entry for Track 02, The Agent That Can Explain Why. It answers one question an ops analyst gets every week: why did this KPI drop? It proposes causes, proves them with rows from the data, checks that every citation can be re-found, and writes a short decision memo.</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a:t>
            </a:fld>
            <a:endParaRPr lang="es-ES"/>
          </a:p>
        </p:txBody>
      </p:sp>
    </p:spTree>
    <p:extLst>
      <p:ext uri="{BB962C8B-B14F-4D97-AF65-F5344CB8AC3E}">
        <p14:creationId xmlns:p14="http://schemas.microsoft.com/office/powerpoint/2010/main" val="282571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Picture the ops analyst on a Monday. On-time delivery fell, and there are three easy stories: the carrier slipped, the promotion flooded the warehouse, or it's just the season. Today this is ad-hoc SQL under time pressure, so the first plausible story wins. And if the boss asks "was it the promotion?", that leading question usually gets confirmed.</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2</a:t>
            </a:fld>
            <a:endParaRPr lang="es-ES"/>
          </a:p>
        </p:txBody>
      </p:sp>
    </p:spTree>
    <p:extLst>
      <p:ext uri="{BB962C8B-B14F-4D97-AF65-F5344CB8AC3E}">
        <p14:creationId xmlns:p14="http://schemas.microsoft.com/office/powerpoint/2010/main" val="3149007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VeriAgent Why tests competing causes against the data in Zetaris instead of picking a story. In this live run the question blames the Home week promotion in the South. That's a planted trap. The agent checks: 49 promo shipments, only 3 late, no share of the drop. It names the real cause, a carrier breach in the North, and cites the exact rows. Confidence comes from a formula, not from the model.</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3</a:t>
            </a:fld>
            <a:endParaRPr lang="es-ES"/>
          </a:p>
        </p:txBody>
      </p:sp>
    </p:spTree>
    <p:extLst>
      <p:ext uri="{BB962C8B-B14F-4D97-AF65-F5344CB8AC3E}">
        <p14:creationId xmlns:p14="http://schemas.microsoft.com/office/powerpoint/2010/main" val="4028065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Six agents work in a chain. The Planner proposes causes, the Retriever queries Zetaris, a fast filter keeps the relevant evidence, and the Evidence Evaluator tests each cause. If evidence is missing it sends the Planner back, up to three rounds, driven by Meterless Markovian. The Cause Analyst ranks, the Writer drafts, and a deterministic check re-runs every cited query. If a claim can't be re-found, it goes back for a rewrite.</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4</a:t>
            </a:fld>
            <a:endParaRPr lang="es-ES"/>
          </a:p>
        </p:txBody>
      </p:sp>
    </p:spTree>
    <p:extLst>
      <p:ext uri="{BB962C8B-B14F-4D97-AF65-F5344CB8AC3E}">
        <p14:creationId xmlns:p14="http://schemas.microsoft.com/office/powerpoint/2010/main" val="116776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Zetaris is where the data lives. Orders, logistics and returns sit in Postgres, tickets and promotions come from a REST source, and Zetaris federates them into five views. Every agent query and every re-check goes through these views over JDBC. On the 26th of October all three demo scenarios ran live this way. Without Zetaris, the same SQL runs on a DuckDB snapshot, and the memo says so.</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5</a:t>
            </a:fld>
            <a:endParaRPr lang="es-ES"/>
          </a:p>
        </p:txBody>
      </p:sp>
    </p:spTree>
    <p:extLst>
      <p:ext uri="{BB962C8B-B14F-4D97-AF65-F5344CB8AC3E}">
        <p14:creationId xmlns:p14="http://schemas.microsoft.com/office/powerpoint/2010/main" val="3026652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Every model call goes through Meterless Nightshift, pinned to two NVIDIA Nemotron models: Lightning for the fast agents, Ultra for planning and writing. At start-up we check the pins and stop if routing differs. Each call leaves a receipt with the agent name and a request id. These are real rows from the live trap run. H-MEM stores the hypotheses and evidence, and Markovian drives the investigation rounds.</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6</a:t>
            </a:fld>
            <a:endParaRPr lang="es-ES"/>
          </a:p>
        </p:txBody>
      </p:sp>
    </p:spTree>
    <p:extLst>
      <p:ext uri="{BB962C8B-B14F-4D97-AF65-F5344CB8AC3E}">
        <p14:creationId xmlns:p14="http://schemas.microsoft.com/office/powerpoint/2010/main" val="1624613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This is the part I'm proudest of. Every claim in the memo carries the query and row ids it came from. The Traceability Check re-runs that query through Zetaris. In the demo I change one cited row in the Postgres source: the claim turns red. I restore it: green again. To be clear, green means the cited data can be re-found. It's traceability, not truth.</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7</a:t>
            </a:fld>
            <a:endParaRPr lang="es-ES"/>
          </a:p>
        </p:txBody>
      </p:sp>
    </p:spTree>
    <p:extLst>
      <p:ext uri="{BB962C8B-B14F-4D97-AF65-F5344CB8AC3E}">
        <p14:creationId xmlns:p14="http://schemas.microsoft.com/office/powerpoint/2010/main" val="1714812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This is the product view. On the left, the memo screen: top cause, cited rows you can click, the confidence score and the limits. On the right, the trace from the trap example. You can see each hand-off, and the Evidence Evaluator sending the Planner back to drill down from carrier to carrier by region, before the check passes both claims.</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8</a:t>
            </a:fld>
            <a:endParaRPr lang="es-ES"/>
          </a:p>
        </p:txBody>
      </p:sp>
    </p:spTree>
    <p:extLst>
      <p:ext uri="{BB962C8B-B14F-4D97-AF65-F5344CB8AC3E}">
        <p14:creationId xmlns:p14="http://schemas.microsoft.com/office/powerpoint/2010/main" val="1523816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The stack is deliberately plain. My own Python orchestrator, no agent framework. FastAPI for the API, a small web UI, and a CLI. Models are NVIDIA Nemotron through Meterless Nightshift; H-MEM and Markovian run through a small Node bridge. Data comes from Zetaris over JDBC, or a DuckDB snapshot offline. It ships with Docker compose, pytest and GitHub CI, and JSONL logs for every step.</a:t>
            </a:r>
          </a:p>
        </p:txBody>
      </p:sp>
      <p:sp>
        <p:nvSpPr>
          <p:cNvPr id="4" name="Marcador de número de diapositiva 3"/>
          <p:cNvSpPr>
            <a:spLocks noGrp="1"/>
          </p:cNvSpPr>
          <p:nvPr>
            <p:ph type="sldNum" sz="quarter" idx="5"/>
          </p:nvPr>
        </p:nvSpPr>
        <p:spPr/>
        <p:txBody>
          <a:bodyPr/>
          <a:lstStyle/>
          <a:p>
            <a:fld id="{479800DF-05B6-4C10-BEEB-95A97687C35E}" type="slidenum">
              <a:rPr lang="es-ES" smtClean="0"/>
              <a:t>9</a:t>
            </a:fld>
            <a:endParaRPr lang="es-ES"/>
          </a:p>
        </p:txBody>
      </p:sp>
    </p:spTree>
    <p:extLst>
      <p:ext uri="{BB962C8B-B14F-4D97-AF65-F5344CB8AC3E}">
        <p14:creationId xmlns:p14="http://schemas.microsoft.com/office/powerpoint/2010/main" val="769653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Separately from the live product, I tested the answer and confidence layer on a fresh public benchmark, TableBench, 361 questions, pre-registered and run once. The agent got 48.2 percent right against 32.7 for plain RAG. The confidence score separates right from wrong answers with an AUROC of 0.83. When it chooses to answer, it's right 77 percent of the time. This is the benchmark harness only; the live memo uses a fixed formula.</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10</a:t>
            </a:fld>
            <a:endParaRPr lang="es-ES"/>
          </a:p>
        </p:txBody>
      </p:sp>
    </p:spTree>
    <p:extLst>
      <p:ext uri="{BB962C8B-B14F-4D97-AF65-F5344CB8AC3E}">
        <p14:creationId xmlns:p14="http://schemas.microsoft.com/office/powerpoint/2010/main" val="2578767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Here are the limits, stated plainly. Green on the check means traceable, not correct: 140 of 171 wrong benchmark answers still passed it. The 21 of 22 dev score is in-sample, and my deterministic rules score the same; plain RAG was even below a trivial rule. The confidence model is not better than cheap signals on hard sets, the narrative check over-flags, and it abstains a lot. Next: numeric sanity checks, Markovian control in the app, and an evaluation set I didn't write.</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11</a:t>
            </a:fld>
            <a:endParaRPr lang="es-ES"/>
          </a:p>
        </p:txBody>
      </p:sp>
    </p:spTree>
    <p:extLst>
      <p:ext uri="{BB962C8B-B14F-4D97-AF65-F5344CB8AC3E}">
        <p14:creationId xmlns:p14="http://schemas.microsoft.com/office/powerpoint/2010/main" val="3307383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Quick declarations. At runtime the product uses NVIDIA Nemotron through Meterless Nightshift. The code was written in the build window by AI coding agents under my direction, and I reviewed, tested and committed it. Cursor was not used; the organisers made it optional on the 22nd of October. Pre-existing work is environment setup, design material and an empty repo skeleton. You can run it from a clean clone with no credentials. Thanks to Zetaris, Meterless and NVIDIA.</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12</a:t>
            </a:fld>
            <a:endParaRPr lang="es-ES"/>
          </a:p>
        </p:txBody>
      </p:sp>
    </p:spTree>
    <p:extLst>
      <p:ext uri="{BB962C8B-B14F-4D97-AF65-F5344CB8AC3E}">
        <p14:creationId xmlns:p14="http://schemas.microsoft.com/office/powerpoint/2010/main" val="57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Appendix. Replays of what the system generated, and a list of every output in the repo. Not part of the three-minute talk.</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13</a:t>
            </a:fld>
            <a:endParaRPr lang="es-ES"/>
          </a:p>
        </p:txBody>
      </p:sp>
    </p:spTree>
    <p:extLst>
      <p:ext uri="{BB962C8B-B14F-4D97-AF65-F5344CB8AC3E}">
        <p14:creationId xmlns:p14="http://schemas.microsoft.com/office/powerpoint/2010/main" val="1269883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Two replays. Example 1 is the standard carrier breach. Example 3 is the honest case: nothing explains the return-rate change, so the agent says unresolved instead of inventing a cause. It also shows the failed calls from the 25 October run, before pacing, and the clean live run on the 26th.</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14</a:t>
            </a:fld>
            <a:endParaRPr lang="es-ES"/>
          </a:p>
        </p:txBody>
      </p:sp>
    </p:spTree>
    <p:extLst>
      <p:ext uri="{BB962C8B-B14F-4D97-AF65-F5344CB8AC3E}">
        <p14:creationId xmlns:p14="http://schemas.microsoft.com/office/powerpoint/2010/main" val="957288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On the left, every receipt of the live trap run, one per model call, each routed to the pinned model. On the right, the benchmark result replayed from the committed report.</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15</a:t>
            </a:fld>
            <a:endParaRPr lang="es-ES"/>
          </a:p>
        </p:txBody>
      </p:sp>
    </p:spTree>
    <p:extLst>
      <p:ext uri="{BB962C8B-B14F-4D97-AF65-F5344CB8AC3E}">
        <p14:creationId xmlns:p14="http://schemas.microsoft.com/office/powerpoint/2010/main" val="2649820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These three frames are for recordings from my machine, where the UI, the API and Zetaris run. They are left empty on purpose: nothing here is a fake recording.</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16</a:t>
            </a:fld>
            <a:endParaRPr lang="es-ES"/>
          </a:p>
        </p:txBody>
      </p:sp>
    </p:spTree>
    <p:extLst>
      <p:ext uri="{BB962C8B-B14F-4D97-AF65-F5344CB8AC3E}">
        <p14:creationId xmlns:p14="http://schemas.microsoft.com/office/powerpoint/2010/main" val="1463648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For reference, everything the system generated that is committed in the repo: outputs, traces, memos, ledgers, live receipts, the live Zetaris sessions, and the evaluation and benchmark reports.</a:t>
            </a:r>
            <a:endParaRPr lang="es-ES"/>
          </a:p>
        </p:txBody>
      </p:sp>
      <p:sp>
        <p:nvSpPr>
          <p:cNvPr id="4" name="Marcador de número de diapositiva 3"/>
          <p:cNvSpPr>
            <a:spLocks noGrp="1"/>
          </p:cNvSpPr>
          <p:nvPr>
            <p:ph type="sldNum" sz="quarter" idx="5"/>
          </p:nvPr>
        </p:nvSpPr>
        <p:spPr/>
        <p:txBody>
          <a:bodyPr/>
          <a:lstStyle/>
          <a:p>
            <a:fld id="{479800DF-05B6-4C10-BEEB-95A97687C35E}" type="slidenum">
              <a:rPr lang="es-ES" smtClean="0"/>
              <a:t>17</a:t>
            </a:fld>
            <a:endParaRPr lang="es-ES"/>
          </a:p>
        </p:txBody>
      </p:sp>
    </p:spTree>
    <p:extLst>
      <p:ext uri="{BB962C8B-B14F-4D97-AF65-F5344CB8AC3E}">
        <p14:creationId xmlns:p14="http://schemas.microsoft.com/office/powerpoint/2010/main" val="369662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B0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media" Target="../media/media3.mp4"/><Relationship Id="rId7" Type="http://schemas.openxmlformats.org/officeDocument/2006/relationships/image" Target="../media/image2.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video" Target="../media/media3.mp4"/></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5.mp4"/><Relationship Id="rId7" Type="http://schemas.openxmlformats.org/officeDocument/2006/relationships/image" Target="../media/image4.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video" Target="../media/media5.mp4"/></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media" Target="../media/media7.mp4"/><Relationship Id="rId7" Type="http://schemas.openxmlformats.org/officeDocument/2006/relationships/image" Target="../media/image6.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video" Target="../media/media7.mp4"/></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microsoft.com/office/2007/relationships/media" Target="../media/media9.mp4"/><Relationship Id="rId7"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6" Type="http://schemas.openxmlformats.org/officeDocument/2006/relationships/video" Target="../media/media10.mp4"/><Relationship Id="rId11" Type="http://schemas.openxmlformats.org/officeDocument/2006/relationships/image" Target="../media/image10.png"/><Relationship Id="rId5" Type="http://schemas.microsoft.com/office/2007/relationships/media" Target="../media/media10.mp4"/><Relationship Id="rId10" Type="http://schemas.openxmlformats.org/officeDocument/2006/relationships/image" Target="../media/image9.png"/><Relationship Id="rId4" Type="http://schemas.openxmlformats.org/officeDocument/2006/relationships/video" Target="../media/media9.mp4"/><Relationship Id="rId9"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48640" y="502920"/>
            <a:ext cx="11091672" cy="5852160"/>
          </a:xfrm>
          <a:prstGeom prst="roundRect">
            <a:avLst>
              <a:gd name="adj" fmla="val 1563"/>
            </a:avLst>
          </a:prstGeom>
          <a:solidFill>
            <a:srgbClr val="0B0B0B"/>
          </a:solidFill>
          <a:ln w="15875">
            <a:solidFill>
              <a:srgbClr val="4ADE80"/>
            </a:solidFill>
            <a:prstDash val="dash"/>
          </a:ln>
        </p:spPr>
      </p:sp>
      <p:sp>
        <p:nvSpPr>
          <p:cNvPr id="4" name="Text 1"/>
          <p:cNvSpPr/>
          <p:nvPr/>
        </p:nvSpPr>
        <p:spPr>
          <a:xfrm>
            <a:off x="731520" y="576072"/>
            <a:ext cx="10725912" cy="292608"/>
          </a:xfrm>
          <a:prstGeom prst="rect">
            <a:avLst/>
          </a:prstGeom>
          <a:noFill/>
          <a:ln/>
        </p:spPr>
        <p:txBody>
          <a:bodyPr wrap="square" lIns="0" tIns="0" rIns="0" bIns="0" rtlCol="0" anchor="ctr"/>
          <a:lstStyle/>
          <a:p>
            <a:pPr marL="0" indent="0">
              <a:buNone/>
            </a:pPr>
            <a:r>
              <a:rPr lang="en-US" sz="1300" dirty="0">
                <a:solidFill>
                  <a:srgbClr val="4ADE80"/>
                </a:solidFill>
                <a:latin typeface="Consolas" pitchFamily="34" charset="0"/>
                <a:ea typeface="Consolas" pitchFamily="34" charset="-122"/>
                <a:cs typeface="Consolas" pitchFamily="34" charset="-120"/>
              </a:rPr>
              <a:t>Open Agent Hackathon 2026 · GenAI.Works / HackOS</a:t>
            </a:r>
            <a:endParaRPr lang="en-US" sz="1300" dirty="0"/>
          </a:p>
        </p:txBody>
      </p:sp>
      <p:sp>
        <p:nvSpPr>
          <p:cNvPr id="5" name="Text 2"/>
          <p:cNvSpPr/>
          <p:nvPr/>
        </p:nvSpPr>
        <p:spPr>
          <a:xfrm>
            <a:off x="1005840" y="1234440"/>
            <a:ext cx="10058400" cy="914400"/>
          </a:xfrm>
          <a:prstGeom prst="rect">
            <a:avLst/>
          </a:prstGeom>
          <a:noFill/>
          <a:ln/>
        </p:spPr>
        <p:txBody>
          <a:bodyPr wrap="square" lIns="0" tIns="0" rIns="0" bIns="0" rtlCol="0" anchor="t"/>
          <a:lstStyle/>
          <a:p>
            <a:pPr marL="0" indent="0" algn="l">
              <a:buNone/>
            </a:pPr>
            <a:r>
              <a:rPr lang="en-US" sz="6000" b="1" dirty="0">
                <a:solidFill>
                  <a:srgbClr val="FFFFFF"/>
                </a:solidFill>
                <a:latin typeface="Calibri" pitchFamily="34" charset="0"/>
                <a:ea typeface="Calibri" pitchFamily="34" charset="-122"/>
                <a:cs typeface="Calibri" pitchFamily="34" charset="-120"/>
              </a:rPr>
              <a:t>VeriAgent Why</a:t>
            </a:r>
            <a:endParaRPr lang="en-US" sz="6000" dirty="0"/>
          </a:p>
        </p:txBody>
      </p:sp>
      <p:sp>
        <p:nvSpPr>
          <p:cNvPr id="6" name="Text 3"/>
          <p:cNvSpPr/>
          <p:nvPr/>
        </p:nvSpPr>
        <p:spPr>
          <a:xfrm>
            <a:off x="1005840" y="2194560"/>
            <a:ext cx="10058400" cy="548640"/>
          </a:xfrm>
          <a:prstGeom prst="rect">
            <a:avLst/>
          </a:prstGeom>
          <a:noFill/>
          <a:ln/>
        </p:spPr>
        <p:txBody>
          <a:bodyPr wrap="square" lIns="0" tIns="0" rIns="0" bIns="0" rtlCol="0" anchor="t"/>
          <a:lstStyle/>
          <a:p>
            <a:pPr marL="0" indent="0" algn="l">
              <a:buNone/>
            </a:pPr>
            <a:r>
              <a:rPr lang="en-US" sz="2800" dirty="0">
                <a:solidFill>
                  <a:srgbClr val="9CA3AF"/>
                </a:solidFill>
                <a:latin typeface="Calibri" pitchFamily="34" charset="0"/>
                <a:ea typeface="Calibri" pitchFamily="34" charset="-122"/>
                <a:cs typeface="Calibri" pitchFamily="34" charset="-120"/>
              </a:rPr>
              <a:t>the agent that explains why a KPI dropped</a:t>
            </a:r>
            <a:endParaRPr lang="en-US" sz="2800" dirty="0"/>
          </a:p>
        </p:txBody>
      </p:sp>
      <p:sp>
        <p:nvSpPr>
          <p:cNvPr id="7" name="Shape 4"/>
          <p:cNvSpPr/>
          <p:nvPr/>
        </p:nvSpPr>
        <p:spPr>
          <a:xfrm>
            <a:off x="1005840" y="3246120"/>
            <a:ext cx="2240280" cy="685800"/>
          </a:xfrm>
          <a:prstGeom prst="roundRect">
            <a:avLst>
              <a:gd name="adj" fmla="val 10667"/>
            </a:avLst>
          </a:prstGeom>
          <a:solidFill>
            <a:srgbClr val="0B0B0B"/>
          </a:solidFill>
          <a:ln w="12700">
            <a:solidFill>
              <a:srgbClr val="FFFFFF"/>
            </a:solidFill>
            <a:prstDash val="solid"/>
          </a:ln>
        </p:spPr>
      </p:sp>
      <p:sp>
        <p:nvSpPr>
          <p:cNvPr id="8" name="Text 5"/>
          <p:cNvSpPr/>
          <p:nvPr/>
        </p:nvSpPr>
        <p:spPr>
          <a:xfrm>
            <a:off x="1060704" y="3282696"/>
            <a:ext cx="2130552" cy="612648"/>
          </a:xfrm>
          <a:prstGeom prst="rect">
            <a:avLst/>
          </a:prstGeom>
          <a:noFill/>
          <a:ln/>
        </p:spPr>
        <p:txBody>
          <a:bodyPr wrap="square" lIns="25400" tIns="25400" rIns="25400" bIns="254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hypotheses</a:t>
            </a:r>
            <a:endParaRPr lang="en-US" sz="1600" dirty="0"/>
          </a:p>
        </p:txBody>
      </p:sp>
      <p:sp>
        <p:nvSpPr>
          <p:cNvPr id="9" name="Shape 6"/>
          <p:cNvSpPr/>
          <p:nvPr/>
        </p:nvSpPr>
        <p:spPr>
          <a:xfrm>
            <a:off x="3282696" y="3589020"/>
            <a:ext cx="338328" cy="914"/>
          </a:xfrm>
          <a:prstGeom prst="line">
            <a:avLst/>
          </a:prstGeom>
          <a:noFill/>
          <a:ln w="15875">
            <a:solidFill>
              <a:srgbClr val="22D3EE"/>
            </a:solidFill>
            <a:prstDash val="solid"/>
            <a:tailEnd type="arrow"/>
          </a:ln>
        </p:spPr>
      </p:sp>
      <p:sp>
        <p:nvSpPr>
          <p:cNvPr id="10" name="Shape 7"/>
          <p:cNvSpPr/>
          <p:nvPr/>
        </p:nvSpPr>
        <p:spPr>
          <a:xfrm>
            <a:off x="3657600" y="3246120"/>
            <a:ext cx="2240280" cy="685800"/>
          </a:xfrm>
          <a:prstGeom prst="roundRect">
            <a:avLst>
              <a:gd name="adj" fmla="val 10667"/>
            </a:avLst>
          </a:prstGeom>
          <a:solidFill>
            <a:srgbClr val="0B0B0B"/>
          </a:solidFill>
          <a:ln w="12700">
            <a:solidFill>
              <a:srgbClr val="FFFFFF"/>
            </a:solidFill>
            <a:prstDash val="solid"/>
          </a:ln>
        </p:spPr>
      </p:sp>
      <p:sp>
        <p:nvSpPr>
          <p:cNvPr id="11" name="Text 8"/>
          <p:cNvSpPr/>
          <p:nvPr/>
        </p:nvSpPr>
        <p:spPr>
          <a:xfrm>
            <a:off x="3712464" y="3282696"/>
            <a:ext cx="2130552" cy="612648"/>
          </a:xfrm>
          <a:prstGeom prst="rect">
            <a:avLst/>
          </a:prstGeom>
          <a:noFill/>
          <a:ln/>
        </p:spPr>
        <p:txBody>
          <a:bodyPr wrap="square" lIns="25400" tIns="25400" rIns="25400" bIns="254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row-level proof</a:t>
            </a:r>
            <a:endParaRPr lang="en-US" sz="1600" dirty="0"/>
          </a:p>
        </p:txBody>
      </p:sp>
      <p:sp>
        <p:nvSpPr>
          <p:cNvPr id="12" name="Shape 9"/>
          <p:cNvSpPr/>
          <p:nvPr/>
        </p:nvSpPr>
        <p:spPr>
          <a:xfrm>
            <a:off x="5934456" y="3589020"/>
            <a:ext cx="338328" cy="914"/>
          </a:xfrm>
          <a:prstGeom prst="line">
            <a:avLst/>
          </a:prstGeom>
          <a:noFill/>
          <a:ln w="15875">
            <a:solidFill>
              <a:srgbClr val="22D3EE"/>
            </a:solidFill>
            <a:prstDash val="solid"/>
            <a:tailEnd type="arrow"/>
          </a:ln>
        </p:spPr>
      </p:sp>
      <p:sp>
        <p:nvSpPr>
          <p:cNvPr id="13" name="Shape 10"/>
          <p:cNvSpPr/>
          <p:nvPr/>
        </p:nvSpPr>
        <p:spPr>
          <a:xfrm>
            <a:off x="6309360" y="3246120"/>
            <a:ext cx="2240280" cy="685800"/>
          </a:xfrm>
          <a:prstGeom prst="roundRect">
            <a:avLst>
              <a:gd name="adj" fmla="val 10667"/>
            </a:avLst>
          </a:prstGeom>
          <a:solidFill>
            <a:srgbClr val="0B0B0B"/>
          </a:solidFill>
          <a:ln w="12700">
            <a:solidFill>
              <a:srgbClr val="22D3EE"/>
            </a:solidFill>
            <a:prstDash val="solid"/>
          </a:ln>
        </p:spPr>
      </p:sp>
      <p:sp>
        <p:nvSpPr>
          <p:cNvPr id="14" name="Text 11"/>
          <p:cNvSpPr/>
          <p:nvPr/>
        </p:nvSpPr>
        <p:spPr>
          <a:xfrm>
            <a:off x="6364224" y="3282696"/>
            <a:ext cx="2130552" cy="612648"/>
          </a:xfrm>
          <a:prstGeom prst="rect">
            <a:avLst/>
          </a:prstGeom>
          <a:noFill/>
          <a:ln/>
        </p:spPr>
        <p:txBody>
          <a:bodyPr wrap="square" lIns="25400" tIns="25400" rIns="25400" bIns="254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traceability check</a:t>
            </a:r>
            <a:endParaRPr lang="en-US" sz="1600" dirty="0"/>
          </a:p>
        </p:txBody>
      </p:sp>
      <p:sp>
        <p:nvSpPr>
          <p:cNvPr id="15" name="Shape 12"/>
          <p:cNvSpPr/>
          <p:nvPr/>
        </p:nvSpPr>
        <p:spPr>
          <a:xfrm>
            <a:off x="8586216" y="3589020"/>
            <a:ext cx="338328" cy="914"/>
          </a:xfrm>
          <a:prstGeom prst="line">
            <a:avLst/>
          </a:prstGeom>
          <a:noFill/>
          <a:ln w="15875">
            <a:solidFill>
              <a:srgbClr val="22D3EE"/>
            </a:solidFill>
            <a:prstDash val="solid"/>
            <a:tailEnd type="arrow"/>
          </a:ln>
        </p:spPr>
      </p:sp>
      <p:sp>
        <p:nvSpPr>
          <p:cNvPr id="16" name="Shape 13"/>
          <p:cNvSpPr/>
          <p:nvPr/>
        </p:nvSpPr>
        <p:spPr>
          <a:xfrm>
            <a:off x="8961120" y="3246120"/>
            <a:ext cx="2240280" cy="685800"/>
          </a:xfrm>
          <a:prstGeom prst="roundRect">
            <a:avLst>
              <a:gd name="adj" fmla="val 10667"/>
            </a:avLst>
          </a:prstGeom>
          <a:solidFill>
            <a:srgbClr val="0B0B0B"/>
          </a:solidFill>
          <a:ln w="12700">
            <a:solidFill>
              <a:srgbClr val="FFFFFF"/>
            </a:solidFill>
            <a:prstDash val="solid"/>
          </a:ln>
        </p:spPr>
      </p:sp>
      <p:sp>
        <p:nvSpPr>
          <p:cNvPr id="17" name="Text 14"/>
          <p:cNvSpPr/>
          <p:nvPr/>
        </p:nvSpPr>
        <p:spPr>
          <a:xfrm>
            <a:off x="9015984" y="3282696"/>
            <a:ext cx="2130552" cy="612648"/>
          </a:xfrm>
          <a:prstGeom prst="rect">
            <a:avLst/>
          </a:prstGeom>
          <a:noFill/>
          <a:ln/>
        </p:spPr>
        <p:txBody>
          <a:bodyPr wrap="square" lIns="25400" tIns="25400" rIns="25400" bIns="254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decision memo</a:t>
            </a:r>
            <a:endParaRPr lang="en-US" sz="1600" dirty="0"/>
          </a:p>
        </p:txBody>
      </p:sp>
      <p:sp>
        <p:nvSpPr>
          <p:cNvPr id="18" name="Text 15"/>
          <p:cNvSpPr/>
          <p:nvPr/>
        </p:nvSpPr>
        <p:spPr>
          <a:xfrm>
            <a:off x="1005840" y="4526280"/>
            <a:ext cx="10058400" cy="411480"/>
          </a:xfrm>
          <a:prstGeom prst="rect">
            <a:avLst/>
          </a:prstGeom>
          <a:noFill/>
          <a:ln/>
        </p:spPr>
        <p:txBody>
          <a:bodyPr wrap="square" lIns="0" tIns="0" rIns="0" bIns="0" rtlCol="0" anchor="t"/>
          <a:lstStyle/>
          <a:p>
            <a:pPr marL="0" indent="0" algn="l">
              <a:buNone/>
            </a:pPr>
            <a:r>
              <a:rPr lang="en-US" sz="2200" b="1" dirty="0">
                <a:solidFill>
                  <a:srgbClr val="FFFFFF"/>
                </a:solidFill>
                <a:latin typeface="Calibri" pitchFamily="34" charset="0"/>
                <a:ea typeface="Calibri" pitchFamily="34" charset="-122"/>
                <a:cs typeface="Calibri" pitchFamily="34" charset="-120"/>
              </a:rPr>
              <a:t>Track 02 · “The Agent That Can Explain Why”</a:t>
            </a:r>
            <a:endParaRPr lang="en-US" sz="2200" dirty="0"/>
          </a:p>
        </p:txBody>
      </p:sp>
      <p:sp>
        <p:nvSpPr>
          <p:cNvPr id="19" name="Text 16"/>
          <p:cNvSpPr/>
          <p:nvPr/>
        </p:nvSpPr>
        <p:spPr>
          <a:xfrm>
            <a:off x="1005840" y="4983480"/>
            <a:ext cx="10058400" cy="365760"/>
          </a:xfrm>
          <a:prstGeom prst="rect">
            <a:avLst/>
          </a:prstGeom>
          <a:noFill/>
          <a:ln/>
        </p:spPr>
        <p:txBody>
          <a:bodyPr wrap="square" lIns="0" tIns="0" rIns="0" bIns="0" rtlCol="0" anchor="t"/>
          <a:lstStyle/>
          <a:p>
            <a:pPr marL="0" indent="0" algn="l">
              <a:buNone/>
            </a:pPr>
            <a:r>
              <a:rPr lang="en-US" sz="1800" dirty="0">
                <a:solidFill>
                  <a:srgbClr val="9CA3AF"/>
                </a:solidFill>
                <a:latin typeface="Calibri" pitchFamily="34" charset="0"/>
                <a:ea typeface="Calibri" pitchFamily="34" charset="-122"/>
                <a:cs typeface="Calibri" pitchFamily="34" charset="-120"/>
              </a:rPr>
              <a:t>Alonso Alvira Ballano (solo)</a:t>
            </a:r>
            <a:endParaRPr lang="en-US" sz="1800" dirty="0"/>
          </a:p>
        </p:txBody>
      </p:sp>
      <p:sp>
        <p:nvSpPr>
          <p:cNvPr id="20" name="Text 17"/>
          <p:cNvSpPr/>
          <p:nvPr/>
        </p:nvSpPr>
        <p:spPr>
          <a:xfrm>
            <a:off x="1005840" y="5394960"/>
            <a:ext cx="10058400" cy="365760"/>
          </a:xfrm>
          <a:prstGeom prst="rect">
            <a:avLst/>
          </a:prstGeom>
          <a:noFill/>
          <a:ln/>
        </p:spPr>
        <p:txBody>
          <a:bodyPr wrap="square" lIns="0" tIns="0" rIns="0" bIns="0" rtlCol="0" anchor="t"/>
          <a:lstStyle/>
          <a:p>
            <a:pPr marL="0" indent="0" algn="l">
              <a:buNone/>
            </a:pPr>
            <a:r>
              <a:rPr lang="en-US" sz="1600" dirty="0">
                <a:solidFill>
                  <a:srgbClr val="22D3EE"/>
                </a:solidFill>
                <a:latin typeface="Consolas" pitchFamily="34" charset="0"/>
                <a:ea typeface="Consolas" pitchFamily="34" charset="-122"/>
                <a:cs typeface="Consolas" pitchFamily="34" charset="-120"/>
              </a:rPr>
              <a:t>github.com/AlonsoAlviraa/veriagent-why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 KPI drops, and the first plausible story wins</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Target user: an e-commerce ops analyst who must explain the drop before the meeting</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2</a:t>
            </a:r>
            <a:endParaRPr lang="en-US" sz="1100" dirty="0"/>
          </a:p>
        </p:txBody>
      </p:sp>
      <p:sp>
        <p:nvSpPr>
          <p:cNvPr id="6" name="Shape 3"/>
          <p:cNvSpPr/>
          <p:nvPr/>
        </p:nvSpPr>
        <p:spPr>
          <a:xfrm>
            <a:off x="822960" y="1737360"/>
            <a:ext cx="914" cy="3291840"/>
          </a:xfrm>
          <a:prstGeom prst="line">
            <a:avLst/>
          </a:prstGeom>
          <a:noFill/>
          <a:ln w="12700">
            <a:solidFill>
              <a:srgbClr val="6B7280"/>
            </a:solidFill>
            <a:prstDash val="solid"/>
          </a:ln>
        </p:spPr>
      </p:sp>
      <p:sp>
        <p:nvSpPr>
          <p:cNvPr id="7" name="Shape 4"/>
          <p:cNvSpPr/>
          <p:nvPr/>
        </p:nvSpPr>
        <p:spPr>
          <a:xfrm>
            <a:off x="822960" y="5029200"/>
            <a:ext cx="5486400" cy="914"/>
          </a:xfrm>
          <a:prstGeom prst="line">
            <a:avLst/>
          </a:prstGeom>
          <a:noFill/>
          <a:ln w="12700">
            <a:solidFill>
              <a:srgbClr val="6B7280"/>
            </a:solidFill>
            <a:prstDash val="solid"/>
          </a:ln>
        </p:spPr>
      </p:sp>
      <p:sp>
        <p:nvSpPr>
          <p:cNvPr id="8" name="Text 5"/>
          <p:cNvSpPr/>
          <p:nvPr/>
        </p:nvSpPr>
        <p:spPr>
          <a:xfrm>
            <a:off x="960120" y="1645920"/>
            <a:ext cx="3657600" cy="274320"/>
          </a:xfrm>
          <a:prstGeom prst="rect">
            <a:avLst/>
          </a:prstGeom>
          <a:noFill/>
          <a:ln/>
        </p:spPr>
        <p:txBody>
          <a:bodyPr wrap="square" lIns="0" tIns="0" rIns="0" bIns="0" rtlCol="0" anchor="t"/>
          <a:lstStyle/>
          <a:p>
            <a:pPr marL="0" indent="0" algn="l">
              <a:buNone/>
            </a:pPr>
            <a:r>
              <a:rPr lang="en-US" sz="1200" dirty="0">
                <a:solidFill>
                  <a:srgbClr val="9CA3AF"/>
                </a:solidFill>
                <a:latin typeface="Consolas" pitchFamily="34" charset="0"/>
                <a:ea typeface="Consolas" pitchFamily="34" charset="-122"/>
                <a:cs typeface="Consolas" pitchFamily="34" charset="-120"/>
              </a:rPr>
              <a:t>on-time delivery rate</a:t>
            </a:r>
            <a:endParaRPr lang="en-US" sz="1200" dirty="0"/>
          </a:p>
        </p:txBody>
      </p:sp>
      <p:sp>
        <p:nvSpPr>
          <p:cNvPr id="9" name="Text 6"/>
          <p:cNvSpPr/>
          <p:nvPr/>
        </p:nvSpPr>
        <p:spPr>
          <a:xfrm>
            <a:off x="1097280" y="5120640"/>
            <a:ext cx="2377440" cy="274320"/>
          </a:xfrm>
          <a:prstGeom prst="rect">
            <a:avLst/>
          </a:prstGeom>
          <a:noFill/>
          <a:ln/>
        </p:spPr>
        <p:txBody>
          <a:bodyPr wrap="square" lIns="0" tIns="0" rIns="0" bIns="0" rtlCol="0" anchor="t"/>
          <a:lstStyle/>
          <a:p>
            <a:pPr marL="0" indent="0" algn="l">
              <a:buNone/>
            </a:pPr>
            <a:r>
              <a:rPr lang="en-US" sz="1200" dirty="0">
                <a:solidFill>
                  <a:srgbClr val="9CA3AF"/>
                </a:solidFill>
                <a:latin typeface="Consolas" pitchFamily="34" charset="0"/>
                <a:ea typeface="Consolas" pitchFamily="34" charset="-122"/>
                <a:cs typeface="Consolas" pitchFamily="34" charset="-120"/>
              </a:rPr>
              <a:t>baseline window</a:t>
            </a:r>
            <a:endParaRPr lang="en-US" sz="1200" dirty="0"/>
          </a:p>
        </p:txBody>
      </p:sp>
      <p:sp>
        <p:nvSpPr>
          <p:cNvPr id="10" name="Text 7"/>
          <p:cNvSpPr/>
          <p:nvPr/>
        </p:nvSpPr>
        <p:spPr>
          <a:xfrm>
            <a:off x="4114800" y="5120640"/>
            <a:ext cx="2194560" cy="274320"/>
          </a:xfrm>
          <a:prstGeom prst="rect">
            <a:avLst/>
          </a:prstGeom>
          <a:noFill/>
          <a:ln/>
        </p:spPr>
        <p:txBody>
          <a:bodyPr wrap="square" lIns="0" tIns="0" rIns="0" bIns="0" rtlCol="0" anchor="t"/>
          <a:lstStyle/>
          <a:p>
            <a:pPr marL="0" indent="0" algn="l">
              <a:buNone/>
            </a:pPr>
            <a:r>
              <a:rPr lang="en-US" sz="1200" dirty="0">
                <a:solidFill>
                  <a:srgbClr val="9CA3AF"/>
                </a:solidFill>
                <a:latin typeface="Consolas" pitchFamily="34" charset="0"/>
                <a:ea typeface="Consolas" pitchFamily="34" charset="-122"/>
                <a:cs typeface="Consolas" pitchFamily="34" charset="-120"/>
              </a:rPr>
              <a:t>comparison period</a:t>
            </a:r>
            <a:endParaRPr lang="en-US" sz="1200" dirty="0"/>
          </a:p>
        </p:txBody>
      </p:sp>
      <p:sp>
        <p:nvSpPr>
          <p:cNvPr id="11" name="Shape 8"/>
          <p:cNvSpPr/>
          <p:nvPr/>
        </p:nvSpPr>
        <p:spPr>
          <a:xfrm flipV="1">
            <a:off x="1005840" y="2304288"/>
            <a:ext cx="548640" cy="73152"/>
          </a:xfrm>
          <a:prstGeom prst="line">
            <a:avLst/>
          </a:prstGeom>
          <a:noFill/>
          <a:ln w="28575">
            <a:solidFill>
              <a:srgbClr val="FFFFFF"/>
            </a:solidFill>
            <a:prstDash val="solid"/>
          </a:ln>
        </p:spPr>
      </p:sp>
      <p:sp>
        <p:nvSpPr>
          <p:cNvPr id="12" name="Shape 9"/>
          <p:cNvSpPr/>
          <p:nvPr/>
        </p:nvSpPr>
        <p:spPr>
          <a:xfrm>
            <a:off x="1554480" y="2304288"/>
            <a:ext cx="548640" cy="91440"/>
          </a:xfrm>
          <a:prstGeom prst="line">
            <a:avLst/>
          </a:prstGeom>
          <a:noFill/>
          <a:ln w="28575">
            <a:solidFill>
              <a:srgbClr val="FFFFFF"/>
            </a:solidFill>
            <a:prstDash val="solid"/>
          </a:ln>
        </p:spPr>
      </p:sp>
      <p:sp>
        <p:nvSpPr>
          <p:cNvPr id="13" name="Shape 10"/>
          <p:cNvSpPr/>
          <p:nvPr/>
        </p:nvSpPr>
        <p:spPr>
          <a:xfrm flipV="1">
            <a:off x="2103120" y="2340864"/>
            <a:ext cx="548640" cy="54864"/>
          </a:xfrm>
          <a:prstGeom prst="line">
            <a:avLst/>
          </a:prstGeom>
          <a:noFill/>
          <a:ln w="28575">
            <a:solidFill>
              <a:srgbClr val="FFFFFF"/>
            </a:solidFill>
            <a:prstDash val="solid"/>
          </a:ln>
        </p:spPr>
      </p:sp>
      <p:sp>
        <p:nvSpPr>
          <p:cNvPr id="14" name="Shape 11"/>
          <p:cNvSpPr/>
          <p:nvPr/>
        </p:nvSpPr>
        <p:spPr>
          <a:xfrm>
            <a:off x="2651760" y="2340864"/>
            <a:ext cx="548640" cy="36576"/>
          </a:xfrm>
          <a:prstGeom prst="line">
            <a:avLst/>
          </a:prstGeom>
          <a:noFill/>
          <a:ln w="28575">
            <a:solidFill>
              <a:srgbClr val="FFFFFF"/>
            </a:solidFill>
            <a:prstDash val="solid"/>
          </a:ln>
        </p:spPr>
      </p:sp>
      <p:sp>
        <p:nvSpPr>
          <p:cNvPr id="15" name="Shape 12"/>
          <p:cNvSpPr/>
          <p:nvPr/>
        </p:nvSpPr>
        <p:spPr>
          <a:xfrm flipV="1">
            <a:off x="3200400" y="2322576"/>
            <a:ext cx="548640" cy="54864"/>
          </a:xfrm>
          <a:prstGeom prst="line">
            <a:avLst/>
          </a:prstGeom>
          <a:noFill/>
          <a:ln w="28575">
            <a:solidFill>
              <a:srgbClr val="FFFFFF"/>
            </a:solidFill>
            <a:prstDash val="solid"/>
          </a:ln>
        </p:spPr>
      </p:sp>
      <p:sp>
        <p:nvSpPr>
          <p:cNvPr id="16" name="Shape 13"/>
          <p:cNvSpPr/>
          <p:nvPr/>
        </p:nvSpPr>
        <p:spPr>
          <a:xfrm>
            <a:off x="3749040" y="2322576"/>
            <a:ext cx="457200" cy="237744"/>
          </a:xfrm>
          <a:prstGeom prst="line">
            <a:avLst/>
          </a:prstGeom>
          <a:noFill/>
          <a:ln w="28575">
            <a:solidFill>
              <a:srgbClr val="22D3EE"/>
            </a:solidFill>
            <a:prstDash val="solid"/>
          </a:ln>
        </p:spPr>
      </p:sp>
      <p:sp>
        <p:nvSpPr>
          <p:cNvPr id="17" name="Shape 14"/>
          <p:cNvSpPr/>
          <p:nvPr/>
        </p:nvSpPr>
        <p:spPr>
          <a:xfrm>
            <a:off x="4206240" y="2560320"/>
            <a:ext cx="548640" cy="822960"/>
          </a:xfrm>
          <a:prstGeom prst="line">
            <a:avLst/>
          </a:prstGeom>
          <a:noFill/>
          <a:ln w="28575">
            <a:solidFill>
              <a:srgbClr val="22D3EE"/>
            </a:solidFill>
            <a:prstDash val="solid"/>
          </a:ln>
        </p:spPr>
      </p:sp>
      <p:sp>
        <p:nvSpPr>
          <p:cNvPr id="18" name="Shape 15"/>
          <p:cNvSpPr/>
          <p:nvPr/>
        </p:nvSpPr>
        <p:spPr>
          <a:xfrm>
            <a:off x="4754880" y="3383280"/>
            <a:ext cx="548640" cy="457200"/>
          </a:xfrm>
          <a:prstGeom prst="line">
            <a:avLst/>
          </a:prstGeom>
          <a:noFill/>
          <a:ln w="28575">
            <a:solidFill>
              <a:srgbClr val="22D3EE"/>
            </a:solidFill>
            <a:prstDash val="solid"/>
          </a:ln>
        </p:spPr>
      </p:sp>
      <p:sp>
        <p:nvSpPr>
          <p:cNvPr id="19" name="Shape 16"/>
          <p:cNvSpPr/>
          <p:nvPr/>
        </p:nvSpPr>
        <p:spPr>
          <a:xfrm>
            <a:off x="5303520" y="3840480"/>
            <a:ext cx="640080" cy="228600"/>
          </a:xfrm>
          <a:prstGeom prst="line">
            <a:avLst/>
          </a:prstGeom>
          <a:noFill/>
          <a:ln w="28575">
            <a:solidFill>
              <a:srgbClr val="22D3EE"/>
            </a:solidFill>
            <a:prstDash val="solid"/>
          </a:ln>
        </p:spPr>
      </p:sp>
      <p:sp>
        <p:nvSpPr>
          <p:cNvPr id="20" name="Shape 17"/>
          <p:cNvSpPr/>
          <p:nvPr/>
        </p:nvSpPr>
        <p:spPr>
          <a:xfrm>
            <a:off x="3931920" y="2011680"/>
            <a:ext cx="914" cy="3017520"/>
          </a:xfrm>
          <a:prstGeom prst="line">
            <a:avLst/>
          </a:prstGeom>
          <a:noFill/>
          <a:ln w="12700">
            <a:solidFill>
              <a:srgbClr val="6B7280"/>
            </a:solidFill>
            <a:prstDash val="dash"/>
          </a:ln>
        </p:spPr>
      </p:sp>
      <p:sp>
        <p:nvSpPr>
          <p:cNvPr id="21" name="Text 18"/>
          <p:cNvSpPr/>
          <p:nvPr/>
        </p:nvSpPr>
        <p:spPr>
          <a:xfrm>
            <a:off x="4937760" y="1874520"/>
            <a:ext cx="1280160" cy="274320"/>
          </a:xfrm>
          <a:prstGeom prst="rect">
            <a:avLst/>
          </a:prstGeom>
          <a:noFill/>
          <a:ln/>
        </p:spPr>
        <p:txBody>
          <a:bodyPr wrap="square" lIns="0" tIns="0" rIns="0" bIns="0" rtlCol="0" anchor="t"/>
          <a:lstStyle/>
          <a:p>
            <a:pPr marL="0" indent="0" algn="r">
              <a:buNone/>
            </a:pPr>
            <a:r>
              <a:rPr lang="en-US" sz="1100" dirty="0">
                <a:solidFill>
                  <a:srgbClr val="6B7280"/>
                </a:solidFill>
                <a:latin typeface="Consolas" pitchFamily="34" charset="0"/>
                <a:ea typeface="Consolas" pitchFamily="34" charset="-122"/>
                <a:cs typeface="Consolas" pitchFamily="34" charset="-120"/>
              </a:rPr>
              <a:t>illustrative</a:t>
            </a:r>
            <a:endParaRPr lang="en-US" sz="1100" dirty="0"/>
          </a:p>
        </p:txBody>
      </p:sp>
      <p:sp>
        <p:nvSpPr>
          <p:cNvPr id="22" name="Text 19"/>
          <p:cNvSpPr/>
          <p:nvPr/>
        </p:nvSpPr>
        <p:spPr>
          <a:xfrm>
            <a:off x="6720840" y="2697480"/>
            <a:ext cx="731520" cy="365760"/>
          </a:xfrm>
          <a:prstGeom prst="rect">
            <a:avLst/>
          </a:prstGeom>
          <a:noFill/>
          <a:ln/>
        </p:spPr>
        <p:txBody>
          <a:bodyPr wrap="square" lIns="0" tIns="0" rIns="0" bIns="0" rtlCol="0" anchor="t"/>
          <a:lstStyle/>
          <a:p>
            <a:pPr marL="0" indent="0" algn="l">
              <a:buNone/>
            </a:pPr>
            <a:r>
              <a:rPr lang="en-US" sz="1600" dirty="0">
                <a:solidFill>
                  <a:srgbClr val="22D3EE"/>
                </a:solidFill>
                <a:latin typeface="Consolas" pitchFamily="34" charset="0"/>
                <a:ea typeface="Consolas" pitchFamily="34" charset="-122"/>
                <a:cs typeface="Consolas" pitchFamily="34" charset="-120"/>
              </a:rPr>
              <a:t>why?</a:t>
            </a:r>
            <a:endParaRPr lang="en-US" sz="1600" dirty="0"/>
          </a:p>
        </p:txBody>
      </p:sp>
      <p:sp>
        <p:nvSpPr>
          <p:cNvPr id="23" name="Shape 20"/>
          <p:cNvSpPr/>
          <p:nvPr/>
        </p:nvSpPr>
        <p:spPr>
          <a:xfrm>
            <a:off x="7498080" y="1600200"/>
            <a:ext cx="4114800" cy="868680"/>
          </a:xfrm>
          <a:prstGeom prst="roundRect">
            <a:avLst>
              <a:gd name="adj" fmla="val 8421"/>
            </a:avLst>
          </a:prstGeom>
          <a:solidFill>
            <a:srgbClr val="0B0B0B"/>
          </a:solidFill>
          <a:ln w="12700">
            <a:solidFill>
              <a:srgbClr val="FFFFFF"/>
            </a:solidFill>
            <a:prstDash val="solid"/>
          </a:ln>
        </p:spPr>
      </p:sp>
      <p:sp>
        <p:nvSpPr>
          <p:cNvPr id="24" name="Text 21"/>
          <p:cNvSpPr/>
          <p:nvPr/>
        </p:nvSpPr>
        <p:spPr>
          <a:xfrm>
            <a:off x="7552944" y="1636776"/>
            <a:ext cx="4005072" cy="795528"/>
          </a:xfrm>
          <a:prstGeom prst="rect">
            <a:avLst/>
          </a:prstGeom>
          <a:noFill/>
          <a:ln/>
        </p:spPr>
        <p:txBody>
          <a:bodyPr wrap="square" lIns="25400" tIns="25400" rIns="25400" bIns="2540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carrier SLA breach?</a:t>
            </a:r>
            <a:endParaRPr lang="en-US" sz="1700" dirty="0"/>
          </a:p>
          <a:p>
            <a:pPr marL="0" indent="0" algn="ctr">
              <a:buNone/>
            </a:pPr>
            <a:r>
              <a:rPr lang="en-US" sz="1200" dirty="0">
                <a:solidFill>
                  <a:srgbClr val="9CA3AF"/>
                </a:solidFill>
                <a:latin typeface="Consolas" pitchFamily="34" charset="0"/>
                <a:ea typeface="Consolas" pitchFamily="34" charset="-122"/>
                <a:cs typeface="Consolas" pitchFamily="34" charset="-120"/>
              </a:rPr>
              <a:t>one carrier in one region got slow</a:t>
            </a:r>
            <a:endParaRPr lang="en-US" sz="1700" dirty="0"/>
          </a:p>
        </p:txBody>
      </p:sp>
      <p:sp>
        <p:nvSpPr>
          <p:cNvPr id="25" name="Shape 22"/>
          <p:cNvSpPr/>
          <p:nvPr/>
        </p:nvSpPr>
        <p:spPr>
          <a:xfrm flipV="1">
            <a:off x="6080760" y="2034540"/>
            <a:ext cx="1371600" cy="1851660"/>
          </a:xfrm>
          <a:prstGeom prst="line">
            <a:avLst/>
          </a:prstGeom>
          <a:noFill/>
          <a:ln w="12700">
            <a:solidFill>
              <a:srgbClr val="22D3EE"/>
            </a:solidFill>
            <a:prstDash val="solid"/>
            <a:tailEnd type="arrow"/>
          </a:ln>
        </p:spPr>
      </p:sp>
      <p:sp>
        <p:nvSpPr>
          <p:cNvPr id="26" name="Shape 23"/>
          <p:cNvSpPr/>
          <p:nvPr/>
        </p:nvSpPr>
        <p:spPr>
          <a:xfrm>
            <a:off x="7498080" y="2788920"/>
            <a:ext cx="4114800" cy="868680"/>
          </a:xfrm>
          <a:prstGeom prst="roundRect">
            <a:avLst>
              <a:gd name="adj" fmla="val 8421"/>
            </a:avLst>
          </a:prstGeom>
          <a:solidFill>
            <a:srgbClr val="0B0B0B"/>
          </a:solidFill>
          <a:ln w="12700">
            <a:solidFill>
              <a:srgbClr val="FFFFFF"/>
            </a:solidFill>
            <a:prstDash val="solid"/>
          </a:ln>
        </p:spPr>
      </p:sp>
      <p:sp>
        <p:nvSpPr>
          <p:cNvPr id="27" name="Text 24"/>
          <p:cNvSpPr/>
          <p:nvPr/>
        </p:nvSpPr>
        <p:spPr>
          <a:xfrm>
            <a:off x="7552944" y="2825496"/>
            <a:ext cx="4005072" cy="795528"/>
          </a:xfrm>
          <a:prstGeom prst="rect">
            <a:avLst/>
          </a:prstGeom>
          <a:noFill/>
          <a:ln/>
        </p:spPr>
        <p:txBody>
          <a:bodyPr wrap="square" lIns="25400" tIns="25400" rIns="25400" bIns="2540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promotion?</a:t>
            </a:r>
            <a:endParaRPr lang="en-US" sz="1700" dirty="0"/>
          </a:p>
          <a:p>
            <a:pPr marL="0" indent="0" algn="ctr">
              <a:buNone/>
            </a:pPr>
            <a:r>
              <a:rPr lang="en-US" sz="1200" dirty="0">
                <a:solidFill>
                  <a:srgbClr val="9CA3AF"/>
                </a:solidFill>
                <a:latin typeface="Consolas" pitchFamily="34" charset="0"/>
                <a:ea typeface="Consolas" pitchFamily="34" charset="-122"/>
                <a:cs typeface="Consolas" pitchFamily="34" charset="-120"/>
              </a:rPr>
              <a:t>a campaign flooded one category</a:t>
            </a:r>
            <a:endParaRPr lang="en-US" sz="1700" dirty="0"/>
          </a:p>
        </p:txBody>
      </p:sp>
      <p:sp>
        <p:nvSpPr>
          <p:cNvPr id="28" name="Shape 25"/>
          <p:cNvSpPr/>
          <p:nvPr/>
        </p:nvSpPr>
        <p:spPr>
          <a:xfrm flipV="1">
            <a:off x="6080760" y="3223260"/>
            <a:ext cx="1371600" cy="662940"/>
          </a:xfrm>
          <a:prstGeom prst="line">
            <a:avLst/>
          </a:prstGeom>
          <a:noFill/>
          <a:ln w="12700">
            <a:solidFill>
              <a:srgbClr val="22D3EE"/>
            </a:solidFill>
            <a:prstDash val="solid"/>
            <a:tailEnd type="arrow"/>
          </a:ln>
        </p:spPr>
      </p:sp>
      <p:sp>
        <p:nvSpPr>
          <p:cNvPr id="29" name="Shape 26"/>
          <p:cNvSpPr/>
          <p:nvPr/>
        </p:nvSpPr>
        <p:spPr>
          <a:xfrm>
            <a:off x="7498080" y="3977640"/>
            <a:ext cx="4114800" cy="868680"/>
          </a:xfrm>
          <a:prstGeom prst="roundRect">
            <a:avLst>
              <a:gd name="adj" fmla="val 8421"/>
            </a:avLst>
          </a:prstGeom>
          <a:solidFill>
            <a:srgbClr val="0B0B0B"/>
          </a:solidFill>
          <a:ln w="12700">
            <a:solidFill>
              <a:srgbClr val="FFFFFF"/>
            </a:solidFill>
            <a:prstDash val="solid"/>
          </a:ln>
        </p:spPr>
      </p:sp>
      <p:sp>
        <p:nvSpPr>
          <p:cNvPr id="30" name="Text 27"/>
          <p:cNvSpPr/>
          <p:nvPr/>
        </p:nvSpPr>
        <p:spPr>
          <a:xfrm>
            <a:off x="7552944" y="4014216"/>
            <a:ext cx="4005072" cy="795528"/>
          </a:xfrm>
          <a:prstGeom prst="rect">
            <a:avLst/>
          </a:prstGeom>
          <a:noFill/>
          <a:ln/>
        </p:spPr>
        <p:txBody>
          <a:bodyPr wrap="square" lIns="25400" tIns="25400" rIns="25400" bIns="2540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seasonality?</a:t>
            </a:r>
            <a:endParaRPr lang="en-US" sz="1700" dirty="0"/>
          </a:p>
          <a:p>
            <a:pPr marL="0" indent="0" algn="ctr">
              <a:buNone/>
            </a:pPr>
            <a:r>
              <a:rPr lang="en-US" sz="1200" dirty="0">
                <a:solidFill>
                  <a:srgbClr val="9CA3AF"/>
                </a:solidFill>
                <a:latin typeface="Consolas" pitchFamily="34" charset="0"/>
                <a:ea typeface="Consolas" pitchFamily="34" charset="-122"/>
                <a:cs typeface="Consolas" pitchFamily="34" charset="-120"/>
              </a:rPr>
              <a:t>everything got a bit worse</a:t>
            </a:r>
            <a:endParaRPr lang="en-US" sz="1700" dirty="0"/>
          </a:p>
        </p:txBody>
      </p:sp>
      <p:sp>
        <p:nvSpPr>
          <p:cNvPr id="31" name="Shape 28"/>
          <p:cNvSpPr/>
          <p:nvPr/>
        </p:nvSpPr>
        <p:spPr>
          <a:xfrm>
            <a:off x="6080760" y="3886200"/>
            <a:ext cx="1371600" cy="525780"/>
          </a:xfrm>
          <a:prstGeom prst="line">
            <a:avLst/>
          </a:prstGeom>
          <a:noFill/>
          <a:ln w="12700">
            <a:solidFill>
              <a:srgbClr val="22D3EE"/>
            </a:solidFill>
            <a:prstDash val="solid"/>
            <a:tailEnd type="arrow"/>
          </a:ln>
        </p:spPr>
      </p:sp>
      <p:sp>
        <p:nvSpPr>
          <p:cNvPr id="32" name="Shape 29"/>
          <p:cNvSpPr/>
          <p:nvPr/>
        </p:nvSpPr>
        <p:spPr>
          <a:xfrm>
            <a:off x="548640" y="5623560"/>
            <a:ext cx="0" cy="502920"/>
          </a:xfrm>
          <a:prstGeom prst="line">
            <a:avLst/>
          </a:prstGeom>
          <a:noFill/>
          <a:ln w="25400">
            <a:solidFill>
              <a:srgbClr val="FBBF24"/>
            </a:solidFill>
            <a:prstDash val="solid"/>
          </a:ln>
        </p:spPr>
      </p:sp>
      <p:sp>
        <p:nvSpPr>
          <p:cNvPr id="33" name="Text 30"/>
          <p:cNvSpPr/>
          <p:nvPr/>
        </p:nvSpPr>
        <p:spPr>
          <a:xfrm>
            <a:off x="713232" y="5623560"/>
            <a:ext cx="3474720" cy="502920"/>
          </a:xfrm>
          <a:prstGeom prst="rect">
            <a:avLst/>
          </a:prstGeom>
          <a:noFill/>
          <a:ln/>
        </p:spPr>
        <p:txBody>
          <a:bodyPr wrap="square" lIns="0" tIns="0" rIns="0" bIns="0" rtlCol="0" anchor="ctr"/>
          <a:lstStyle/>
          <a:p>
            <a:pPr marL="0" indent="0" algn="l">
              <a:buNone/>
            </a:pPr>
            <a:r>
              <a:rPr lang="en-US" sz="1800" dirty="0">
                <a:solidFill>
                  <a:srgbClr val="FFFFFF"/>
                </a:solidFill>
                <a:latin typeface="Calibri" pitchFamily="34" charset="0"/>
                <a:ea typeface="Calibri" pitchFamily="34" charset="-122"/>
                <a:cs typeface="Calibri" pitchFamily="34" charset="-120"/>
              </a:rPr>
              <a:t>ad-hoc SQL under time pressure</a:t>
            </a:r>
            <a:endParaRPr lang="en-US" sz="1800" dirty="0"/>
          </a:p>
        </p:txBody>
      </p:sp>
      <p:sp>
        <p:nvSpPr>
          <p:cNvPr id="34" name="Shape 31"/>
          <p:cNvSpPr/>
          <p:nvPr/>
        </p:nvSpPr>
        <p:spPr>
          <a:xfrm>
            <a:off x="4297680" y="5623560"/>
            <a:ext cx="0" cy="502920"/>
          </a:xfrm>
          <a:prstGeom prst="line">
            <a:avLst/>
          </a:prstGeom>
          <a:noFill/>
          <a:ln w="25400">
            <a:solidFill>
              <a:srgbClr val="FBBF24"/>
            </a:solidFill>
            <a:prstDash val="solid"/>
          </a:ln>
        </p:spPr>
      </p:sp>
      <p:sp>
        <p:nvSpPr>
          <p:cNvPr id="35" name="Text 32"/>
          <p:cNvSpPr/>
          <p:nvPr/>
        </p:nvSpPr>
        <p:spPr>
          <a:xfrm>
            <a:off x="4462272" y="5623560"/>
            <a:ext cx="3474720" cy="502920"/>
          </a:xfrm>
          <a:prstGeom prst="rect">
            <a:avLst/>
          </a:prstGeom>
          <a:noFill/>
          <a:ln/>
        </p:spPr>
        <p:txBody>
          <a:bodyPr wrap="square" lIns="0" tIns="0" rIns="0" bIns="0" rtlCol="0" anchor="ctr"/>
          <a:lstStyle/>
          <a:p>
            <a:pPr marL="0" indent="0" algn="l">
              <a:buNone/>
            </a:pPr>
            <a:r>
              <a:rPr lang="en-US" sz="1800" dirty="0">
                <a:solidFill>
                  <a:srgbClr val="FFFFFF"/>
                </a:solidFill>
                <a:latin typeface="Calibri" pitchFamily="34" charset="0"/>
                <a:ea typeface="Calibri" pitchFamily="34" charset="-122"/>
                <a:cs typeface="Calibri" pitchFamily="34" charset="-120"/>
              </a:rPr>
              <a:t>the first plausible story wins</a:t>
            </a:r>
            <a:endParaRPr lang="en-US" sz="1800" dirty="0"/>
          </a:p>
        </p:txBody>
      </p:sp>
      <p:sp>
        <p:nvSpPr>
          <p:cNvPr id="36" name="Shape 33"/>
          <p:cNvSpPr/>
          <p:nvPr/>
        </p:nvSpPr>
        <p:spPr>
          <a:xfrm>
            <a:off x="8046720" y="5623560"/>
            <a:ext cx="0" cy="502920"/>
          </a:xfrm>
          <a:prstGeom prst="line">
            <a:avLst/>
          </a:prstGeom>
          <a:noFill/>
          <a:ln w="25400">
            <a:solidFill>
              <a:srgbClr val="FBBF24"/>
            </a:solidFill>
            <a:prstDash val="solid"/>
          </a:ln>
        </p:spPr>
      </p:sp>
      <p:sp>
        <p:nvSpPr>
          <p:cNvPr id="37" name="Text 34"/>
          <p:cNvSpPr/>
          <p:nvPr/>
        </p:nvSpPr>
        <p:spPr>
          <a:xfrm>
            <a:off x="8211312" y="5623560"/>
            <a:ext cx="3474720" cy="502920"/>
          </a:xfrm>
          <a:prstGeom prst="rect">
            <a:avLst/>
          </a:prstGeom>
          <a:noFill/>
          <a:ln/>
        </p:spPr>
        <p:txBody>
          <a:bodyPr wrap="square" lIns="0" tIns="0" rIns="0" bIns="0" rtlCol="0" anchor="ctr"/>
          <a:lstStyle/>
          <a:p>
            <a:pPr marL="0" indent="0" algn="l">
              <a:buNone/>
            </a:pPr>
            <a:r>
              <a:rPr lang="en-US" sz="1800" dirty="0">
                <a:solidFill>
                  <a:srgbClr val="FFFFFF"/>
                </a:solidFill>
                <a:latin typeface="Calibri" pitchFamily="34" charset="0"/>
                <a:ea typeface="Calibri" pitchFamily="34" charset="-122"/>
                <a:cs typeface="Calibri" pitchFamily="34" charset="-120"/>
              </a:rPr>
              <a:t>leading questions get confirmed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Ask a leading question, get the data’s answer</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Tests competing causes against Zetaris data · every claim cites its rows · confidence is a formula</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3</a:t>
            </a:r>
            <a:endParaRPr lang="en-US" sz="1100" dirty="0"/>
          </a:p>
        </p:txBody>
      </p:sp>
      <p:sp>
        <p:nvSpPr>
          <p:cNvPr id="6" name="Shape 3"/>
          <p:cNvSpPr/>
          <p:nvPr/>
        </p:nvSpPr>
        <p:spPr>
          <a:xfrm>
            <a:off x="548640" y="1691640"/>
            <a:ext cx="3657600" cy="2011680"/>
          </a:xfrm>
          <a:prstGeom prst="roundRect">
            <a:avLst>
              <a:gd name="adj" fmla="val 3636"/>
            </a:avLst>
          </a:prstGeom>
          <a:solidFill>
            <a:srgbClr val="0B0B0B"/>
          </a:solidFill>
          <a:ln w="12700">
            <a:solidFill>
              <a:srgbClr val="FFFFFF"/>
            </a:solidFill>
            <a:prstDash val="solid"/>
          </a:ln>
        </p:spPr>
      </p:sp>
      <p:sp>
        <p:nvSpPr>
          <p:cNvPr id="7" name="Text 4"/>
          <p:cNvSpPr/>
          <p:nvPr/>
        </p:nvSpPr>
        <p:spPr>
          <a:xfrm>
            <a:off x="603504" y="1728216"/>
            <a:ext cx="3547872" cy="1938528"/>
          </a:xfrm>
          <a:prstGeom prst="rect">
            <a:avLst/>
          </a:prstGeom>
          <a:noFill/>
          <a:ln/>
        </p:spPr>
        <p:txBody>
          <a:bodyPr wrap="square" lIns="25400" tIns="25400" rIns="25400" bIns="25400" rtlCol="0" anchor="ctr"/>
          <a:lstStyle/>
          <a:p>
            <a:pPr marL="0" indent="0" algn="ctr">
              <a:buNone/>
            </a:pPr>
            <a:r>
              <a:rPr lang="en-US" sz="1400" dirty="0">
                <a:solidFill>
                  <a:srgbClr val="9CA3AF"/>
                </a:solidFill>
                <a:latin typeface="Consolas" pitchFamily="34" charset="0"/>
                <a:ea typeface="Consolas" pitchFamily="34" charset="-122"/>
                <a:cs typeface="Consolas" pitchFamily="34" charset="-120"/>
              </a:rPr>
              <a:t>Analyst asks</a:t>
            </a:r>
            <a:endParaRPr lang="en-US" sz="1400" dirty="0"/>
          </a:p>
          <a:p>
            <a:pPr marL="0" indent="0" algn="ctr">
              <a:buNone/>
            </a:pPr>
            <a:r>
              <a:rPr lang="en-US" sz="1700" dirty="0">
                <a:solidFill>
                  <a:srgbClr val="FFFFFF"/>
                </a:solidFill>
                <a:latin typeface="Calibri" pitchFamily="34" charset="0"/>
                <a:ea typeface="Calibri" pitchFamily="34" charset="-122"/>
                <a:cs typeface="Calibri" pitchFamily="34" charset="-120"/>
              </a:rPr>
              <a:t>“Did the Home week South promotion cause the drop in on-time delivery?”</a:t>
            </a:r>
            <a:endParaRPr lang="en-US" sz="1400" dirty="0"/>
          </a:p>
        </p:txBody>
      </p:sp>
      <p:sp>
        <p:nvSpPr>
          <p:cNvPr id="8" name="Text 5"/>
          <p:cNvSpPr/>
          <p:nvPr/>
        </p:nvSpPr>
        <p:spPr>
          <a:xfrm>
            <a:off x="548640" y="3794760"/>
            <a:ext cx="3657600" cy="274320"/>
          </a:xfrm>
          <a:prstGeom prst="rect">
            <a:avLst/>
          </a:prstGeom>
          <a:noFill/>
          <a:ln/>
        </p:spPr>
        <p:txBody>
          <a:bodyPr wrap="square" lIns="0" tIns="0" rIns="0" bIns="0" rtlCol="0" anchor="t"/>
          <a:lstStyle/>
          <a:p>
            <a:pPr marL="0" indent="0" algn="ctr">
              <a:buNone/>
            </a:pPr>
            <a:r>
              <a:rPr lang="en-US" sz="1200" dirty="0">
                <a:solidFill>
                  <a:srgbClr val="FBBF24"/>
                </a:solidFill>
                <a:latin typeface="Consolas" pitchFamily="34" charset="0"/>
                <a:ea typeface="Consolas" pitchFamily="34" charset="-122"/>
                <a:cs typeface="Consolas" pitchFamily="34" charset="-120"/>
              </a:rPr>
              <a:t>planted trap</a:t>
            </a:r>
            <a:endParaRPr lang="en-US" sz="1200" dirty="0"/>
          </a:p>
        </p:txBody>
      </p:sp>
      <p:sp>
        <p:nvSpPr>
          <p:cNvPr id="9" name="Shape 6"/>
          <p:cNvSpPr/>
          <p:nvPr/>
        </p:nvSpPr>
        <p:spPr>
          <a:xfrm>
            <a:off x="4754880" y="2240280"/>
            <a:ext cx="1828800" cy="914400"/>
          </a:xfrm>
          <a:prstGeom prst="roundRect">
            <a:avLst>
              <a:gd name="adj" fmla="val 8000"/>
            </a:avLst>
          </a:prstGeom>
          <a:solidFill>
            <a:srgbClr val="0B0B0B"/>
          </a:solidFill>
          <a:ln w="12700">
            <a:solidFill>
              <a:srgbClr val="22D3EE"/>
            </a:solidFill>
            <a:prstDash val="solid"/>
          </a:ln>
        </p:spPr>
      </p:sp>
      <p:sp>
        <p:nvSpPr>
          <p:cNvPr id="10" name="Text 7"/>
          <p:cNvSpPr/>
          <p:nvPr/>
        </p:nvSpPr>
        <p:spPr>
          <a:xfrm>
            <a:off x="4809744" y="2276856"/>
            <a:ext cx="1719072" cy="841248"/>
          </a:xfrm>
          <a:prstGeom prst="rect">
            <a:avLst/>
          </a:prstGeom>
          <a:noFill/>
          <a:ln/>
        </p:spPr>
        <p:txBody>
          <a:bodyPr wrap="square" lIns="25400" tIns="25400" rIns="25400" bIns="254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VeriAgent</a:t>
            </a:r>
            <a:endParaRPr lang="en-US" sz="1600" dirty="0"/>
          </a:p>
          <a:p>
            <a:pPr marL="0" indent="0" algn="ctr">
              <a:buNone/>
            </a:pPr>
            <a:r>
              <a:rPr lang="en-US" sz="1400" dirty="0">
                <a:solidFill>
                  <a:srgbClr val="9CA3AF"/>
                </a:solidFill>
                <a:latin typeface="Consolas" pitchFamily="34" charset="0"/>
                <a:ea typeface="Consolas" pitchFamily="34" charset="-122"/>
                <a:cs typeface="Consolas" pitchFamily="34" charset="-120"/>
              </a:rPr>
              <a:t>Why</a:t>
            </a:r>
            <a:endParaRPr lang="en-US" sz="1600" dirty="0"/>
          </a:p>
        </p:txBody>
      </p:sp>
      <p:sp>
        <p:nvSpPr>
          <p:cNvPr id="11" name="Shape 8"/>
          <p:cNvSpPr/>
          <p:nvPr/>
        </p:nvSpPr>
        <p:spPr>
          <a:xfrm>
            <a:off x="4251960" y="2697480"/>
            <a:ext cx="457200" cy="914"/>
          </a:xfrm>
          <a:prstGeom prst="line">
            <a:avLst/>
          </a:prstGeom>
          <a:noFill/>
          <a:ln w="15875">
            <a:solidFill>
              <a:srgbClr val="22D3EE"/>
            </a:solidFill>
            <a:prstDash val="solid"/>
            <a:tailEnd type="arrow"/>
          </a:ln>
        </p:spPr>
      </p:sp>
      <p:sp>
        <p:nvSpPr>
          <p:cNvPr id="12" name="Shape 9"/>
          <p:cNvSpPr/>
          <p:nvPr/>
        </p:nvSpPr>
        <p:spPr>
          <a:xfrm flipV="1">
            <a:off x="6629400" y="2011680"/>
            <a:ext cx="548640" cy="502920"/>
          </a:xfrm>
          <a:prstGeom prst="line">
            <a:avLst/>
          </a:prstGeom>
          <a:noFill/>
          <a:ln w="15875">
            <a:solidFill>
              <a:srgbClr val="22D3EE"/>
            </a:solidFill>
            <a:prstDash val="solid"/>
            <a:tailEnd type="arrow"/>
          </a:ln>
        </p:spPr>
      </p:sp>
      <p:sp>
        <p:nvSpPr>
          <p:cNvPr id="13" name="Shape 10"/>
          <p:cNvSpPr/>
          <p:nvPr/>
        </p:nvSpPr>
        <p:spPr>
          <a:xfrm>
            <a:off x="6629400" y="2880360"/>
            <a:ext cx="548640" cy="548640"/>
          </a:xfrm>
          <a:prstGeom prst="line">
            <a:avLst/>
          </a:prstGeom>
          <a:noFill/>
          <a:ln w="15875">
            <a:solidFill>
              <a:srgbClr val="22D3EE"/>
            </a:solidFill>
            <a:prstDash val="solid"/>
            <a:tailEnd type="arrow"/>
          </a:ln>
        </p:spPr>
      </p:sp>
      <p:sp>
        <p:nvSpPr>
          <p:cNvPr id="14" name="Shape 11"/>
          <p:cNvSpPr/>
          <p:nvPr/>
        </p:nvSpPr>
        <p:spPr>
          <a:xfrm>
            <a:off x="7223760" y="1417320"/>
            <a:ext cx="4416552" cy="1188720"/>
          </a:xfrm>
          <a:prstGeom prst="roundRect">
            <a:avLst>
              <a:gd name="adj" fmla="val 6154"/>
            </a:avLst>
          </a:prstGeom>
          <a:solidFill>
            <a:srgbClr val="0B0B0B"/>
          </a:solidFill>
          <a:ln w="12700">
            <a:solidFill>
              <a:srgbClr val="F87171"/>
            </a:solidFill>
            <a:prstDash val="solid"/>
          </a:ln>
        </p:spPr>
      </p:sp>
      <p:sp>
        <p:nvSpPr>
          <p:cNvPr id="15" name="Text 12"/>
          <p:cNvSpPr/>
          <p:nvPr/>
        </p:nvSpPr>
        <p:spPr>
          <a:xfrm>
            <a:off x="7278624" y="1453896"/>
            <a:ext cx="4306824" cy="1115568"/>
          </a:xfrm>
          <a:prstGeom prst="rect">
            <a:avLst/>
          </a:prstGeom>
          <a:noFill/>
          <a:ln/>
        </p:spPr>
        <p:txBody>
          <a:bodyPr wrap="square" lIns="25400" tIns="25400" rIns="25400" bIns="25400" rtlCol="0" anchor="ctr"/>
          <a:lstStyle/>
          <a:p>
            <a:pPr marL="0" indent="0" algn="ctr">
              <a:buNone/>
            </a:pPr>
            <a:r>
              <a:rPr lang="en-US" sz="1700" dirty="0">
                <a:solidFill>
                  <a:srgbClr val="F87171"/>
                </a:solidFill>
                <a:latin typeface="Consolas" pitchFamily="34" charset="0"/>
                <a:ea typeface="Consolas" pitchFamily="34" charset="-122"/>
                <a:cs typeface="Consolas" pitchFamily="34" charset="-120"/>
              </a:rPr>
              <a:t>promotion: REFUTED</a:t>
            </a:r>
            <a:endParaRPr lang="en-US" sz="1700" dirty="0"/>
          </a:p>
          <a:p>
            <a:pPr marL="0" indent="0" algn="ctr">
              <a:buNone/>
            </a:pPr>
            <a:r>
              <a:rPr lang="en-US" sz="1400" dirty="0">
                <a:solidFill>
                  <a:srgbClr val="FFFFFF"/>
                </a:solidFill>
                <a:latin typeface="Calibri" pitchFamily="34" charset="0"/>
                <a:ea typeface="Calibri" pitchFamily="34" charset="-122"/>
                <a:cs typeface="Calibri" pitchFamily="34" charset="-120"/>
              </a:rPr>
              <a:t>49 promo shipments, 3 late · share of the excess late shipments: −0.1%</a:t>
            </a:r>
            <a:endParaRPr lang="en-US" sz="1700" dirty="0"/>
          </a:p>
        </p:txBody>
      </p:sp>
      <p:sp>
        <p:nvSpPr>
          <p:cNvPr id="16" name="Shape 13"/>
          <p:cNvSpPr/>
          <p:nvPr/>
        </p:nvSpPr>
        <p:spPr>
          <a:xfrm>
            <a:off x="7223760" y="2834640"/>
            <a:ext cx="4416552" cy="1188720"/>
          </a:xfrm>
          <a:prstGeom prst="roundRect">
            <a:avLst>
              <a:gd name="adj" fmla="val 6154"/>
            </a:avLst>
          </a:prstGeom>
          <a:solidFill>
            <a:srgbClr val="0B0B0B"/>
          </a:solidFill>
          <a:ln w="12700">
            <a:solidFill>
              <a:srgbClr val="4ADE80"/>
            </a:solidFill>
            <a:prstDash val="solid"/>
          </a:ln>
        </p:spPr>
      </p:sp>
      <p:sp>
        <p:nvSpPr>
          <p:cNvPr id="17" name="Text 14"/>
          <p:cNvSpPr/>
          <p:nvPr/>
        </p:nvSpPr>
        <p:spPr>
          <a:xfrm>
            <a:off x="7278624" y="2871216"/>
            <a:ext cx="4306824" cy="1115568"/>
          </a:xfrm>
          <a:prstGeom prst="rect">
            <a:avLst/>
          </a:prstGeom>
          <a:noFill/>
          <a:ln/>
        </p:spPr>
        <p:txBody>
          <a:bodyPr wrap="square" lIns="25400" tIns="25400" rIns="25400" bIns="25400" rtlCol="0" anchor="ctr"/>
          <a:lstStyle/>
          <a:p>
            <a:pPr marL="0" indent="0" algn="ctr">
              <a:buNone/>
            </a:pPr>
            <a:r>
              <a:rPr lang="en-US" sz="1700" dirty="0">
                <a:solidFill>
                  <a:srgbClr val="4ADE80"/>
                </a:solidFill>
                <a:latin typeface="Consolas" pitchFamily="34" charset="0"/>
                <a:ea typeface="Consolas" pitchFamily="34" charset="-122"/>
                <a:cs typeface="Consolas" pitchFamily="34" charset="-120"/>
              </a:rPr>
              <a:t>carrier SLA breach: SUPPORTED</a:t>
            </a:r>
            <a:endParaRPr lang="en-US" sz="1700" dirty="0"/>
          </a:p>
          <a:p>
            <a:pPr marL="0" indent="0" algn="ctr">
              <a:buNone/>
            </a:pPr>
            <a:r>
              <a:rPr lang="en-US" sz="1400" dirty="0">
                <a:solidFill>
                  <a:srgbClr val="FFFFFF"/>
                </a:solidFill>
                <a:latin typeface="Calibri" pitchFamily="34" charset="0"/>
                <a:ea typeface="Calibri" pitchFamily="34" charset="-122"/>
                <a:cs typeface="Calibri" pitchFamily="34" charset="-120"/>
              </a:rPr>
              <a:t>CarrierB / North on-time rate 93.0% → 44.2%</a:t>
            </a:r>
            <a:endParaRPr lang="en-US" sz="1700" dirty="0"/>
          </a:p>
        </p:txBody>
      </p:sp>
      <p:sp>
        <p:nvSpPr>
          <p:cNvPr id="18" name="Shape 15"/>
          <p:cNvSpPr/>
          <p:nvPr/>
        </p:nvSpPr>
        <p:spPr>
          <a:xfrm>
            <a:off x="548640" y="4434840"/>
            <a:ext cx="3593592" cy="1097280"/>
          </a:xfrm>
          <a:prstGeom prst="roundRect">
            <a:avLst>
              <a:gd name="adj" fmla="val 6667"/>
            </a:avLst>
          </a:prstGeom>
          <a:solidFill>
            <a:srgbClr val="0B0B0B"/>
          </a:solidFill>
          <a:ln w="12700">
            <a:solidFill>
              <a:srgbClr val="FFFFFF"/>
            </a:solidFill>
            <a:prstDash val="solid"/>
          </a:ln>
        </p:spPr>
      </p:sp>
      <p:sp>
        <p:nvSpPr>
          <p:cNvPr id="19" name="Text 16"/>
          <p:cNvSpPr/>
          <p:nvPr/>
        </p:nvSpPr>
        <p:spPr>
          <a:xfrm>
            <a:off x="603504" y="4471416"/>
            <a:ext cx="3483864" cy="1024128"/>
          </a:xfrm>
          <a:prstGeom prst="rect">
            <a:avLst/>
          </a:prstGeom>
          <a:noFill/>
          <a:ln/>
        </p:spPr>
        <p:txBody>
          <a:bodyPr wrap="square" lIns="25400" tIns="25400" rIns="25400" bIns="2540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confidence 100</a:t>
            </a:r>
            <a:endParaRPr lang="en-US" sz="1700" dirty="0"/>
          </a:p>
          <a:p>
            <a:pPr marL="0" indent="0" algn="ctr">
              <a:buNone/>
            </a:pPr>
            <a:r>
              <a:rPr lang="en-US" sz="1200" dirty="0">
                <a:solidFill>
                  <a:srgbClr val="9CA3AF"/>
                </a:solidFill>
                <a:latin typeface="Consolas" pitchFamily="34" charset="0"/>
                <a:ea typeface="Consolas" pitchFamily="34" charset="-122"/>
                <a:cs typeface="Consolas" pitchFamily="34" charset="-120"/>
              </a:rPr>
              <a:t>round(100·(0.45C + 0.35A + 0.20(1−R)))</a:t>
            </a:r>
            <a:endParaRPr lang="en-US" sz="1700" dirty="0"/>
          </a:p>
        </p:txBody>
      </p:sp>
      <p:sp>
        <p:nvSpPr>
          <p:cNvPr id="20" name="Shape 17"/>
          <p:cNvSpPr/>
          <p:nvPr/>
        </p:nvSpPr>
        <p:spPr>
          <a:xfrm>
            <a:off x="4297680" y="4434840"/>
            <a:ext cx="3593592" cy="1097280"/>
          </a:xfrm>
          <a:prstGeom prst="roundRect">
            <a:avLst>
              <a:gd name="adj" fmla="val 6667"/>
            </a:avLst>
          </a:prstGeom>
          <a:solidFill>
            <a:srgbClr val="0B0B0B"/>
          </a:solidFill>
          <a:ln w="12700">
            <a:solidFill>
              <a:srgbClr val="FFFFFF"/>
            </a:solidFill>
            <a:prstDash val="solid"/>
          </a:ln>
        </p:spPr>
      </p:sp>
      <p:sp>
        <p:nvSpPr>
          <p:cNvPr id="21" name="Text 18"/>
          <p:cNvSpPr/>
          <p:nvPr/>
        </p:nvSpPr>
        <p:spPr>
          <a:xfrm>
            <a:off x="4352544" y="4471416"/>
            <a:ext cx="3483864" cy="1024128"/>
          </a:xfrm>
          <a:prstGeom prst="rect">
            <a:avLst/>
          </a:prstGeom>
          <a:noFill/>
          <a:ln/>
        </p:spPr>
        <p:txBody>
          <a:bodyPr wrap="square" lIns="25400" tIns="25400" rIns="25400" bIns="2540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2 / 2 claims pass</a:t>
            </a:r>
            <a:endParaRPr lang="en-US" sz="1700" dirty="0"/>
          </a:p>
          <a:p>
            <a:pPr marL="0" indent="0" algn="ctr">
              <a:buNone/>
            </a:pPr>
            <a:r>
              <a:rPr lang="en-US" sz="1200" dirty="0">
                <a:solidFill>
                  <a:srgbClr val="9CA3AF"/>
                </a:solidFill>
                <a:latin typeface="Consolas" pitchFamily="34" charset="0"/>
                <a:ea typeface="Consolas" pitchFamily="34" charset="-122"/>
                <a:cs typeface="Consolas" pitchFamily="34" charset="-120"/>
              </a:rPr>
              <a:t>Traceability Check</a:t>
            </a:r>
            <a:endParaRPr lang="en-US" sz="1700" dirty="0"/>
          </a:p>
        </p:txBody>
      </p:sp>
      <p:sp>
        <p:nvSpPr>
          <p:cNvPr id="22" name="Shape 19"/>
          <p:cNvSpPr/>
          <p:nvPr/>
        </p:nvSpPr>
        <p:spPr>
          <a:xfrm>
            <a:off x="8046720" y="4434840"/>
            <a:ext cx="3593592" cy="1097280"/>
          </a:xfrm>
          <a:prstGeom prst="roundRect">
            <a:avLst>
              <a:gd name="adj" fmla="val 6667"/>
            </a:avLst>
          </a:prstGeom>
          <a:solidFill>
            <a:srgbClr val="0B0B0B"/>
          </a:solidFill>
          <a:ln w="12700">
            <a:solidFill>
              <a:srgbClr val="FFFFFF"/>
            </a:solidFill>
            <a:prstDash val="solid"/>
          </a:ln>
        </p:spPr>
      </p:sp>
      <p:sp>
        <p:nvSpPr>
          <p:cNvPr id="23" name="Text 20"/>
          <p:cNvSpPr/>
          <p:nvPr/>
        </p:nvSpPr>
        <p:spPr>
          <a:xfrm>
            <a:off x="8101584" y="4471416"/>
            <a:ext cx="3483864" cy="1024128"/>
          </a:xfrm>
          <a:prstGeom prst="rect">
            <a:avLst/>
          </a:prstGeom>
          <a:noFill/>
          <a:ln/>
        </p:spPr>
        <p:txBody>
          <a:bodyPr wrap="square" lIns="25400" tIns="25400" rIns="25400" bIns="25400" rtlCol="0" anchor="ctr"/>
          <a:lstStyle/>
          <a:p>
            <a:pPr marL="0" indent="0" algn="ctr">
              <a:buNone/>
            </a:pPr>
            <a:r>
              <a:rPr lang="en-US" sz="1700" dirty="0">
                <a:solidFill>
                  <a:srgbClr val="FFFFFF"/>
                </a:solidFill>
                <a:latin typeface="Consolas" pitchFamily="34" charset="0"/>
                <a:ea typeface="Consolas" pitchFamily="34" charset="-122"/>
                <a:cs typeface="Consolas" pitchFamily="34" charset="-120"/>
              </a:rPr>
              <a:t>row click-through</a:t>
            </a:r>
            <a:endParaRPr lang="en-US" sz="1700" dirty="0"/>
          </a:p>
          <a:p>
            <a:pPr marL="0" indent="0" algn="ctr">
              <a:buNone/>
            </a:pPr>
            <a:r>
              <a:rPr lang="en-US" sz="1200" dirty="0">
                <a:solidFill>
                  <a:srgbClr val="9CA3AF"/>
                </a:solidFill>
                <a:latin typeface="Consolas" pitchFamily="34" charset="0"/>
                <a:ea typeface="Consolas" pitchFamily="34" charset="-122"/>
                <a:cs typeface="Consolas" pitchFamily="34" charset="-120"/>
              </a:rPr>
              <a:t>v_logistics row S000977</a:t>
            </a:r>
            <a:endParaRPr lang="en-US" sz="1700" dirty="0"/>
          </a:p>
        </p:txBody>
      </p:sp>
      <p:sp>
        <p:nvSpPr>
          <p:cNvPr id="24" name="Text 21"/>
          <p:cNvSpPr/>
          <p:nvPr/>
        </p:nvSpPr>
        <p:spPr>
          <a:xfrm>
            <a:off x="548640" y="5760720"/>
            <a:ext cx="11064240" cy="45720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Live run, 26 Oct 2026: Zetaris JDBC + Meterless Nightshift 1.2.7 (output_examples/example_5_live_zetaris_nightshift.json). Synthetic data, planted promotion trap.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Six agents, one deterministic check, two feedback loops</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Why did this KPI drop? hypotheses · row-level proof · traceability check · decision memo</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4</a:t>
            </a:r>
            <a:endParaRPr lang="en-US" sz="1100" dirty="0"/>
          </a:p>
        </p:txBody>
      </p:sp>
      <p:sp>
        <p:nvSpPr>
          <p:cNvPr id="6" name="Shape 3"/>
          <p:cNvSpPr/>
          <p:nvPr/>
        </p:nvSpPr>
        <p:spPr>
          <a:xfrm>
            <a:off x="320040" y="1463040"/>
            <a:ext cx="11548872" cy="4800600"/>
          </a:xfrm>
          <a:prstGeom prst="roundRect">
            <a:avLst>
              <a:gd name="adj" fmla="val 1905"/>
            </a:avLst>
          </a:prstGeom>
          <a:solidFill>
            <a:srgbClr val="0B0B0B"/>
          </a:solidFill>
          <a:ln w="15875">
            <a:solidFill>
              <a:srgbClr val="4ADE80"/>
            </a:solidFill>
            <a:prstDash val="dash"/>
          </a:ln>
        </p:spPr>
      </p:sp>
      <p:sp>
        <p:nvSpPr>
          <p:cNvPr id="7" name="Text 4"/>
          <p:cNvSpPr/>
          <p:nvPr/>
        </p:nvSpPr>
        <p:spPr>
          <a:xfrm>
            <a:off x="502920" y="1536192"/>
            <a:ext cx="11183112" cy="292608"/>
          </a:xfrm>
          <a:prstGeom prst="rect">
            <a:avLst/>
          </a:prstGeom>
          <a:noFill/>
          <a:ln/>
        </p:spPr>
        <p:txBody>
          <a:bodyPr wrap="square" lIns="0" tIns="0" rIns="0" bIns="0" rtlCol="0" anchor="ctr"/>
          <a:lstStyle/>
          <a:p>
            <a:pPr marL="0" indent="0">
              <a:buNone/>
            </a:pPr>
            <a:r>
              <a:rPr lang="en-US" sz="1300" dirty="0">
                <a:solidFill>
                  <a:srgbClr val="4ADE80"/>
                </a:solidFill>
                <a:latin typeface="Consolas" pitchFamily="34" charset="0"/>
                <a:ea typeface="Consolas" pitchFamily="34" charset="-122"/>
                <a:cs typeface="Consolas" pitchFamily="34" charset="-120"/>
              </a:rPr>
              <a:t>A · LIVE: KPI-drop investigator (python -m app.pipeline · UI · API)</a:t>
            </a:r>
            <a:endParaRPr lang="en-US" sz="1300" dirty="0"/>
          </a:p>
        </p:txBody>
      </p:sp>
      <p:sp>
        <p:nvSpPr>
          <p:cNvPr id="8" name="Shape 5"/>
          <p:cNvSpPr/>
          <p:nvPr/>
        </p:nvSpPr>
        <p:spPr>
          <a:xfrm>
            <a:off x="502920" y="2880360"/>
            <a:ext cx="1152144" cy="1051560"/>
          </a:xfrm>
          <a:prstGeom prst="roundRect">
            <a:avLst>
              <a:gd name="adj" fmla="val 6957"/>
            </a:avLst>
          </a:prstGeom>
          <a:solidFill>
            <a:srgbClr val="0B0B0B"/>
          </a:solidFill>
          <a:ln w="12700">
            <a:solidFill>
              <a:srgbClr val="FFFFFF"/>
            </a:solidFill>
            <a:prstDash val="solid"/>
          </a:ln>
        </p:spPr>
      </p:sp>
      <p:sp>
        <p:nvSpPr>
          <p:cNvPr id="9" name="Text 6"/>
          <p:cNvSpPr/>
          <p:nvPr/>
        </p:nvSpPr>
        <p:spPr>
          <a:xfrm>
            <a:off x="557784"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User / UI</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ops analyst</a:t>
            </a:r>
            <a:endParaRPr lang="en-US" sz="1200" dirty="0"/>
          </a:p>
        </p:txBody>
      </p:sp>
      <p:sp>
        <p:nvSpPr>
          <p:cNvPr id="10" name="Shape 7"/>
          <p:cNvSpPr/>
          <p:nvPr/>
        </p:nvSpPr>
        <p:spPr>
          <a:xfrm>
            <a:off x="1664208" y="3406140"/>
            <a:ext cx="91440" cy="914"/>
          </a:xfrm>
          <a:prstGeom prst="line">
            <a:avLst/>
          </a:prstGeom>
          <a:noFill/>
          <a:ln w="12700">
            <a:solidFill>
              <a:srgbClr val="FFFFFF"/>
            </a:solidFill>
            <a:prstDash val="solid"/>
            <a:tailEnd type="arrow"/>
          </a:ln>
        </p:spPr>
      </p:sp>
      <p:sp>
        <p:nvSpPr>
          <p:cNvPr id="11" name="Shape 8"/>
          <p:cNvSpPr/>
          <p:nvPr/>
        </p:nvSpPr>
        <p:spPr>
          <a:xfrm>
            <a:off x="1764792" y="2880360"/>
            <a:ext cx="1152144" cy="1051560"/>
          </a:xfrm>
          <a:prstGeom prst="roundRect">
            <a:avLst>
              <a:gd name="adj" fmla="val 6957"/>
            </a:avLst>
          </a:prstGeom>
          <a:solidFill>
            <a:srgbClr val="0B0B0B"/>
          </a:solidFill>
          <a:ln w="12700">
            <a:solidFill>
              <a:srgbClr val="FFFFFF"/>
            </a:solidFill>
            <a:prstDash val="solid"/>
          </a:ln>
        </p:spPr>
      </p:sp>
      <p:sp>
        <p:nvSpPr>
          <p:cNvPr id="12" name="Text 9"/>
          <p:cNvSpPr/>
          <p:nvPr/>
        </p:nvSpPr>
        <p:spPr>
          <a:xfrm>
            <a:off x="1819656"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Planner</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Ultra · S2</a:t>
            </a:r>
            <a:endParaRPr lang="en-US" sz="1200" dirty="0"/>
          </a:p>
        </p:txBody>
      </p:sp>
      <p:sp>
        <p:nvSpPr>
          <p:cNvPr id="13" name="Shape 10"/>
          <p:cNvSpPr/>
          <p:nvPr/>
        </p:nvSpPr>
        <p:spPr>
          <a:xfrm>
            <a:off x="2926080" y="3406140"/>
            <a:ext cx="91440" cy="914"/>
          </a:xfrm>
          <a:prstGeom prst="line">
            <a:avLst/>
          </a:prstGeom>
          <a:noFill/>
          <a:ln w="12700">
            <a:solidFill>
              <a:srgbClr val="FFFFFF"/>
            </a:solidFill>
            <a:prstDash val="solid"/>
            <a:tailEnd type="arrow"/>
          </a:ln>
        </p:spPr>
      </p:sp>
      <p:sp>
        <p:nvSpPr>
          <p:cNvPr id="14" name="Shape 11"/>
          <p:cNvSpPr/>
          <p:nvPr/>
        </p:nvSpPr>
        <p:spPr>
          <a:xfrm>
            <a:off x="3026664" y="2880360"/>
            <a:ext cx="1152144" cy="1051560"/>
          </a:xfrm>
          <a:prstGeom prst="roundRect">
            <a:avLst>
              <a:gd name="adj" fmla="val 6957"/>
            </a:avLst>
          </a:prstGeom>
          <a:solidFill>
            <a:srgbClr val="0B0B0B"/>
          </a:solidFill>
          <a:ln w="12700">
            <a:solidFill>
              <a:srgbClr val="FFFFFF"/>
            </a:solidFill>
            <a:prstDash val="solid"/>
          </a:ln>
        </p:spPr>
      </p:sp>
      <p:sp>
        <p:nvSpPr>
          <p:cNvPr id="15" name="Text 12"/>
          <p:cNvSpPr/>
          <p:nvPr/>
        </p:nvSpPr>
        <p:spPr>
          <a:xfrm>
            <a:off x="3081528"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Agentic</a:t>
            </a:r>
            <a:endParaRPr lang="en-US" sz="1200" dirty="0"/>
          </a:p>
          <a:p>
            <a:pPr marL="0" indent="0" algn="ctr">
              <a:buNone/>
            </a:pPr>
            <a:r>
              <a:rPr lang="en-US" sz="1200" dirty="0">
                <a:solidFill>
                  <a:srgbClr val="FFFFFF"/>
                </a:solidFill>
                <a:latin typeface="Consolas" pitchFamily="34" charset="0"/>
                <a:ea typeface="Consolas" pitchFamily="34" charset="-122"/>
                <a:cs typeface="Consolas" pitchFamily="34" charset="-120"/>
              </a:rPr>
              <a:t>Retriever</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Lightning · S1</a:t>
            </a:r>
            <a:endParaRPr lang="en-US" sz="1200" dirty="0"/>
          </a:p>
        </p:txBody>
      </p:sp>
      <p:sp>
        <p:nvSpPr>
          <p:cNvPr id="16" name="Shape 13"/>
          <p:cNvSpPr/>
          <p:nvPr/>
        </p:nvSpPr>
        <p:spPr>
          <a:xfrm>
            <a:off x="4187952" y="3406140"/>
            <a:ext cx="91440" cy="914"/>
          </a:xfrm>
          <a:prstGeom prst="line">
            <a:avLst/>
          </a:prstGeom>
          <a:noFill/>
          <a:ln w="12700">
            <a:solidFill>
              <a:srgbClr val="FFFFFF"/>
            </a:solidFill>
            <a:prstDash val="solid"/>
            <a:tailEnd type="arrow"/>
          </a:ln>
        </p:spPr>
      </p:sp>
      <p:sp>
        <p:nvSpPr>
          <p:cNvPr id="17" name="Shape 14"/>
          <p:cNvSpPr/>
          <p:nvPr/>
        </p:nvSpPr>
        <p:spPr>
          <a:xfrm>
            <a:off x="4288536" y="2880360"/>
            <a:ext cx="1152144" cy="1051560"/>
          </a:xfrm>
          <a:prstGeom prst="roundRect">
            <a:avLst>
              <a:gd name="adj" fmla="val 6957"/>
            </a:avLst>
          </a:prstGeom>
          <a:solidFill>
            <a:srgbClr val="0B0B0B"/>
          </a:solidFill>
          <a:ln w="12700">
            <a:solidFill>
              <a:srgbClr val="FFFFFF"/>
            </a:solidFill>
            <a:prstDash val="solid"/>
          </a:ln>
        </p:spPr>
      </p:sp>
      <p:sp>
        <p:nvSpPr>
          <p:cNvPr id="18" name="Text 15"/>
          <p:cNvSpPr/>
          <p:nvPr/>
        </p:nvSpPr>
        <p:spPr>
          <a:xfrm>
            <a:off x="4343400"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S1 Filter</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Lightning · S1</a:t>
            </a:r>
            <a:endParaRPr lang="en-US" sz="1200" dirty="0"/>
          </a:p>
        </p:txBody>
      </p:sp>
      <p:sp>
        <p:nvSpPr>
          <p:cNvPr id="19" name="Shape 16"/>
          <p:cNvSpPr/>
          <p:nvPr/>
        </p:nvSpPr>
        <p:spPr>
          <a:xfrm>
            <a:off x="5449824" y="3406140"/>
            <a:ext cx="91440" cy="914"/>
          </a:xfrm>
          <a:prstGeom prst="line">
            <a:avLst/>
          </a:prstGeom>
          <a:noFill/>
          <a:ln w="12700">
            <a:solidFill>
              <a:srgbClr val="FFFFFF"/>
            </a:solidFill>
            <a:prstDash val="solid"/>
            <a:tailEnd type="arrow"/>
          </a:ln>
        </p:spPr>
      </p:sp>
      <p:sp>
        <p:nvSpPr>
          <p:cNvPr id="20" name="Shape 17"/>
          <p:cNvSpPr/>
          <p:nvPr/>
        </p:nvSpPr>
        <p:spPr>
          <a:xfrm>
            <a:off x="5550408" y="2880360"/>
            <a:ext cx="1152144" cy="1051560"/>
          </a:xfrm>
          <a:prstGeom prst="roundRect">
            <a:avLst>
              <a:gd name="adj" fmla="val 6957"/>
            </a:avLst>
          </a:prstGeom>
          <a:solidFill>
            <a:srgbClr val="0B0B0B"/>
          </a:solidFill>
          <a:ln w="12700">
            <a:solidFill>
              <a:srgbClr val="FFFFFF"/>
            </a:solidFill>
            <a:prstDash val="solid"/>
          </a:ln>
        </p:spPr>
      </p:sp>
      <p:sp>
        <p:nvSpPr>
          <p:cNvPr id="21" name="Text 18"/>
          <p:cNvSpPr/>
          <p:nvPr/>
        </p:nvSpPr>
        <p:spPr>
          <a:xfrm>
            <a:off x="5605272"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Evidence</a:t>
            </a:r>
            <a:endParaRPr lang="en-US" sz="1200" dirty="0"/>
          </a:p>
          <a:p>
            <a:pPr marL="0" indent="0" algn="ctr">
              <a:buNone/>
            </a:pPr>
            <a:r>
              <a:rPr lang="en-US" sz="1200" dirty="0">
                <a:solidFill>
                  <a:srgbClr val="FFFFFF"/>
                </a:solidFill>
                <a:latin typeface="Consolas" pitchFamily="34" charset="0"/>
                <a:ea typeface="Consolas" pitchFamily="34" charset="-122"/>
                <a:cs typeface="Consolas" pitchFamily="34" charset="-120"/>
              </a:rPr>
              <a:t>Eval</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Lightning · S1</a:t>
            </a:r>
            <a:endParaRPr lang="en-US" sz="1200" dirty="0"/>
          </a:p>
        </p:txBody>
      </p:sp>
      <p:sp>
        <p:nvSpPr>
          <p:cNvPr id="22" name="Shape 19"/>
          <p:cNvSpPr/>
          <p:nvPr/>
        </p:nvSpPr>
        <p:spPr>
          <a:xfrm>
            <a:off x="6711696" y="3406140"/>
            <a:ext cx="91440" cy="914"/>
          </a:xfrm>
          <a:prstGeom prst="line">
            <a:avLst/>
          </a:prstGeom>
          <a:noFill/>
          <a:ln w="12700">
            <a:solidFill>
              <a:srgbClr val="FFFFFF"/>
            </a:solidFill>
            <a:prstDash val="solid"/>
            <a:tailEnd type="arrow"/>
          </a:ln>
        </p:spPr>
      </p:sp>
      <p:sp>
        <p:nvSpPr>
          <p:cNvPr id="23" name="Shape 20"/>
          <p:cNvSpPr/>
          <p:nvPr/>
        </p:nvSpPr>
        <p:spPr>
          <a:xfrm>
            <a:off x="6812280" y="2880360"/>
            <a:ext cx="1152144" cy="1051560"/>
          </a:xfrm>
          <a:prstGeom prst="roundRect">
            <a:avLst>
              <a:gd name="adj" fmla="val 6957"/>
            </a:avLst>
          </a:prstGeom>
          <a:solidFill>
            <a:srgbClr val="0B0B0B"/>
          </a:solidFill>
          <a:ln w="12700">
            <a:solidFill>
              <a:srgbClr val="FFFFFF"/>
            </a:solidFill>
            <a:prstDash val="solid"/>
          </a:ln>
        </p:spPr>
      </p:sp>
      <p:sp>
        <p:nvSpPr>
          <p:cNvPr id="24" name="Text 21"/>
          <p:cNvSpPr/>
          <p:nvPr/>
        </p:nvSpPr>
        <p:spPr>
          <a:xfrm>
            <a:off x="6867144"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Cause</a:t>
            </a:r>
            <a:endParaRPr lang="en-US" sz="1200" dirty="0"/>
          </a:p>
          <a:p>
            <a:pPr marL="0" indent="0" algn="ctr">
              <a:buNone/>
            </a:pPr>
            <a:r>
              <a:rPr lang="en-US" sz="1200" dirty="0">
                <a:solidFill>
                  <a:srgbClr val="FFFFFF"/>
                </a:solidFill>
                <a:latin typeface="Consolas" pitchFamily="34" charset="0"/>
                <a:ea typeface="Consolas" pitchFamily="34" charset="-122"/>
                <a:cs typeface="Consolas" pitchFamily="34" charset="-120"/>
              </a:rPr>
              <a:t>Analyst</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Ultra · S2</a:t>
            </a:r>
            <a:endParaRPr lang="en-US" sz="1200" dirty="0"/>
          </a:p>
        </p:txBody>
      </p:sp>
      <p:sp>
        <p:nvSpPr>
          <p:cNvPr id="25" name="Shape 22"/>
          <p:cNvSpPr/>
          <p:nvPr/>
        </p:nvSpPr>
        <p:spPr>
          <a:xfrm>
            <a:off x="7973568" y="3406140"/>
            <a:ext cx="91440" cy="914"/>
          </a:xfrm>
          <a:prstGeom prst="line">
            <a:avLst/>
          </a:prstGeom>
          <a:noFill/>
          <a:ln w="12700">
            <a:solidFill>
              <a:srgbClr val="FFFFFF"/>
            </a:solidFill>
            <a:prstDash val="solid"/>
            <a:tailEnd type="arrow"/>
          </a:ln>
        </p:spPr>
      </p:sp>
      <p:sp>
        <p:nvSpPr>
          <p:cNvPr id="26" name="Shape 23"/>
          <p:cNvSpPr/>
          <p:nvPr/>
        </p:nvSpPr>
        <p:spPr>
          <a:xfrm>
            <a:off x="8074152" y="2880360"/>
            <a:ext cx="1152144" cy="1051560"/>
          </a:xfrm>
          <a:prstGeom prst="roundRect">
            <a:avLst>
              <a:gd name="adj" fmla="val 6957"/>
            </a:avLst>
          </a:prstGeom>
          <a:solidFill>
            <a:srgbClr val="0B0B0B"/>
          </a:solidFill>
          <a:ln w="12700">
            <a:solidFill>
              <a:srgbClr val="FFFFFF"/>
            </a:solidFill>
            <a:prstDash val="solid"/>
          </a:ln>
        </p:spPr>
      </p:sp>
      <p:sp>
        <p:nvSpPr>
          <p:cNvPr id="27" name="Text 24"/>
          <p:cNvSpPr/>
          <p:nvPr/>
        </p:nvSpPr>
        <p:spPr>
          <a:xfrm>
            <a:off x="8129016"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Writer</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Ultra · S2</a:t>
            </a:r>
            <a:endParaRPr lang="en-US" sz="1200" dirty="0"/>
          </a:p>
        </p:txBody>
      </p:sp>
      <p:sp>
        <p:nvSpPr>
          <p:cNvPr id="28" name="Shape 25"/>
          <p:cNvSpPr/>
          <p:nvPr/>
        </p:nvSpPr>
        <p:spPr>
          <a:xfrm>
            <a:off x="9235440" y="3406140"/>
            <a:ext cx="91440" cy="914"/>
          </a:xfrm>
          <a:prstGeom prst="line">
            <a:avLst/>
          </a:prstGeom>
          <a:noFill/>
          <a:ln w="12700">
            <a:solidFill>
              <a:srgbClr val="FFFFFF"/>
            </a:solidFill>
            <a:prstDash val="solid"/>
            <a:tailEnd type="arrow"/>
          </a:ln>
        </p:spPr>
      </p:sp>
      <p:sp>
        <p:nvSpPr>
          <p:cNvPr id="29" name="Shape 26"/>
          <p:cNvSpPr/>
          <p:nvPr/>
        </p:nvSpPr>
        <p:spPr>
          <a:xfrm>
            <a:off x="9336024" y="2880360"/>
            <a:ext cx="1152144" cy="1051560"/>
          </a:xfrm>
          <a:prstGeom prst="roundRect">
            <a:avLst>
              <a:gd name="adj" fmla="val 6957"/>
            </a:avLst>
          </a:prstGeom>
          <a:solidFill>
            <a:srgbClr val="0B0B0B"/>
          </a:solidFill>
          <a:ln w="12700">
            <a:solidFill>
              <a:srgbClr val="22D3EE"/>
            </a:solidFill>
            <a:prstDash val="solid"/>
          </a:ln>
        </p:spPr>
      </p:sp>
      <p:sp>
        <p:nvSpPr>
          <p:cNvPr id="30" name="Text 27"/>
          <p:cNvSpPr/>
          <p:nvPr/>
        </p:nvSpPr>
        <p:spPr>
          <a:xfrm>
            <a:off x="9390888" y="2916936"/>
            <a:ext cx="1042416" cy="978408"/>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Traceability</a:t>
            </a:r>
            <a:endParaRPr lang="en-US" sz="1100" dirty="0"/>
          </a:p>
          <a:p>
            <a:pPr marL="0" indent="0" algn="ctr">
              <a:buNone/>
            </a:pPr>
            <a:r>
              <a:rPr lang="en-US" sz="1100" dirty="0">
                <a:solidFill>
                  <a:srgbClr val="FFFFFF"/>
                </a:solidFill>
                <a:latin typeface="Consolas" pitchFamily="34" charset="0"/>
                <a:ea typeface="Consolas" pitchFamily="34" charset="-122"/>
                <a:cs typeface="Consolas" pitchFamily="34" charset="-120"/>
              </a:rPr>
              <a:t>Check</a:t>
            </a:r>
            <a:endParaRPr lang="en-US" sz="1100" dirty="0"/>
          </a:p>
          <a:p>
            <a:pPr marL="0" indent="0" algn="ctr">
              <a:buNone/>
            </a:pPr>
            <a:r>
              <a:rPr lang="en-US" sz="900" dirty="0">
                <a:solidFill>
                  <a:srgbClr val="9CA3AF"/>
                </a:solidFill>
                <a:latin typeface="Consolas" pitchFamily="34" charset="0"/>
                <a:ea typeface="Consolas" pitchFamily="34" charset="-122"/>
                <a:cs typeface="Consolas" pitchFamily="34" charset="-120"/>
              </a:rPr>
              <a:t>deterministic</a:t>
            </a:r>
            <a:endParaRPr lang="en-US" sz="1100" dirty="0"/>
          </a:p>
        </p:txBody>
      </p:sp>
      <p:sp>
        <p:nvSpPr>
          <p:cNvPr id="31" name="Shape 28"/>
          <p:cNvSpPr/>
          <p:nvPr/>
        </p:nvSpPr>
        <p:spPr>
          <a:xfrm>
            <a:off x="10497312" y="3406140"/>
            <a:ext cx="91440" cy="914"/>
          </a:xfrm>
          <a:prstGeom prst="line">
            <a:avLst/>
          </a:prstGeom>
          <a:noFill/>
          <a:ln w="12700">
            <a:solidFill>
              <a:srgbClr val="FFFFFF"/>
            </a:solidFill>
            <a:prstDash val="solid"/>
            <a:tailEnd type="arrow"/>
          </a:ln>
        </p:spPr>
      </p:sp>
      <p:sp>
        <p:nvSpPr>
          <p:cNvPr id="32" name="Shape 29"/>
          <p:cNvSpPr/>
          <p:nvPr/>
        </p:nvSpPr>
        <p:spPr>
          <a:xfrm>
            <a:off x="10597896" y="2880360"/>
            <a:ext cx="1152144" cy="1051560"/>
          </a:xfrm>
          <a:prstGeom prst="roundRect">
            <a:avLst>
              <a:gd name="adj" fmla="val 6957"/>
            </a:avLst>
          </a:prstGeom>
          <a:solidFill>
            <a:srgbClr val="0B0B0B"/>
          </a:solidFill>
          <a:ln w="12700">
            <a:solidFill>
              <a:srgbClr val="FFFFFF"/>
            </a:solidFill>
            <a:prstDash val="solid"/>
          </a:ln>
        </p:spPr>
      </p:sp>
      <p:sp>
        <p:nvSpPr>
          <p:cNvPr id="33" name="Text 30"/>
          <p:cNvSpPr/>
          <p:nvPr/>
        </p:nvSpPr>
        <p:spPr>
          <a:xfrm>
            <a:off x="10652760" y="2916936"/>
            <a:ext cx="1042416" cy="97840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Memo</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row IDs +</a:t>
            </a:r>
            <a:endParaRPr lang="en-US" sz="1200" dirty="0"/>
          </a:p>
          <a:p>
            <a:pPr marL="0" indent="0" algn="ctr">
              <a:buNone/>
            </a:pPr>
            <a:r>
              <a:rPr lang="en-US" sz="900" dirty="0">
                <a:solidFill>
                  <a:srgbClr val="9CA3AF"/>
                </a:solidFill>
                <a:latin typeface="Consolas" pitchFamily="34" charset="0"/>
                <a:ea typeface="Consolas" pitchFamily="34" charset="-122"/>
                <a:cs typeface="Consolas" pitchFamily="34" charset="-120"/>
              </a:rPr>
              <a:t>confidence</a:t>
            </a:r>
            <a:endParaRPr lang="en-US" sz="1200" dirty="0"/>
          </a:p>
        </p:txBody>
      </p:sp>
      <p:sp>
        <p:nvSpPr>
          <p:cNvPr id="34" name="Shape 31"/>
          <p:cNvSpPr/>
          <p:nvPr/>
        </p:nvSpPr>
        <p:spPr>
          <a:xfrm flipV="1">
            <a:off x="6126480" y="2331720"/>
            <a:ext cx="914" cy="548640"/>
          </a:xfrm>
          <a:prstGeom prst="line">
            <a:avLst/>
          </a:prstGeom>
          <a:noFill/>
          <a:ln w="15875">
            <a:solidFill>
              <a:srgbClr val="22D3EE"/>
            </a:solidFill>
            <a:prstDash val="solid"/>
          </a:ln>
        </p:spPr>
      </p:sp>
      <p:sp>
        <p:nvSpPr>
          <p:cNvPr id="35" name="Shape 32"/>
          <p:cNvSpPr/>
          <p:nvPr/>
        </p:nvSpPr>
        <p:spPr>
          <a:xfrm flipH="1">
            <a:off x="2340864" y="2331720"/>
            <a:ext cx="3785616" cy="914"/>
          </a:xfrm>
          <a:prstGeom prst="line">
            <a:avLst/>
          </a:prstGeom>
          <a:noFill/>
          <a:ln w="15875">
            <a:solidFill>
              <a:srgbClr val="22D3EE"/>
            </a:solidFill>
            <a:prstDash val="solid"/>
          </a:ln>
        </p:spPr>
      </p:sp>
      <p:sp>
        <p:nvSpPr>
          <p:cNvPr id="36" name="Shape 33"/>
          <p:cNvSpPr/>
          <p:nvPr/>
        </p:nvSpPr>
        <p:spPr>
          <a:xfrm>
            <a:off x="2340864" y="2331720"/>
            <a:ext cx="914" cy="539496"/>
          </a:xfrm>
          <a:prstGeom prst="line">
            <a:avLst/>
          </a:prstGeom>
          <a:noFill/>
          <a:ln w="15875">
            <a:solidFill>
              <a:srgbClr val="22D3EE"/>
            </a:solidFill>
            <a:prstDash val="solid"/>
            <a:tailEnd type="arrow"/>
          </a:ln>
        </p:spPr>
      </p:sp>
      <p:sp>
        <p:nvSpPr>
          <p:cNvPr id="37" name="Text 34"/>
          <p:cNvSpPr/>
          <p:nvPr/>
        </p:nvSpPr>
        <p:spPr>
          <a:xfrm>
            <a:off x="2432304" y="1810512"/>
            <a:ext cx="3602736" cy="502920"/>
          </a:xfrm>
          <a:prstGeom prst="rect">
            <a:avLst/>
          </a:prstGeom>
          <a:noFill/>
          <a:ln/>
        </p:spPr>
        <p:txBody>
          <a:bodyPr wrap="square" lIns="0" tIns="0" rIns="0" bIns="0" rtlCol="0" anchor="b"/>
          <a:lstStyle/>
          <a:p>
            <a:pPr marL="0" indent="0" algn="ctr">
              <a:buNone/>
            </a:pPr>
            <a:r>
              <a:rPr lang="en-US" sz="1100" dirty="0">
                <a:solidFill>
                  <a:srgbClr val="22D3EE"/>
                </a:solidFill>
                <a:latin typeface="Consolas" pitchFamily="34" charset="0"/>
                <a:ea typeface="Consolas" pitchFamily="34" charset="-122"/>
                <a:cs typeface="Consolas" pitchFamily="34" charset="-120"/>
              </a:rPr>
              <a:t>evidence gap → back to Planner</a:t>
            </a:r>
            <a:endParaRPr lang="en-US" sz="1100" dirty="0"/>
          </a:p>
          <a:p>
            <a:pPr marL="0" indent="0" algn="ctr">
              <a:buNone/>
            </a:pPr>
            <a:r>
              <a:rPr lang="en-US" sz="1100" dirty="0">
                <a:solidFill>
                  <a:srgbClr val="22D3EE"/>
                </a:solidFill>
                <a:latin typeface="Consolas" pitchFamily="34" charset="0"/>
                <a:ea typeface="Consolas" pitchFamily="34" charset="-122"/>
                <a:cs typeface="Consolas" pitchFamily="34" charset="-120"/>
              </a:rPr>
              <a:t>max 3 rounds · Meterless Markovian</a:t>
            </a:r>
            <a:endParaRPr lang="en-US" sz="1100" dirty="0"/>
          </a:p>
        </p:txBody>
      </p:sp>
      <p:sp>
        <p:nvSpPr>
          <p:cNvPr id="38" name="Shape 35"/>
          <p:cNvSpPr/>
          <p:nvPr/>
        </p:nvSpPr>
        <p:spPr>
          <a:xfrm flipV="1">
            <a:off x="9912096" y="2331720"/>
            <a:ext cx="914" cy="548640"/>
          </a:xfrm>
          <a:prstGeom prst="line">
            <a:avLst/>
          </a:prstGeom>
          <a:noFill/>
          <a:ln w="15875">
            <a:solidFill>
              <a:srgbClr val="22D3EE"/>
            </a:solidFill>
            <a:prstDash val="solid"/>
          </a:ln>
        </p:spPr>
      </p:sp>
      <p:sp>
        <p:nvSpPr>
          <p:cNvPr id="39" name="Shape 36"/>
          <p:cNvSpPr/>
          <p:nvPr/>
        </p:nvSpPr>
        <p:spPr>
          <a:xfrm flipH="1">
            <a:off x="7388352" y="2331720"/>
            <a:ext cx="2523744" cy="914"/>
          </a:xfrm>
          <a:prstGeom prst="line">
            <a:avLst/>
          </a:prstGeom>
          <a:noFill/>
          <a:ln w="15875">
            <a:solidFill>
              <a:srgbClr val="22D3EE"/>
            </a:solidFill>
            <a:prstDash val="solid"/>
          </a:ln>
        </p:spPr>
      </p:sp>
      <p:sp>
        <p:nvSpPr>
          <p:cNvPr id="40" name="Shape 37"/>
          <p:cNvSpPr/>
          <p:nvPr/>
        </p:nvSpPr>
        <p:spPr>
          <a:xfrm>
            <a:off x="7388352" y="2331720"/>
            <a:ext cx="914" cy="539496"/>
          </a:xfrm>
          <a:prstGeom prst="line">
            <a:avLst/>
          </a:prstGeom>
          <a:noFill/>
          <a:ln w="15875">
            <a:solidFill>
              <a:srgbClr val="22D3EE"/>
            </a:solidFill>
            <a:prstDash val="solid"/>
            <a:tailEnd type="arrow"/>
          </a:ln>
        </p:spPr>
      </p:sp>
      <p:sp>
        <p:nvSpPr>
          <p:cNvPr id="41" name="Text 38"/>
          <p:cNvSpPr/>
          <p:nvPr/>
        </p:nvSpPr>
        <p:spPr>
          <a:xfrm>
            <a:off x="7434072" y="1810512"/>
            <a:ext cx="2432304" cy="502920"/>
          </a:xfrm>
          <a:prstGeom prst="rect">
            <a:avLst/>
          </a:prstGeom>
          <a:noFill/>
          <a:ln/>
        </p:spPr>
        <p:txBody>
          <a:bodyPr wrap="square" lIns="0" tIns="0" rIns="0" bIns="0" rtlCol="0" anchor="b"/>
          <a:lstStyle/>
          <a:p>
            <a:pPr marL="0" indent="0" algn="ctr">
              <a:buNone/>
            </a:pPr>
            <a:r>
              <a:rPr lang="en-US" sz="1100" dirty="0">
                <a:solidFill>
                  <a:srgbClr val="22D3EE"/>
                </a:solidFill>
                <a:latin typeface="Consolas" pitchFamily="34" charset="0"/>
                <a:ea typeface="Consolas" pitchFamily="34" charset="-122"/>
                <a:cs typeface="Consolas" pitchFamily="34" charset="-120"/>
              </a:rPr>
              <a:t>claim not re-found</a:t>
            </a:r>
            <a:endParaRPr lang="en-US" sz="1100" dirty="0"/>
          </a:p>
          <a:p>
            <a:pPr marL="0" indent="0" algn="ctr">
              <a:buNone/>
            </a:pPr>
            <a:r>
              <a:rPr lang="en-US" sz="1100" dirty="0">
                <a:solidFill>
                  <a:srgbClr val="22D3EE"/>
                </a:solidFill>
                <a:latin typeface="Consolas" pitchFamily="34" charset="0"/>
                <a:ea typeface="Consolas" pitchFamily="34" charset="-122"/>
                <a:cs typeface="Consolas" pitchFamily="34" charset="-120"/>
              </a:rPr>
              <a:t>→ rewrite (max 2)</a:t>
            </a:r>
            <a:endParaRPr lang="en-US" sz="1100" dirty="0"/>
          </a:p>
        </p:txBody>
      </p:sp>
      <p:sp>
        <p:nvSpPr>
          <p:cNvPr id="42" name="Text 39"/>
          <p:cNvSpPr/>
          <p:nvPr/>
        </p:nvSpPr>
        <p:spPr>
          <a:xfrm>
            <a:off x="9061704" y="3986784"/>
            <a:ext cx="1691640" cy="457200"/>
          </a:xfrm>
          <a:prstGeom prst="rect">
            <a:avLst/>
          </a:prstGeom>
          <a:noFill/>
          <a:ln/>
        </p:spPr>
        <p:txBody>
          <a:bodyPr wrap="square" lIns="0" tIns="0" rIns="0" bIns="0" rtlCol="0" anchor="t"/>
          <a:lstStyle/>
          <a:p>
            <a:pPr marL="0" indent="0" algn="ctr">
              <a:buNone/>
            </a:pPr>
            <a:r>
              <a:rPr lang="en-US" sz="1000" dirty="0">
                <a:solidFill>
                  <a:srgbClr val="9CA3AF"/>
                </a:solidFill>
                <a:latin typeface="Consolas" pitchFamily="34" charset="0"/>
                <a:ea typeface="Consolas" pitchFamily="34" charset="-122"/>
                <a:cs typeface="Consolas" pitchFamily="34" charset="-120"/>
              </a:rPr>
              <a:t>re-runs SQL for every cited number / row</a:t>
            </a:r>
            <a:endParaRPr lang="en-US" sz="1000" dirty="0"/>
          </a:p>
        </p:txBody>
      </p:sp>
      <p:sp>
        <p:nvSpPr>
          <p:cNvPr id="43" name="Shape 40"/>
          <p:cNvSpPr/>
          <p:nvPr/>
        </p:nvSpPr>
        <p:spPr>
          <a:xfrm>
            <a:off x="3602736" y="3931920"/>
            <a:ext cx="914" cy="594360"/>
          </a:xfrm>
          <a:prstGeom prst="line">
            <a:avLst/>
          </a:prstGeom>
          <a:noFill/>
          <a:ln w="12700">
            <a:solidFill>
              <a:srgbClr val="9CA3AF"/>
            </a:solidFill>
            <a:prstDash val="dash"/>
            <a:tailEnd type="arrow"/>
          </a:ln>
        </p:spPr>
      </p:sp>
      <p:sp>
        <p:nvSpPr>
          <p:cNvPr id="44" name="Text 41"/>
          <p:cNvSpPr/>
          <p:nvPr/>
        </p:nvSpPr>
        <p:spPr>
          <a:xfrm>
            <a:off x="3666744" y="4041648"/>
            <a:ext cx="548640" cy="228600"/>
          </a:xfrm>
          <a:prstGeom prst="rect">
            <a:avLst/>
          </a:prstGeom>
          <a:noFill/>
          <a:ln/>
        </p:spPr>
        <p:txBody>
          <a:bodyPr wrap="square" lIns="0" tIns="0" rIns="0" bIns="0" rtlCol="0" anchor="t"/>
          <a:lstStyle/>
          <a:p>
            <a:pPr marL="0" indent="0" algn="l">
              <a:buNone/>
            </a:pPr>
            <a:r>
              <a:rPr lang="en-US" sz="1000" dirty="0">
                <a:solidFill>
                  <a:srgbClr val="9CA3AF"/>
                </a:solidFill>
                <a:latin typeface="Consolas" pitchFamily="34" charset="0"/>
                <a:ea typeface="Consolas" pitchFamily="34" charset="-122"/>
                <a:cs typeface="Consolas" pitchFamily="34" charset="-120"/>
              </a:rPr>
              <a:t>SQL</a:t>
            </a:r>
            <a:endParaRPr lang="en-US" sz="1000" dirty="0"/>
          </a:p>
        </p:txBody>
      </p:sp>
      <p:sp>
        <p:nvSpPr>
          <p:cNvPr id="45" name="Shape 42"/>
          <p:cNvSpPr/>
          <p:nvPr/>
        </p:nvSpPr>
        <p:spPr>
          <a:xfrm>
            <a:off x="502920" y="4572000"/>
            <a:ext cx="3611880" cy="1325880"/>
          </a:xfrm>
          <a:prstGeom prst="roundRect">
            <a:avLst>
              <a:gd name="adj" fmla="val 5517"/>
            </a:avLst>
          </a:prstGeom>
          <a:solidFill>
            <a:srgbClr val="0B0B0B"/>
          </a:solidFill>
          <a:ln w="12700">
            <a:solidFill>
              <a:srgbClr val="FFFFFF"/>
            </a:solidFill>
            <a:prstDash val="solid"/>
          </a:ln>
        </p:spPr>
      </p:sp>
      <p:sp>
        <p:nvSpPr>
          <p:cNvPr id="46" name="Text 43"/>
          <p:cNvSpPr/>
          <p:nvPr/>
        </p:nvSpPr>
        <p:spPr>
          <a:xfrm>
            <a:off x="557784" y="4608576"/>
            <a:ext cx="3502152" cy="1252728"/>
          </a:xfrm>
          <a:prstGeom prst="rect">
            <a:avLst/>
          </a:prstGeom>
          <a:noFill/>
          <a:ln/>
        </p:spPr>
        <p:txBody>
          <a:bodyPr wrap="square" lIns="25400" tIns="25400" rIns="25400" bIns="25400" rtlCol="0" anchor="t"/>
          <a:lstStyle/>
          <a:p>
            <a:pPr marL="0" indent="0" algn="l">
              <a:spcAft>
                <a:spcPts val="400"/>
              </a:spcAft>
              <a:buNone/>
            </a:pPr>
            <a:r>
              <a:rPr lang="en-US" sz="1400" dirty="0">
                <a:solidFill>
                  <a:srgbClr val="FFFFFF"/>
                </a:solidFill>
                <a:latin typeface="Consolas" pitchFamily="34" charset="0"/>
                <a:ea typeface="Consolas" pitchFamily="34" charset="-122"/>
                <a:cs typeface="Consolas" pitchFamily="34" charset="-120"/>
              </a:rPr>
              <a:t>Data layer (same SQL on both)</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Zetaris: 5 federated views over JDBC</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DuckDB snapshot: SAMPLE_MODE fallback,</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flagged in the memo</a:t>
            </a:r>
            <a:endParaRPr lang="en-US" sz="1400" dirty="0"/>
          </a:p>
        </p:txBody>
      </p:sp>
      <p:sp>
        <p:nvSpPr>
          <p:cNvPr id="47" name="Shape 44"/>
          <p:cNvSpPr/>
          <p:nvPr/>
        </p:nvSpPr>
        <p:spPr>
          <a:xfrm>
            <a:off x="4297680" y="4572000"/>
            <a:ext cx="3611880" cy="1325880"/>
          </a:xfrm>
          <a:prstGeom prst="roundRect">
            <a:avLst>
              <a:gd name="adj" fmla="val 5517"/>
            </a:avLst>
          </a:prstGeom>
          <a:solidFill>
            <a:srgbClr val="0B0B0B"/>
          </a:solidFill>
          <a:ln w="12700">
            <a:solidFill>
              <a:srgbClr val="FFFFFF"/>
            </a:solidFill>
            <a:prstDash val="solid"/>
          </a:ln>
        </p:spPr>
      </p:sp>
      <p:sp>
        <p:nvSpPr>
          <p:cNvPr id="48" name="Text 45"/>
          <p:cNvSpPr/>
          <p:nvPr/>
        </p:nvSpPr>
        <p:spPr>
          <a:xfrm>
            <a:off x="4352544" y="4608576"/>
            <a:ext cx="3502152" cy="1252728"/>
          </a:xfrm>
          <a:prstGeom prst="rect">
            <a:avLst/>
          </a:prstGeom>
          <a:noFill/>
          <a:ln/>
        </p:spPr>
        <p:txBody>
          <a:bodyPr wrap="square" lIns="25400" tIns="25400" rIns="25400" bIns="25400" rtlCol="0" anchor="t"/>
          <a:lstStyle/>
          <a:p>
            <a:pPr marL="0" indent="0" algn="l">
              <a:spcAft>
                <a:spcPts val="400"/>
              </a:spcAft>
              <a:buNone/>
            </a:pPr>
            <a:r>
              <a:rPr lang="en-US" sz="1400" dirty="0">
                <a:solidFill>
                  <a:srgbClr val="FFFFFF"/>
                </a:solidFill>
                <a:latin typeface="Consolas" pitchFamily="34" charset="0"/>
                <a:ea typeface="Consolas" pitchFamily="34" charset="-122"/>
                <a:cs typeface="Consolas" pitchFamily="34" charset="-120"/>
              </a:rPr>
              <a:t>Meterless</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Nightshift 1.2.7: model calls + receipts</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H-MEM: hypothesis / evidence graph</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Markovian: Evaluator → Planner rounds</a:t>
            </a:r>
            <a:endParaRPr lang="en-US" sz="1400" dirty="0"/>
          </a:p>
        </p:txBody>
      </p:sp>
      <p:sp>
        <p:nvSpPr>
          <p:cNvPr id="49" name="Shape 46"/>
          <p:cNvSpPr/>
          <p:nvPr/>
        </p:nvSpPr>
        <p:spPr>
          <a:xfrm>
            <a:off x="8092440" y="4572000"/>
            <a:ext cx="3593592" cy="1325880"/>
          </a:xfrm>
          <a:prstGeom prst="roundRect">
            <a:avLst>
              <a:gd name="adj" fmla="val 5517"/>
            </a:avLst>
          </a:prstGeom>
          <a:solidFill>
            <a:srgbClr val="0B0B0B"/>
          </a:solidFill>
          <a:ln w="12700">
            <a:solidFill>
              <a:srgbClr val="FFFFFF"/>
            </a:solidFill>
            <a:prstDash val="solid"/>
          </a:ln>
        </p:spPr>
      </p:sp>
      <p:sp>
        <p:nvSpPr>
          <p:cNvPr id="50" name="Text 47"/>
          <p:cNvSpPr/>
          <p:nvPr/>
        </p:nvSpPr>
        <p:spPr>
          <a:xfrm>
            <a:off x="8147304" y="4608576"/>
            <a:ext cx="3483864" cy="1252728"/>
          </a:xfrm>
          <a:prstGeom prst="rect">
            <a:avLst/>
          </a:prstGeom>
          <a:noFill/>
          <a:ln/>
        </p:spPr>
        <p:txBody>
          <a:bodyPr wrap="square" lIns="25400" tIns="25400" rIns="25400" bIns="25400" rtlCol="0" anchor="t"/>
          <a:lstStyle/>
          <a:p>
            <a:pPr marL="0" indent="0" algn="l">
              <a:spcAft>
                <a:spcPts val="400"/>
              </a:spcAft>
              <a:buNone/>
            </a:pPr>
            <a:r>
              <a:rPr lang="en-US" sz="1400" dirty="0">
                <a:solidFill>
                  <a:srgbClr val="FFFFFF"/>
                </a:solidFill>
                <a:latin typeface="Consolas" pitchFamily="34" charset="0"/>
                <a:ea typeface="Consolas" pitchFamily="34" charset="-122"/>
                <a:cs typeface="Consolas" pitchFamily="34" charset="-120"/>
              </a:rPr>
              <a:t>Receipts &amp; logs</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receipts JSONL: agent, request id, model</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trace JSONL: every step</a:t>
            </a:r>
            <a:endParaRPr lang="en-US" sz="14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H-MEM ledger per run</a:t>
            </a:r>
            <a:endParaRPr lang="en-US" sz="1400" dirty="0"/>
          </a:p>
        </p:txBody>
      </p:sp>
      <p:sp>
        <p:nvSpPr>
          <p:cNvPr id="51" name="Text 48"/>
          <p:cNvSpPr/>
          <p:nvPr/>
        </p:nvSpPr>
        <p:spPr>
          <a:xfrm>
            <a:off x="548640" y="6419088"/>
            <a:ext cx="9144000" cy="274320"/>
          </a:xfrm>
          <a:prstGeom prst="rect">
            <a:avLst/>
          </a:prstGeom>
          <a:noFill/>
          <a:ln/>
        </p:spPr>
        <p:txBody>
          <a:bodyPr wrap="square" lIns="0" tIns="0" rIns="0" bIns="0" rtlCol="0" anchor="ctr"/>
          <a:lstStyle/>
          <a:p>
            <a:pPr marL="0" indent="0" algn="l">
              <a:buNone/>
            </a:pPr>
            <a:r>
              <a:rPr lang="en-US" sz="1100" dirty="0">
                <a:solidFill>
                  <a:srgbClr val="9CA3AF"/>
                </a:solidFill>
                <a:latin typeface="Consolas" pitchFamily="34" charset="0"/>
                <a:ea typeface="Consolas" pitchFamily="34" charset="-122"/>
                <a:cs typeface="Consolas" pitchFamily="34" charset="-120"/>
              </a:rPr>
              <a:t>Green = runs in the product today · Amber = benchmark harness only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Zetaris is the data layer: five federated views, one SQL path</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Retriever, Evidence Evaluator and Traceability Check all query the same views over JDBC</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5</a:t>
            </a:r>
            <a:endParaRPr lang="en-US" sz="1100" dirty="0"/>
          </a:p>
        </p:txBody>
      </p:sp>
      <p:sp>
        <p:nvSpPr>
          <p:cNvPr id="6" name="Shape 3"/>
          <p:cNvSpPr/>
          <p:nvPr/>
        </p:nvSpPr>
        <p:spPr>
          <a:xfrm>
            <a:off x="320040" y="1463040"/>
            <a:ext cx="11548872" cy="3429000"/>
          </a:xfrm>
          <a:prstGeom prst="roundRect">
            <a:avLst>
              <a:gd name="adj" fmla="val 2667"/>
            </a:avLst>
          </a:prstGeom>
          <a:solidFill>
            <a:srgbClr val="0B0B0B"/>
          </a:solidFill>
          <a:ln w="15875">
            <a:solidFill>
              <a:srgbClr val="4ADE80"/>
            </a:solidFill>
            <a:prstDash val="dash"/>
          </a:ln>
        </p:spPr>
      </p:sp>
      <p:sp>
        <p:nvSpPr>
          <p:cNvPr id="7" name="Text 4"/>
          <p:cNvSpPr/>
          <p:nvPr/>
        </p:nvSpPr>
        <p:spPr>
          <a:xfrm>
            <a:off x="502920" y="1536192"/>
            <a:ext cx="11183112" cy="292608"/>
          </a:xfrm>
          <a:prstGeom prst="rect">
            <a:avLst/>
          </a:prstGeom>
          <a:noFill/>
          <a:ln/>
        </p:spPr>
        <p:txBody>
          <a:bodyPr wrap="square" lIns="0" tIns="0" rIns="0" bIns="0" rtlCol="0" anchor="ctr"/>
          <a:lstStyle/>
          <a:p>
            <a:pPr marL="0" indent="0">
              <a:buNone/>
            </a:pPr>
            <a:r>
              <a:rPr lang="en-US" sz="1300" dirty="0">
                <a:solidFill>
                  <a:srgbClr val="4ADE80"/>
                </a:solidFill>
                <a:latin typeface="Consolas" pitchFamily="34" charset="0"/>
                <a:ea typeface="Consolas" pitchFamily="34" charset="-122"/>
                <a:cs typeface="Consolas" pitchFamily="34" charset="-120"/>
              </a:rPr>
              <a:t>live data path (Zetaris Lightning 2.4.3, local hackathon platform)</a:t>
            </a:r>
            <a:endParaRPr lang="en-US" sz="1300" dirty="0"/>
          </a:p>
        </p:txBody>
      </p:sp>
      <p:sp>
        <p:nvSpPr>
          <p:cNvPr id="8" name="Shape 5"/>
          <p:cNvSpPr/>
          <p:nvPr/>
        </p:nvSpPr>
        <p:spPr>
          <a:xfrm>
            <a:off x="548640" y="2011680"/>
            <a:ext cx="2743200" cy="1234440"/>
          </a:xfrm>
          <a:prstGeom prst="roundRect">
            <a:avLst>
              <a:gd name="adj" fmla="val 5926"/>
            </a:avLst>
          </a:prstGeom>
          <a:solidFill>
            <a:srgbClr val="0B0B0B"/>
          </a:solidFill>
          <a:ln w="12700">
            <a:solidFill>
              <a:srgbClr val="FFFFFF"/>
            </a:solidFill>
            <a:prstDash val="solid"/>
          </a:ln>
        </p:spPr>
      </p:sp>
      <p:sp>
        <p:nvSpPr>
          <p:cNvPr id="9" name="Text 6"/>
          <p:cNvSpPr/>
          <p:nvPr/>
        </p:nvSpPr>
        <p:spPr>
          <a:xfrm>
            <a:off x="603504" y="2048256"/>
            <a:ext cx="2633472" cy="1161288"/>
          </a:xfrm>
          <a:prstGeom prst="rect">
            <a:avLst/>
          </a:prstGeom>
          <a:noFill/>
          <a:ln/>
        </p:spPr>
        <p:txBody>
          <a:bodyPr wrap="square" lIns="25400" tIns="25400" rIns="25400" bIns="25400" rtlCol="0" anchor="ctr"/>
          <a:lstStyle/>
          <a:p>
            <a:pPr marL="0" indent="0" algn="ctr">
              <a:buNone/>
            </a:pPr>
            <a:r>
              <a:rPr lang="en-US" sz="1400" dirty="0">
                <a:solidFill>
                  <a:srgbClr val="FFFFFF"/>
                </a:solidFill>
                <a:latin typeface="Consolas" pitchFamily="34" charset="0"/>
                <a:ea typeface="Consolas" pitchFamily="34" charset="-122"/>
                <a:cs typeface="Consolas" pitchFamily="34" charset="-120"/>
              </a:rPr>
              <a:t>PostgreSQL 16</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veriagent_pg</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v_orders · v_logistics</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v_returns</a:t>
            </a:r>
            <a:endParaRPr lang="en-US" sz="1400" dirty="0"/>
          </a:p>
        </p:txBody>
      </p:sp>
      <p:sp>
        <p:nvSpPr>
          <p:cNvPr id="10" name="Shape 7"/>
          <p:cNvSpPr/>
          <p:nvPr/>
        </p:nvSpPr>
        <p:spPr>
          <a:xfrm>
            <a:off x="548640" y="3429000"/>
            <a:ext cx="2743200" cy="1234440"/>
          </a:xfrm>
          <a:prstGeom prst="roundRect">
            <a:avLst>
              <a:gd name="adj" fmla="val 5926"/>
            </a:avLst>
          </a:prstGeom>
          <a:solidFill>
            <a:srgbClr val="0B0B0B"/>
          </a:solidFill>
          <a:ln w="12700">
            <a:solidFill>
              <a:srgbClr val="FFFFFF"/>
            </a:solidFill>
            <a:prstDash val="solid"/>
          </a:ln>
        </p:spPr>
      </p:sp>
      <p:sp>
        <p:nvSpPr>
          <p:cNvPr id="11" name="Text 8"/>
          <p:cNvSpPr/>
          <p:nvPr/>
        </p:nvSpPr>
        <p:spPr>
          <a:xfrm>
            <a:off x="603504" y="3465576"/>
            <a:ext cx="2633472" cy="1161288"/>
          </a:xfrm>
          <a:prstGeom prst="rect">
            <a:avLst/>
          </a:prstGeom>
          <a:noFill/>
          <a:ln/>
        </p:spPr>
        <p:txBody>
          <a:bodyPr wrap="square" lIns="25400" tIns="25400" rIns="25400" bIns="25400" rtlCol="0" anchor="ctr"/>
          <a:lstStyle/>
          <a:p>
            <a:pPr marL="0" indent="0" algn="ctr">
              <a:buNone/>
            </a:pPr>
            <a:r>
              <a:rPr lang="en-US" sz="1400" dirty="0">
                <a:solidFill>
                  <a:srgbClr val="FFFFFF"/>
                </a:solidFill>
                <a:latin typeface="Consolas" pitchFamily="34" charset="0"/>
                <a:ea typeface="Consolas" pitchFamily="34" charset="-122"/>
                <a:cs typeface="Consolas" pitchFamily="34" charset="-120"/>
              </a:rPr>
              <a:t>REST JSON source</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veriagent_rest</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v_tickets · v_promotions</a:t>
            </a:r>
            <a:endParaRPr lang="en-US" sz="1400" dirty="0"/>
          </a:p>
        </p:txBody>
      </p:sp>
      <p:sp>
        <p:nvSpPr>
          <p:cNvPr id="12" name="Shape 9"/>
          <p:cNvSpPr/>
          <p:nvPr/>
        </p:nvSpPr>
        <p:spPr>
          <a:xfrm>
            <a:off x="3931920" y="2011680"/>
            <a:ext cx="3657600" cy="2651760"/>
          </a:xfrm>
          <a:prstGeom prst="roundRect">
            <a:avLst>
              <a:gd name="adj" fmla="val 2759"/>
            </a:avLst>
          </a:prstGeom>
          <a:solidFill>
            <a:srgbClr val="0B0B0B"/>
          </a:solidFill>
          <a:ln w="15875">
            <a:solidFill>
              <a:srgbClr val="22D3EE"/>
            </a:solidFill>
            <a:prstDash val="solid"/>
          </a:ln>
        </p:spPr>
      </p:sp>
      <p:sp>
        <p:nvSpPr>
          <p:cNvPr id="13" name="Text 10"/>
          <p:cNvSpPr/>
          <p:nvPr/>
        </p:nvSpPr>
        <p:spPr>
          <a:xfrm>
            <a:off x="4023360" y="2103120"/>
            <a:ext cx="3474720" cy="548640"/>
          </a:xfrm>
          <a:prstGeom prst="rect">
            <a:avLst/>
          </a:prstGeom>
          <a:noFill/>
          <a:ln/>
        </p:spPr>
        <p:txBody>
          <a:bodyPr wrap="square" lIns="0" tIns="0" rIns="0" bIns="0" rtlCol="0" anchor="t"/>
          <a:lstStyle/>
          <a:p>
            <a:pPr marL="0" indent="0" algn="ctr">
              <a:buNone/>
            </a:pPr>
            <a:r>
              <a:rPr lang="en-US" sz="1400" dirty="0">
                <a:solidFill>
                  <a:srgbClr val="FFFFFF"/>
                </a:solidFill>
                <a:latin typeface="Consolas" pitchFamily="34" charset="0"/>
                <a:ea typeface="Consolas" pitchFamily="34" charset="-122"/>
                <a:cs typeface="Consolas" pitchFamily="34" charset="-120"/>
              </a:rPr>
              <a:t>Zetaris SchemaStore</a:t>
            </a:r>
            <a:endParaRPr lang="en-US" sz="1400" dirty="0"/>
          </a:p>
          <a:p>
            <a:pPr marL="0" indent="0" algn="ctr">
              <a:buNone/>
            </a:pPr>
            <a:r>
              <a:rPr lang="en-US" sz="1400" dirty="0">
                <a:solidFill>
                  <a:srgbClr val="FFFFFF"/>
                </a:solidFill>
                <a:latin typeface="Consolas" pitchFamily="34" charset="0"/>
                <a:ea typeface="Consolas" pitchFamily="34" charset="-122"/>
                <a:cs typeface="Consolas" pitchFamily="34" charset="-120"/>
              </a:rPr>
              <a:t>container veriagent</a:t>
            </a:r>
            <a:endParaRPr lang="en-US" sz="1400" dirty="0"/>
          </a:p>
        </p:txBody>
      </p:sp>
      <p:sp>
        <p:nvSpPr>
          <p:cNvPr id="14" name="Shape 11"/>
          <p:cNvSpPr/>
          <p:nvPr/>
        </p:nvSpPr>
        <p:spPr>
          <a:xfrm>
            <a:off x="4206240" y="2743200"/>
            <a:ext cx="3108960" cy="301752"/>
          </a:xfrm>
          <a:prstGeom prst="roundRect">
            <a:avLst>
              <a:gd name="adj" fmla="val 15152"/>
            </a:avLst>
          </a:prstGeom>
          <a:solidFill>
            <a:srgbClr val="0B0B0B"/>
          </a:solidFill>
          <a:ln w="9525">
            <a:solidFill>
              <a:srgbClr val="9CA3AF"/>
            </a:solidFill>
            <a:prstDash val="solid"/>
          </a:ln>
        </p:spPr>
      </p:sp>
      <p:sp>
        <p:nvSpPr>
          <p:cNvPr id="15" name="Text 12"/>
          <p:cNvSpPr/>
          <p:nvPr/>
        </p:nvSpPr>
        <p:spPr>
          <a:xfrm>
            <a:off x="4297680" y="2743200"/>
            <a:ext cx="1828800" cy="301752"/>
          </a:xfrm>
          <a:prstGeom prst="rect">
            <a:avLst/>
          </a:prstGeom>
          <a:noFill/>
          <a:ln/>
        </p:spPr>
        <p:txBody>
          <a:bodyPr wrap="square" lIns="0" tIns="0" rIns="0" bIns="0" rtlCol="0" anchor="ctr"/>
          <a:lstStyle/>
          <a:p>
            <a:pPr marL="0" indent="0" algn="l">
              <a:buNone/>
            </a:pPr>
            <a:r>
              <a:rPr lang="en-US" sz="1200" dirty="0">
                <a:solidFill>
                  <a:srgbClr val="FFFFFF"/>
                </a:solidFill>
                <a:latin typeface="Consolas" pitchFamily="34" charset="0"/>
                <a:ea typeface="Consolas" pitchFamily="34" charset="-122"/>
                <a:cs typeface="Consolas" pitchFamily="34" charset="-120"/>
              </a:rPr>
              <a:t>v_orders</a:t>
            </a:r>
            <a:endParaRPr lang="en-US" sz="1200" dirty="0"/>
          </a:p>
        </p:txBody>
      </p:sp>
      <p:sp>
        <p:nvSpPr>
          <p:cNvPr id="16" name="Text 13"/>
          <p:cNvSpPr/>
          <p:nvPr/>
        </p:nvSpPr>
        <p:spPr>
          <a:xfrm>
            <a:off x="5943600" y="2743200"/>
            <a:ext cx="1280160" cy="301752"/>
          </a:xfrm>
          <a:prstGeom prst="rect">
            <a:avLst/>
          </a:prstGeom>
          <a:noFill/>
          <a:ln/>
        </p:spPr>
        <p:txBody>
          <a:bodyPr wrap="square" lIns="0" tIns="0" rIns="0" bIns="0" rtlCol="0" anchor="ctr"/>
          <a:lstStyle/>
          <a:p>
            <a:pPr marL="0" indent="0" algn="r">
              <a:buNone/>
            </a:pPr>
            <a:r>
              <a:rPr lang="en-US" sz="1100" dirty="0">
                <a:solidFill>
                  <a:srgbClr val="9CA3AF"/>
                </a:solidFill>
                <a:latin typeface="Consolas" pitchFamily="34" charset="0"/>
                <a:ea typeface="Consolas" pitchFamily="34" charset="-122"/>
                <a:cs typeface="Consolas" pitchFamily="34" charset="-120"/>
              </a:rPr>
              <a:t>1,818 rows</a:t>
            </a:r>
            <a:endParaRPr lang="en-US" sz="1100" dirty="0"/>
          </a:p>
        </p:txBody>
      </p:sp>
      <p:sp>
        <p:nvSpPr>
          <p:cNvPr id="17" name="Shape 14"/>
          <p:cNvSpPr/>
          <p:nvPr/>
        </p:nvSpPr>
        <p:spPr>
          <a:xfrm>
            <a:off x="4206240" y="3108960"/>
            <a:ext cx="3108960" cy="301752"/>
          </a:xfrm>
          <a:prstGeom prst="roundRect">
            <a:avLst>
              <a:gd name="adj" fmla="val 15152"/>
            </a:avLst>
          </a:prstGeom>
          <a:solidFill>
            <a:srgbClr val="0B0B0B"/>
          </a:solidFill>
          <a:ln w="9525">
            <a:solidFill>
              <a:srgbClr val="9CA3AF"/>
            </a:solidFill>
            <a:prstDash val="solid"/>
          </a:ln>
        </p:spPr>
      </p:sp>
      <p:sp>
        <p:nvSpPr>
          <p:cNvPr id="18" name="Text 15"/>
          <p:cNvSpPr/>
          <p:nvPr/>
        </p:nvSpPr>
        <p:spPr>
          <a:xfrm>
            <a:off x="4297680" y="3108960"/>
            <a:ext cx="1828800" cy="301752"/>
          </a:xfrm>
          <a:prstGeom prst="rect">
            <a:avLst/>
          </a:prstGeom>
          <a:noFill/>
          <a:ln/>
        </p:spPr>
        <p:txBody>
          <a:bodyPr wrap="square" lIns="0" tIns="0" rIns="0" bIns="0" rtlCol="0" anchor="ctr"/>
          <a:lstStyle/>
          <a:p>
            <a:pPr marL="0" indent="0" algn="l">
              <a:buNone/>
            </a:pPr>
            <a:r>
              <a:rPr lang="en-US" sz="1200" dirty="0">
                <a:solidFill>
                  <a:srgbClr val="FFFFFF"/>
                </a:solidFill>
                <a:latin typeface="Consolas" pitchFamily="34" charset="0"/>
                <a:ea typeface="Consolas" pitchFamily="34" charset="-122"/>
                <a:cs typeface="Consolas" pitchFamily="34" charset="-120"/>
              </a:rPr>
              <a:t>v_logistics</a:t>
            </a:r>
            <a:endParaRPr lang="en-US" sz="1200" dirty="0"/>
          </a:p>
        </p:txBody>
      </p:sp>
      <p:sp>
        <p:nvSpPr>
          <p:cNvPr id="19" name="Text 16"/>
          <p:cNvSpPr/>
          <p:nvPr/>
        </p:nvSpPr>
        <p:spPr>
          <a:xfrm>
            <a:off x="5943600" y="3108960"/>
            <a:ext cx="1280160" cy="301752"/>
          </a:xfrm>
          <a:prstGeom prst="rect">
            <a:avLst/>
          </a:prstGeom>
          <a:noFill/>
          <a:ln/>
        </p:spPr>
        <p:txBody>
          <a:bodyPr wrap="square" lIns="0" tIns="0" rIns="0" bIns="0" rtlCol="0" anchor="ctr"/>
          <a:lstStyle/>
          <a:p>
            <a:pPr marL="0" indent="0" algn="r">
              <a:buNone/>
            </a:pPr>
            <a:r>
              <a:rPr lang="en-US" sz="1100" dirty="0">
                <a:solidFill>
                  <a:srgbClr val="9CA3AF"/>
                </a:solidFill>
                <a:latin typeface="Consolas" pitchFamily="34" charset="0"/>
                <a:ea typeface="Consolas" pitchFamily="34" charset="-122"/>
                <a:cs typeface="Consolas" pitchFamily="34" charset="-120"/>
              </a:rPr>
              <a:t>1,818 rows</a:t>
            </a:r>
            <a:endParaRPr lang="en-US" sz="1100" dirty="0"/>
          </a:p>
        </p:txBody>
      </p:sp>
      <p:sp>
        <p:nvSpPr>
          <p:cNvPr id="20" name="Shape 17"/>
          <p:cNvSpPr/>
          <p:nvPr/>
        </p:nvSpPr>
        <p:spPr>
          <a:xfrm>
            <a:off x="4206240" y="3474720"/>
            <a:ext cx="3108960" cy="301752"/>
          </a:xfrm>
          <a:prstGeom prst="roundRect">
            <a:avLst>
              <a:gd name="adj" fmla="val 15152"/>
            </a:avLst>
          </a:prstGeom>
          <a:solidFill>
            <a:srgbClr val="0B0B0B"/>
          </a:solidFill>
          <a:ln w="9525">
            <a:solidFill>
              <a:srgbClr val="9CA3AF"/>
            </a:solidFill>
            <a:prstDash val="solid"/>
          </a:ln>
        </p:spPr>
      </p:sp>
      <p:sp>
        <p:nvSpPr>
          <p:cNvPr id="21" name="Text 18"/>
          <p:cNvSpPr/>
          <p:nvPr/>
        </p:nvSpPr>
        <p:spPr>
          <a:xfrm>
            <a:off x="4297680" y="3474720"/>
            <a:ext cx="1828800" cy="301752"/>
          </a:xfrm>
          <a:prstGeom prst="rect">
            <a:avLst/>
          </a:prstGeom>
          <a:noFill/>
          <a:ln/>
        </p:spPr>
        <p:txBody>
          <a:bodyPr wrap="square" lIns="0" tIns="0" rIns="0" bIns="0" rtlCol="0" anchor="ctr"/>
          <a:lstStyle/>
          <a:p>
            <a:pPr marL="0" indent="0" algn="l">
              <a:buNone/>
            </a:pPr>
            <a:r>
              <a:rPr lang="en-US" sz="1200" dirty="0">
                <a:solidFill>
                  <a:srgbClr val="FFFFFF"/>
                </a:solidFill>
                <a:latin typeface="Consolas" pitchFamily="34" charset="0"/>
                <a:ea typeface="Consolas" pitchFamily="34" charset="-122"/>
                <a:cs typeface="Consolas" pitchFamily="34" charset="-120"/>
              </a:rPr>
              <a:t>v_returns</a:t>
            </a:r>
            <a:endParaRPr lang="en-US" sz="1200" dirty="0"/>
          </a:p>
        </p:txBody>
      </p:sp>
      <p:sp>
        <p:nvSpPr>
          <p:cNvPr id="22" name="Text 19"/>
          <p:cNvSpPr/>
          <p:nvPr/>
        </p:nvSpPr>
        <p:spPr>
          <a:xfrm>
            <a:off x="5943600" y="3474720"/>
            <a:ext cx="1280160" cy="301752"/>
          </a:xfrm>
          <a:prstGeom prst="rect">
            <a:avLst/>
          </a:prstGeom>
          <a:noFill/>
          <a:ln/>
        </p:spPr>
        <p:txBody>
          <a:bodyPr wrap="square" lIns="0" tIns="0" rIns="0" bIns="0" rtlCol="0" anchor="ctr"/>
          <a:lstStyle/>
          <a:p>
            <a:pPr marL="0" indent="0" algn="r">
              <a:buNone/>
            </a:pPr>
            <a:r>
              <a:rPr lang="en-US" sz="1100" dirty="0">
                <a:solidFill>
                  <a:srgbClr val="9CA3AF"/>
                </a:solidFill>
                <a:latin typeface="Consolas" pitchFamily="34" charset="0"/>
                <a:ea typeface="Consolas" pitchFamily="34" charset="-122"/>
                <a:cs typeface="Consolas" pitchFamily="34" charset="-120"/>
              </a:rPr>
              <a:t>117 rows</a:t>
            </a:r>
            <a:endParaRPr lang="en-US" sz="1100" dirty="0"/>
          </a:p>
        </p:txBody>
      </p:sp>
      <p:sp>
        <p:nvSpPr>
          <p:cNvPr id="23" name="Shape 20"/>
          <p:cNvSpPr/>
          <p:nvPr/>
        </p:nvSpPr>
        <p:spPr>
          <a:xfrm>
            <a:off x="4206240" y="3840480"/>
            <a:ext cx="3108960" cy="301752"/>
          </a:xfrm>
          <a:prstGeom prst="roundRect">
            <a:avLst>
              <a:gd name="adj" fmla="val 15152"/>
            </a:avLst>
          </a:prstGeom>
          <a:solidFill>
            <a:srgbClr val="0B0B0B"/>
          </a:solidFill>
          <a:ln w="9525">
            <a:solidFill>
              <a:srgbClr val="9CA3AF"/>
            </a:solidFill>
            <a:prstDash val="solid"/>
          </a:ln>
        </p:spPr>
      </p:sp>
      <p:sp>
        <p:nvSpPr>
          <p:cNvPr id="24" name="Text 21"/>
          <p:cNvSpPr/>
          <p:nvPr/>
        </p:nvSpPr>
        <p:spPr>
          <a:xfrm>
            <a:off x="4297680" y="3840480"/>
            <a:ext cx="1828800" cy="301752"/>
          </a:xfrm>
          <a:prstGeom prst="rect">
            <a:avLst/>
          </a:prstGeom>
          <a:noFill/>
          <a:ln/>
        </p:spPr>
        <p:txBody>
          <a:bodyPr wrap="square" lIns="0" tIns="0" rIns="0" bIns="0" rtlCol="0" anchor="ctr"/>
          <a:lstStyle/>
          <a:p>
            <a:pPr marL="0" indent="0" algn="l">
              <a:buNone/>
            </a:pPr>
            <a:r>
              <a:rPr lang="en-US" sz="1200" dirty="0">
                <a:solidFill>
                  <a:srgbClr val="FFFFFF"/>
                </a:solidFill>
                <a:latin typeface="Consolas" pitchFamily="34" charset="0"/>
                <a:ea typeface="Consolas" pitchFamily="34" charset="-122"/>
                <a:cs typeface="Consolas" pitchFamily="34" charset="-120"/>
              </a:rPr>
              <a:t>v_tickets</a:t>
            </a:r>
            <a:endParaRPr lang="en-US" sz="1200" dirty="0"/>
          </a:p>
        </p:txBody>
      </p:sp>
      <p:sp>
        <p:nvSpPr>
          <p:cNvPr id="25" name="Text 22"/>
          <p:cNvSpPr/>
          <p:nvPr/>
        </p:nvSpPr>
        <p:spPr>
          <a:xfrm>
            <a:off x="5943600" y="3840480"/>
            <a:ext cx="1280160" cy="301752"/>
          </a:xfrm>
          <a:prstGeom prst="rect">
            <a:avLst/>
          </a:prstGeom>
          <a:noFill/>
          <a:ln/>
        </p:spPr>
        <p:txBody>
          <a:bodyPr wrap="square" lIns="0" tIns="0" rIns="0" bIns="0" rtlCol="0" anchor="ctr"/>
          <a:lstStyle/>
          <a:p>
            <a:pPr marL="0" indent="0" algn="r">
              <a:buNone/>
            </a:pPr>
            <a:r>
              <a:rPr lang="en-US" sz="1100" dirty="0">
                <a:solidFill>
                  <a:srgbClr val="9CA3AF"/>
                </a:solidFill>
                <a:latin typeface="Consolas" pitchFamily="34" charset="0"/>
                <a:ea typeface="Consolas" pitchFamily="34" charset="-122"/>
                <a:cs typeface="Consolas" pitchFamily="34" charset="-120"/>
              </a:rPr>
              <a:t>112 rows</a:t>
            </a:r>
            <a:endParaRPr lang="en-US" sz="1100" dirty="0"/>
          </a:p>
        </p:txBody>
      </p:sp>
      <p:sp>
        <p:nvSpPr>
          <p:cNvPr id="26" name="Shape 23"/>
          <p:cNvSpPr/>
          <p:nvPr/>
        </p:nvSpPr>
        <p:spPr>
          <a:xfrm>
            <a:off x="4206240" y="4206240"/>
            <a:ext cx="3108960" cy="301752"/>
          </a:xfrm>
          <a:prstGeom prst="roundRect">
            <a:avLst>
              <a:gd name="adj" fmla="val 15152"/>
            </a:avLst>
          </a:prstGeom>
          <a:solidFill>
            <a:srgbClr val="0B0B0B"/>
          </a:solidFill>
          <a:ln w="9525">
            <a:solidFill>
              <a:srgbClr val="9CA3AF"/>
            </a:solidFill>
            <a:prstDash val="solid"/>
          </a:ln>
        </p:spPr>
      </p:sp>
      <p:sp>
        <p:nvSpPr>
          <p:cNvPr id="27" name="Text 24"/>
          <p:cNvSpPr/>
          <p:nvPr/>
        </p:nvSpPr>
        <p:spPr>
          <a:xfrm>
            <a:off x="4297680" y="4206240"/>
            <a:ext cx="1828800" cy="301752"/>
          </a:xfrm>
          <a:prstGeom prst="rect">
            <a:avLst/>
          </a:prstGeom>
          <a:noFill/>
          <a:ln/>
        </p:spPr>
        <p:txBody>
          <a:bodyPr wrap="square" lIns="0" tIns="0" rIns="0" bIns="0" rtlCol="0" anchor="ctr"/>
          <a:lstStyle/>
          <a:p>
            <a:pPr marL="0" indent="0" algn="l">
              <a:buNone/>
            </a:pPr>
            <a:r>
              <a:rPr lang="en-US" sz="1200" dirty="0">
                <a:solidFill>
                  <a:srgbClr val="FFFFFF"/>
                </a:solidFill>
                <a:latin typeface="Consolas" pitchFamily="34" charset="0"/>
                <a:ea typeface="Consolas" pitchFamily="34" charset="-122"/>
                <a:cs typeface="Consolas" pitchFamily="34" charset="-120"/>
              </a:rPr>
              <a:t>v_promotions</a:t>
            </a:r>
            <a:endParaRPr lang="en-US" sz="1200" dirty="0"/>
          </a:p>
        </p:txBody>
      </p:sp>
      <p:sp>
        <p:nvSpPr>
          <p:cNvPr id="28" name="Text 25"/>
          <p:cNvSpPr/>
          <p:nvPr/>
        </p:nvSpPr>
        <p:spPr>
          <a:xfrm>
            <a:off x="5943600" y="4206240"/>
            <a:ext cx="1280160" cy="301752"/>
          </a:xfrm>
          <a:prstGeom prst="rect">
            <a:avLst/>
          </a:prstGeom>
          <a:noFill/>
          <a:ln/>
        </p:spPr>
        <p:txBody>
          <a:bodyPr wrap="square" lIns="0" tIns="0" rIns="0" bIns="0" rtlCol="0" anchor="ctr"/>
          <a:lstStyle/>
          <a:p>
            <a:pPr marL="0" indent="0" algn="r">
              <a:buNone/>
            </a:pPr>
            <a:r>
              <a:rPr lang="en-US" sz="1100" dirty="0">
                <a:solidFill>
                  <a:srgbClr val="9CA3AF"/>
                </a:solidFill>
                <a:latin typeface="Consolas" pitchFamily="34" charset="0"/>
                <a:ea typeface="Consolas" pitchFamily="34" charset="-122"/>
                <a:cs typeface="Consolas" pitchFamily="34" charset="-120"/>
              </a:rPr>
              <a:t>1 row</a:t>
            </a:r>
            <a:endParaRPr lang="en-US" sz="1100" dirty="0"/>
          </a:p>
        </p:txBody>
      </p:sp>
      <p:sp>
        <p:nvSpPr>
          <p:cNvPr id="29" name="Shape 26"/>
          <p:cNvSpPr/>
          <p:nvPr/>
        </p:nvSpPr>
        <p:spPr>
          <a:xfrm>
            <a:off x="3337560" y="2624328"/>
            <a:ext cx="548640" cy="393192"/>
          </a:xfrm>
          <a:prstGeom prst="line">
            <a:avLst/>
          </a:prstGeom>
          <a:noFill/>
          <a:ln w="12700">
            <a:solidFill>
              <a:srgbClr val="FFFFFF"/>
            </a:solidFill>
            <a:prstDash val="solid"/>
            <a:tailEnd type="arrow"/>
          </a:ln>
        </p:spPr>
      </p:sp>
      <p:sp>
        <p:nvSpPr>
          <p:cNvPr id="30" name="Shape 27"/>
          <p:cNvSpPr/>
          <p:nvPr/>
        </p:nvSpPr>
        <p:spPr>
          <a:xfrm flipV="1">
            <a:off x="3337560" y="3657600"/>
            <a:ext cx="548640" cy="384048"/>
          </a:xfrm>
          <a:prstGeom prst="line">
            <a:avLst/>
          </a:prstGeom>
          <a:noFill/>
          <a:ln w="12700">
            <a:solidFill>
              <a:srgbClr val="FFFFFF"/>
            </a:solidFill>
            <a:prstDash val="solid"/>
            <a:tailEnd type="arrow"/>
          </a:ln>
        </p:spPr>
      </p:sp>
      <p:sp>
        <p:nvSpPr>
          <p:cNvPr id="31" name="Shape 28"/>
          <p:cNvSpPr/>
          <p:nvPr/>
        </p:nvSpPr>
        <p:spPr>
          <a:xfrm>
            <a:off x="7635240" y="3337560"/>
            <a:ext cx="594360" cy="914"/>
          </a:xfrm>
          <a:prstGeom prst="line">
            <a:avLst/>
          </a:prstGeom>
          <a:noFill/>
          <a:ln w="15875">
            <a:solidFill>
              <a:srgbClr val="22D3EE"/>
            </a:solidFill>
            <a:prstDash val="solid"/>
            <a:tailEnd type="arrow"/>
          </a:ln>
        </p:spPr>
      </p:sp>
      <p:sp>
        <p:nvSpPr>
          <p:cNvPr id="32" name="Text 29"/>
          <p:cNvSpPr/>
          <p:nvPr/>
        </p:nvSpPr>
        <p:spPr>
          <a:xfrm>
            <a:off x="7635240" y="3017520"/>
            <a:ext cx="594360" cy="274320"/>
          </a:xfrm>
          <a:prstGeom prst="rect">
            <a:avLst/>
          </a:prstGeom>
          <a:noFill/>
          <a:ln/>
        </p:spPr>
        <p:txBody>
          <a:bodyPr wrap="square" lIns="0" tIns="0" rIns="0" bIns="0" rtlCol="0" anchor="t"/>
          <a:lstStyle/>
          <a:p>
            <a:pPr marL="0" indent="0" algn="ctr">
              <a:buNone/>
            </a:pPr>
            <a:r>
              <a:rPr lang="en-US" sz="1100" dirty="0">
                <a:solidFill>
                  <a:srgbClr val="22D3EE"/>
                </a:solidFill>
                <a:latin typeface="Consolas" pitchFamily="34" charset="0"/>
                <a:ea typeface="Consolas" pitchFamily="34" charset="-122"/>
                <a:cs typeface="Consolas" pitchFamily="34" charset="-120"/>
              </a:rPr>
              <a:t>JDBC</a:t>
            </a:r>
            <a:endParaRPr lang="en-US" sz="1100" dirty="0"/>
          </a:p>
        </p:txBody>
      </p:sp>
      <p:sp>
        <p:nvSpPr>
          <p:cNvPr id="33" name="Shape 30"/>
          <p:cNvSpPr/>
          <p:nvPr/>
        </p:nvSpPr>
        <p:spPr>
          <a:xfrm>
            <a:off x="8275320" y="2011680"/>
            <a:ext cx="3383280" cy="2651760"/>
          </a:xfrm>
          <a:prstGeom prst="roundRect">
            <a:avLst>
              <a:gd name="adj" fmla="val 2759"/>
            </a:avLst>
          </a:prstGeom>
          <a:solidFill>
            <a:srgbClr val="0B0B0B"/>
          </a:solidFill>
          <a:ln w="12700">
            <a:solidFill>
              <a:srgbClr val="FFFFFF"/>
            </a:solidFill>
            <a:prstDash val="solid"/>
          </a:ln>
        </p:spPr>
      </p:sp>
      <p:sp>
        <p:nvSpPr>
          <p:cNvPr id="34" name="Text 31"/>
          <p:cNvSpPr/>
          <p:nvPr/>
        </p:nvSpPr>
        <p:spPr>
          <a:xfrm>
            <a:off x="8330184" y="2048256"/>
            <a:ext cx="3273552" cy="2578608"/>
          </a:xfrm>
          <a:prstGeom prst="rect">
            <a:avLst/>
          </a:prstGeom>
          <a:noFill/>
          <a:ln/>
        </p:spPr>
        <p:txBody>
          <a:bodyPr wrap="square" lIns="25400" tIns="25400" rIns="25400" bIns="25400" rtlCol="0" anchor="ctr"/>
          <a:lstStyle/>
          <a:p>
            <a:pPr marL="0" indent="0" algn="ctr">
              <a:spcAft>
                <a:spcPts val="600"/>
              </a:spcAft>
              <a:buNone/>
            </a:pPr>
            <a:r>
              <a:rPr lang="en-US" sz="1400" dirty="0">
                <a:solidFill>
                  <a:srgbClr val="FFFFFF"/>
                </a:solidFill>
                <a:latin typeface="Consolas" pitchFamily="34" charset="0"/>
                <a:ea typeface="Consolas" pitchFamily="34" charset="-122"/>
                <a:cs typeface="Consolas" pitchFamily="34" charset="-120"/>
              </a:rPr>
              <a:t>Agents query it</a:t>
            </a:r>
            <a:endParaRPr lang="en-US" sz="1400" dirty="0"/>
          </a:p>
          <a:p>
            <a:pPr marL="0" indent="0" algn="ctr">
              <a:spcAft>
                <a:spcPts val="600"/>
              </a:spcAft>
              <a:buNone/>
            </a:pPr>
            <a:r>
              <a:rPr lang="en-US" sz="1200" dirty="0">
                <a:solidFill>
                  <a:srgbClr val="9CA3AF"/>
                </a:solidFill>
                <a:latin typeface="Consolas" pitchFamily="34" charset="0"/>
                <a:ea typeface="Consolas" pitchFamily="34" charset="-122"/>
                <a:cs typeface="Consolas" pitchFamily="34" charset="-120"/>
              </a:rPr>
              <a:t>Retriever (SQL templates)</a:t>
            </a:r>
            <a:endParaRPr lang="en-US" sz="1400" dirty="0"/>
          </a:p>
          <a:p>
            <a:pPr marL="0" indent="0" algn="ctr">
              <a:spcAft>
                <a:spcPts val="600"/>
              </a:spcAft>
              <a:buNone/>
            </a:pPr>
            <a:r>
              <a:rPr lang="en-US" sz="1200" dirty="0">
                <a:solidFill>
                  <a:srgbClr val="9CA3AF"/>
                </a:solidFill>
                <a:latin typeface="Consolas" pitchFamily="34" charset="0"/>
                <a:ea typeface="Consolas" pitchFamily="34" charset="-122"/>
                <a:cs typeface="Consolas" pitchFamily="34" charset="-120"/>
              </a:rPr>
              <a:t>Evidence Evaluator (re-queries)</a:t>
            </a:r>
            <a:endParaRPr lang="en-US" sz="1400" dirty="0"/>
          </a:p>
          <a:p>
            <a:pPr marL="0" indent="0" algn="ctr">
              <a:spcAft>
                <a:spcPts val="600"/>
              </a:spcAft>
              <a:buNone/>
            </a:pPr>
            <a:r>
              <a:rPr lang="en-US" sz="1200" dirty="0">
                <a:solidFill>
                  <a:srgbClr val="9CA3AF"/>
                </a:solidFill>
                <a:latin typeface="Consolas" pitchFamily="34" charset="0"/>
                <a:ea typeface="Consolas" pitchFamily="34" charset="-122"/>
                <a:cs typeface="Consolas" pitchFamily="34" charset="-120"/>
              </a:rPr>
              <a:t>Traceability Check (re-runs cited SQL)</a:t>
            </a:r>
            <a:endParaRPr lang="en-US" sz="1400" dirty="0"/>
          </a:p>
        </p:txBody>
      </p:sp>
      <p:sp>
        <p:nvSpPr>
          <p:cNvPr id="35" name="Shape 32"/>
          <p:cNvSpPr/>
          <p:nvPr/>
        </p:nvSpPr>
        <p:spPr>
          <a:xfrm>
            <a:off x="320040" y="5074920"/>
            <a:ext cx="3749040" cy="1188720"/>
          </a:xfrm>
          <a:prstGeom prst="roundRect">
            <a:avLst>
              <a:gd name="adj" fmla="val 6154"/>
            </a:avLst>
          </a:prstGeom>
          <a:solidFill>
            <a:srgbClr val="0B0B0B"/>
          </a:solidFill>
          <a:ln w="12700">
            <a:solidFill>
              <a:srgbClr val="4ADE80"/>
            </a:solidFill>
            <a:prstDash val="solid"/>
          </a:ln>
        </p:spPr>
      </p:sp>
      <p:sp>
        <p:nvSpPr>
          <p:cNvPr id="36" name="Text 33"/>
          <p:cNvSpPr/>
          <p:nvPr/>
        </p:nvSpPr>
        <p:spPr>
          <a:xfrm>
            <a:off x="374904" y="5111496"/>
            <a:ext cx="3639312" cy="1115568"/>
          </a:xfrm>
          <a:prstGeom prst="rect">
            <a:avLst/>
          </a:prstGeom>
          <a:noFill/>
          <a:ln/>
        </p:spPr>
        <p:txBody>
          <a:bodyPr wrap="square" lIns="25400" tIns="25400" rIns="25400" bIns="25400" rtlCol="0" anchor="ctr"/>
          <a:lstStyle/>
          <a:p>
            <a:pPr marL="0" indent="0" algn="ctr">
              <a:buNone/>
            </a:pPr>
            <a:r>
              <a:rPr lang="en-US" sz="1400" dirty="0">
                <a:solidFill>
                  <a:srgbClr val="4ADE80"/>
                </a:solidFill>
                <a:latin typeface="Consolas" pitchFamily="34" charset="0"/>
                <a:ea typeface="Consolas" pitchFamily="34" charset="-122"/>
                <a:cs typeface="Consolas" pitchFamily="34" charset="-120"/>
              </a:rPr>
              <a:t>Live, 26 Oct 2026</a:t>
            </a:r>
            <a:endParaRPr lang="en-US" sz="1400" dirty="0"/>
          </a:p>
          <a:p>
            <a:pPr marL="0" indent="0" algn="ctr">
              <a:buNone/>
            </a:pPr>
            <a:r>
              <a:rPr lang="en-US" sz="1200" dirty="0">
                <a:solidFill>
                  <a:srgbClr val="9CA3AF"/>
                </a:solidFill>
                <a:latin typeface="Consolas" pitchFamily="34" charset="0"/>
                <a:ea typeface="Consolas" pitchFamily="34" charset="-122"/>
                <a:cs typeface="Consolas" pitchFamily="34" charset="-120"/>
              </a:rPr>
              <a:t>3 demo scenarios over Zetaris JDBC</a:t>
            </a:r>
            <a:endParaRPr lang="en-US" sz="1400" dirty="0"/>
          </a:p>
          <a:p>
            <a:pPr marL="0" indent="0" algn="ctr">
              <a:buNone/>
            </a:pPr>
            <a:r>
              <a:rPr lang="en-US" sz="1200" dirty="0">
                <a:solidFill>
                  <a:srgbClr val="9CA3AF"/>
                </a:solidFill>
                <a:latin typeface="Consolas" pitchFamily="34" charset="0"/>
                <a:ea typeface="Consolas" pitchFamily="34" charset="-122"/>
                <a:cs typeface="Consolas" pitchFamily="34" charset="-120"/>
              </a:rPr>
              <a:t>+ Nightshift: 72 / 72 receipts OK</a:t>
            </a:r>
            <a:endParaRPr lang="en-US" sz="1400" dirty="0"/>
          </a:p>
        </p:txBody>
      </p:sp>
      <p:sp>
        <p:nvSpPr>
          <p:cNvPr id="37" name="Shape 34"/>
          <p:cNvSpPr/>
          <p:nvPr/>
        </p:nvSpPr>
        <p:spPr>
          <a:xfrm>
            <a:off x="4224528" y="5074920"/>
            <a:ext cx="3749040" cy="1188720"/>
          </a:xfrm>
          <a:prstGeom prst="roundRect">
            <a:avLst>
              <a:gd name="adj" fmla="val 6154"/>
            </a:avLst>
          </a:prstGeom>
          <a:solidFill>
            <a:srgbClr val="0B0B0B"/>
          </a:solidFill>
          <a:ln w="12700">
            <a:solidFill>
              <a:srgbClr val="4ADE80"/>
            </a:solidFill>
            <a:prstDash val="solid"/>
          </a:ln>
        </p:spPr>
      </p:sp>
      <p:sp>
        <p:nvSpPr>
          <p:cNvPr id="38" name="Text 35"/>
          <p:cNvSpPr/>
          <p:nvPr/>
        </p:nvSpPr>
        <p:spPr>
          <a:xfrm>
            <a:off x="4279392" y="5111496"/>
            <a:ext cx="3639312" cy="1115568"/>
          </a:xfrm>
          <a:prstGeom prst="rect">
            <a:avLst/>
          </a:prstGeom>
          <a:noFill/>
          <a:ln/>
        </p:spPr>
        <p:txBody>
          <a:bodyPr wrap="square" lIns="25400" tIns="25400" rIns="25400" bIns="25400" rtlCol="0" anchor="ctr"/>
          <a:lstStyle/>
          <a:p>
            <a:pPr marL="0" indent="0" algn="ctr">
              <a:buNone/>
            </a:pPr>
            <a:r>
              <a:rPr lang="en-US" sz="1400" dirty="0">
                <a:solidFill>
                  <a:srgbClr val="4ADE80"/>
                </a:solidFill>
                <a:latin typeface="Consolas" pitchFamily="34" charset="0"/>
                <a:ea typeface="Consolas" pitchFamily="34" charset="-122"/>
                <a:cs typeface="Consolas" pitchFamily="34" charset="-120"/>
              </a:rPr>
              <a:t>Public Olist dataset</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federated in container olist (CC BY-NC-SA 4.0)</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27 / 27 claims green; 1-row mutation → red</a:t>
            </a:r>
            <a:endParaRPr lang="en-US" sz="1400" dirty="0"/>
          </a:p>
        </p:txBody>
      </p:sp>
      <p:sp>
        <p:nvSpPr>
          <p:cNvPr id="39" name="Shape 36"/>
          <p:cNvSpPr/>
          <p:nvPr/>
        </p:nvSpPr>
        <p:spPr>
          <a:xfrm>
            <a:off x="8119872" y="5074920"/>
            <a:ext cx="3749040" cy="1188720"/>
          </a:xfrm>
          <a:prstGeom prst="roundRect">
            <a:avLst>
              <a:gd name="adj" fmla="val 6154"/>
            </a:avLst>
          </a:prstGeom>
          <a:solidFill>
            <a:srgbClr val="0B0B0B"/>
          </a:solidFill>
          <a:ln w="12700">
            <a:solidFill>
              <a:srgbClr val="FFFFFF"/>
            </a:solidFill>
            <a:prstDash val="solid"/>
          </a:ln>
        </p:spPr>
      </p:sp>
      <p:sp>
        <p:nvSpPr>
          <p:cNvPr id="40" name="Text 37"/>
          <p:cNvSpPr/>
          <p:nvPr/>
        </p:nvSpPr>
        <p:spPr>
          <a:xfrm>
            <a:off x="8174736" y="5111496"/>
            <a:ext cx="3639312" cy="1115568"/>
          </a:xfrm>
          <a:prstGeom prst="rect">
            <a:avLst/>
          </a:prstGeom>
          <a:noFill/>
          <a:ln/>
        </p:spPr>
        <p:txBody>
          <a:bodyPr wrap="square" lIns="25400" tIns="25400" rIns="25400" bIns="25400" rtlCol="0" anchor="ctr"/>
          <a:lstStyle/>
          <a:p>
            <a:pPr marL="0" indent="0" algn="ctr">
              <a:buNone/>
            </a:pPr>
            <a:r>
              <a:rPr lang="en-US" sz="1400" dirty="0">
                <a:solidFill>
                  <a:srgbClr val="FFFFFF"/>
                </a:solidFill>
                <a:latin typeface="Consolas" pitchFamily="34" charset="0"/>
                <a:ea typeface="Consolas" pitchFamily="34" charset="-122"/>
                <a:cs typeface="Consolas" pitchFamily="34" charset="-120"/>
              </a:rPr>
              <a:t>SAMPLE_MODE fallback</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same view names, same SQL on a DuckDB</a:t>
            </a:r>
            <a:endParaRPr lang="en-US" sz="1400" dirty="0"/>
          </a:p>
          <a:p>
            <a:pPr marL="0" indent="0" algn="ctr">
              <a:buNone/>
            </a:pPr>
            <a:r>
              <a:rPr lang="en-US" sz="1100" dirty="0">
                <a:solidFill>
                  <a:srgbClr val="9CA3AF"/>
                </a:solidFill>
                <a:latin typeface="Consolas" pitchFamily="34" charset="0"/>
                <a:ea typeface="Consolas" pitchFamily="34" charset="-122"/>
                <a:cs typeface="Consolas" pitchFamily="34" charset="-120"/>
              </a:rPr>
              <a:t>snapshot; memo says “SAMPLE MODE: no Zetaris”</a:t>
            </a:r>
            <a:endParaRPr lang="en-US" sz="1400" dirty="0"/>
          </a:p>
        </p:txBody>
      </p:sp>
      <p:sp>
        <p:nvSpPr>
          <p:cNvPr id="41" name="Text 38"/>
          <p:cNvSpPr/>
          <p:nvPr/>
        </p:nvSpPr>
        <p:spPr>
          <a:xfrm>
            <a:off x="548640" y="6419088"/>
            <a:ext cx="9144000" cy="274320"/>
          </a:xfrm>
          <a:prstGeom prst="rect">
            <a:avLst/>
          </a:prstGeom>
          <a:noFill/>
          <a:ln/>
        </p:spPr>
        <p:txBody>
          <a:bodyPr wrap="square" lIns="0" tIns="0" rIns="0" bIns="0" rtlCol="0" anchor="ctr"/>
          <a:lstStyle/>
          <a:p>
            <a:pPr marL="0" indent="0" algn="l">
              <a:buNone/>
            </a:pPr>
            <a:r>
              <a:rPr lang="en-US" sz="1100" dirty="0">
                <a:solidFill>
                  <a:srgbClr val="9CA3AF"/>
                </a:solidFill>
                <a:latin typeface="Consolas" pitchFamily="34" charset="0"/>
                <a:ea typeface="Consolas" pitchFamily="34" charset="-122"/>
                <a:cs typeface="Consolas" pitchFamily="34" charset="-120"/>
              </a:rPr>
              <a:t>Green = runs in the product today · Amber = benchmark harness only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Meterless runs every model call, with a receipt</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Nightshift 1.2.7 is the primary model provider; H-MEM and Markovian run through a Node bridge</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6</a:t>
            </a:r>
            <a:endParaRPr lang="en-US" sz="1100" dirty="0"/>
          </a:p>
        </p:txBody>
      </p:sp>
      <p:sp>
        <p:nvSpPr>
          <p:cNvPr id="6" name="Shape 3"/>
          <p:cNvSpPr/>
          <p:nvPr/>
        </p:nvSpPr>
        <p:spPr>
          <a:xfrm>
            <a:off x="548640" y="1508760"/>
            <a:ext cx="3593592" cy="1143000"/>
          </a:xfrm>
          <a:prstGeom prst="roundRect">
            <a:avLst>
              <a:gd name="adj" fmla="val 6400"/>
            </a:avLst>
          </a:prstGeom>
          <a:solidFill>
            <a:srgbClr val="0B0B0B"/>
          </a:solidFill>
          <a:ln w="12700">
            <a:solidFill>
              <a:srgbClr val="22D3EE"/>
            </a:solidFill>
            <a:prstDash val="solid"/>
          </a:ln>
        </p:spPr>
      </p:sp>
      <p:sp>
        <p:nvSpPr>
          <p:cNvPr id="7" name="Text 4"/>
          <p:cNvSpPr/>
          <p:nvPr/>
        </p:nvSpPr>
        <p:spPr>
          <a:xfrm>
            <a:off x="603504" y="1545336"/>
            <a:ext cx="3483864" cy="1069848"/>
          </a:xfrm>
          <a:prstGeom prst="rect">
            <a:avLst/>
          </a:prstGeom>
          <a:noFill/>
          <a:ln/>
        </p:spPr>
        <p:txBody>
          <a:bodyPr wrap="square" lIns="50800" tIns="50800" rIns="50800" bIns="50800" rtlCol="0" anchor="t"/>
          <a:lstStyle/>
          <a:p>
            <a:pPr marL="0" indent="0" algn="l">
              <a:spcAft>
                <a:spcPts val="400"/>
              </a:spcAft>
              <a:buNone/>
            </a:pPr>
            <a:r>
              <a:rPr lang="en-US" sz="1500" dirty="0">
                <a:solidFill>
                  <a:srgbClr val="FFFFFF"/>
                </a:solidFill>
                <a:latin typeface="Consolas" pitchFamily="34" charset="0"/>
                <a:ea typeface="Consolas" pitchFamily="34" charset="-122"/>
                <a:cs typeface="Consolas" pitchFamily="34" charset="-120"/>
              </a:rPr>
              <a:t>Nightshift 1.2.7</a:t>
            </a:r>
            <a:endParaRPr lang="en-US" sz="15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primary model provider; pinned S1 / S2</a:t>
            </a:r>
            <a:endParaRPr lang="en-US" sz="15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pin check at start, receipt per call</a:t>
            </a:r>
            <a:endParaRPr lang="en-US" sz="1500" dirty="0"/>
          </a:p>
        </p:txBody>
      </p:sp>
      <p:sp>
        <p:nvSpPr>
          <p:cNvPr id="8" name="Shape 5"/>
          <p:cNvSpPr/>
          <p:nvPr/>
        </p:nvSpPr>
        <p:spPr>
          <a:xfrm>
            <a:off x="4297680" y="1508760"/>
            <a:ext cx="3593592" cy="1143000"/>
          </a:xfrm>
          <a:prstGeom prst="roundRect">
            <a:avLst>
              <a:gd name="adj" fmla="val 6400"/>
            </a:avLst>
          </a:prstGeom>
          <a:solidFill>
            <a:srgbClr val="0B0B0B"/>
          </a:solidFill>
          <a:ln w="12700">
            <a:solidFill>
              <a:srgbClr val="FFFFFF"/>
            </a:solidFill>
            <a:prstDash val="solid"/>
          </a:ln>
        </p:spPr>
      </p:sp>
      <p:sp>
        <p:nvSpPr>
          <p:cNvPr id="9" name="Text 6"/>
          <p:cNvSpPr/>
          <p:nvPr/>
        </p:nvSpPr>
        <p:spPr>
          <a:xfrm>
            <a:off x="4352544" y="1545336"/>
            <a:ext cx="3483864" cy="1069848"/>
          </a:xfrm>
          <a:prstGeom prst="rect">
            <a:avLst/>
          </a:prstGeom>
          <a:noFill/>
          <a:ln/>
        </p:spPr>
        <p:txBody>
          <a:bodyPr wrap="square" lIns="50800" tIns="50800" rIns="50800" bIns="50800" rtlCol="0" anchor="t"/>
          <a:lstStyle/>
          <a:p>
            <a:pPr marL="0" indent="0" algn="l">
              <a:spcAft>
                <a:spcPts val="400"/>
              </a:spcAft>
              <a:buNone/>
            </a:pPr>
            <a:r>
              <a:rPr lang="en-US" sz="1500" dirty="0">
                <a:solidFill>
                  <a:srgbClr val="FFFFFF"/>
                </a:solidFill>
                <a:latin typeface="Consolas" pitchFamily="34" charset="0"/>
                <a:ea typeface="Consolas" pitchFamily="34" charset="-122"/>
                <a:cs typeface="Consolas" pitchFamily="34" charset="-120"/>
              </a:rPr>
              <a:t>H-MEM</a:t>
            </a:r>
            <a:endParaRPr lang="en-US" sz="15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hypotheses, retrieval calls, evidence,</a:t>
            </a:r>
            <a:endParaRPr lang="en-US" sz="15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support / refute edges + trust ledger</a:t>
            </a:r>
            <a:endParaRPr lang="en-US" sz="1500" dirty="0"/>
          </a:p>
        </p:txBody>
      </p:sp>
      <p:sp>
        <p:nvSpPr>
          <p:cNvPr id="10" name="Shape 7"/>
          <p:cNvSpPr/>
          <p:nvPr/>
        </p:nvSpPr>
        <p:spPr>
          <a:xfrm>
            <a:off x="8046720" y="1508760"/>
            <a:ext cx="3593592" cy="1143000"/>
          </a:xfrm>
          <a:prstGeom prst="roundRect">
            <a:avLst>
              <a:gd name="adj" fmla="val 6400"/>
            </a:avLst>
          </a:prstGeom>
          <a:solidFill>
            <a:srgbClr val="0B0B0B"/>
          </a:solidFill>
          <a:ln w="12700">
            <a:solidFill>
              <a:srgbClr val="FFFFFF"/>
            </a:solidFill>
            <a:prstDash val="solid"/>
          </a:ln>
        </p:spPr>
      </p:sp>
      <p:sp>
        <p:nvSpPr>
          <p:cNvPr id="11" name="Text 8"/>
          <p:cNvSpPr/>
          <p:nvPr/>
        </p:nvSpPr>
        <p:spPr>
          <a:xfrm>
            <a:off x="8101584" y="1545336"/>
            <a:ext cx="3483864" cy="1069848"/>
          </a:xfrm>
          <a:prstGeom prst="rect">
            <a:avLst/>
          </a:prstGeom>
          <a:noFill/>
          <a:ln/>
        </p:spPr>
        <p:txBody>
          <a:bodyPr wrap="square" lIns="50800" tIns="50800" rIns="50800" bIns="50800" rtlCol="0" anchor="t"/>
          <a:lstStyle/>
          <a:p>
            <a:pPr marL="0" indent="0" algn="l">
              <a:spcAft>
                <a:spcPts val="400"/>
              </a:spcAft>
              <a:buNone/>
            </a:pPr>
            <a:r>
              <a:rPr lang="en-US" sz="1500" dirty="0">
                <a:solidFill>
                  <a:srgbClr val="FFFFFF"/>
                </a:solidFill>
                <a:latin typeface="Consolas" pitchFamily="34" charset="0"/>
                <a:ea typeface="Consolas" pitchFamily="34" charset="-122"/>
                <a:cs typeface="Consolas" pitchFamily="34" charset="-120"/>
              </a:rPr>
              <a:t>Markovian</a:t>
            </a:r>
            <a:endParaRPr lang="en-US" sz="15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one chunk per Evaluator → Planner</a:t>
            </a:r>
            <a:endParaRPr lang="en-US" sz="1500" dirty="0"/>
          </a:p>
          <a:p>
            <a:pPr marL="0" indent="0" algn="l">
              <a:spcAft>
                <a:spcPts val="400"/>
              </a:spcAft>
              <a:buNone/>
            </a:pPr>
            <a:r>
              <a:rPr lang="en-US" sz="1200" dirty="0">
                <a:solidFill>
                  <a:srgbClr val="9CA3AF"/>
                </a:solidFill>
                <a:latin typeface="Consolas" pitchFamily="34" charset="0"/>
                <a:ea typeface="Consolas" pitchFamily="34" charset="-122"/>
                <a:cs typeface="Consolas" pitchFamily="34" charset="-120"/>
              </a:rPr>
              <a:t>round (max 3), then [TASK_COMPLETE]</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91672" cy="914400"/>
        </p:xfrm>
        <a:graphic>
          <a:graphicData uri="http://schemas.openxmlformats.org/drawingml/2006/table">
            <a:tbl>
              <a:tblPr/>
              <a:tblGrid>
                <a:gridCol w="20116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901952">
                  <a:extLst>
                    <a:ext uri="{9D8B030D-6E8A-4147-A177-3AD203B41FA5}">
                      <a16:colId xmlns:a16="http://schemas.microsoft.com/office/drawing/2014/main" val="20006"/>
                    </a:ext>
                  </a:extLst>
                </a:gridCol>
              </a:tblGrid>
              <a:tr h="310896">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agent</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tier</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routed_model</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latency_s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ok</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pin_ok</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b="1" dirty="0">
                          <a:solidFill>
                            <a:srgbClr val="9CA3AF"/>
                          </a:solidFill>
                          <a:latin typeface="Consolas" pitchFamily="34" charset="0"/>
                          <a:ea typeface="Consolas" pitchFamily="34" charset="-122"/>
                          <a:cs typeface="Consolas" pitchFamily="34" charset="-120"/>
                        </a:rPr>
                        <a:t>client_request_id</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FFFFFF"/>
                          </a:solidFill>
                          <a:latin typeface="Consolas" pitchFamily="34" charset="0"/>
                          <a:ea typeface="Consolas" pitchFamily="34" charset="-122"/>
                          <a:cs typeface="Consolas" pitchFamily="34" charset="-120"/>
                        </a:rPr>
                        <a:t>planner</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s2</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nvidia/nemotron-3-ultra-550b-a55b</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3.29 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9106722d…</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FFFFFF"/>
                          </a:solidFill>
                          <a:latin typeface="Consolas" pitchFamily="34" charset="0"/>
                          <a:ea typeface="Consolas" pitchFamily="34" charset="-122"/>
                          <a:cs typeface="Consolas" pitchFamily="34" charset="-120"/>
                        </a:rPr>
                        <a:t>retriever</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s1</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nvidia/nemotron-3.5-lightning-30b-a3b</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2.45 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075c0f95…</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FFFFFF"/>
                          </a:solidFill>
                          <a:latin typeface="Consolas" pitchFamily="34" charset="0"/>
                          <a:ea typeface="Consolas" pitchFamily="34" charset="-122"/>
                          <a:cs typeface="Consolas" pitchFamily="34" charset="-120"/>
                        </a:rPr>
                        <a:t>s1_filter</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s1</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nvidia/nemotron-3.5-lightning-30b-a3b</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2.37 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5aa93a3c…</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FFFFFF"/>
                          </a:solidFill>
                          <a:latin typeface="Consolas" pitchFamily="34" charset="0"/>
                          <a:ea typeface="Consolas" pitchFamily="34" charset="-122"/>
                          <a:cs typeface="Consolas" pitchFamily="34" charset="-120"/>
                        </a:rPr>
                        <a:t>evidence_evaluator</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s1</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nvidia/nemotron-3.5-lightning-30b-a3b</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0.74 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04b0fd7e…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FFFFFF"/>
                          </a:solidFill>
                          <a:latin typeface="Consolas" pitchFamily="34" charset="0"/>
                          <a:ea typeface="Consolas" pitchFamily="34" charset="-122"/>
                          <a:cs typeface="Consolas" pitchFamily="34" charset="-120"/>
                        </a:rPr>
                        <a:t>cause_analyst</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s2</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nvidia/nemotron-3-ultra-550b-a55b</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2.86 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9542bd34…</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FFFFFF"/>
                          </a:solidFill>
                          <a:latin typeface="Consolas" pitchFamily="34" charset="0"/>
                          <a:ea typeface="Consolas" pitchFamily="34" charset="-122"/>
                          <a:cs typeface="Consolas" pitchFamily="34" charset="-120"/>
                        </a:rPr>
                        <a:t>writer</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s2</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nvidia/nemotron-3-ultra-550b-a55b</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2.80 s</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4ADE80"/>
                          </a:solidFill>
                          <a:latin typeface="Consolas" pitchFamily="34" charset="0"/>
                          <a:ea typeface="Consolas" pitchFamily="34" charset="-122"/>
                          <a:cs typeface="Consolas" pitchFamily="34" charset="-120"/>
                        </a:rPr>
                        <a:t>true</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tc>
                  <a:txBody>
                    <a:bodyPr/>
                    <a:lstStyle/>
                    <a:p>
                      <a:pPr marL="0" indent="0">
                        <a:buNone/>
                      </a:pPr>
                      <a:r>
                        <a:rPr lang="en-US" sz="1200" dirty="0">
                          <a:solidFill>
                            <a:srgbClr val="D1D5DB"/>
                          </a:solidFill>
                          <a:latin typeface="Consolas" pitchFamily="34" charset="0"/>
                          <a:ea typeface="Consolas" pitchFamily="34" charset="-122"/>
                          <a:cs typeface="Consolas" pitchFamily="34" charset="-120"/>
                        </a:rPr>
                        <a:t>f1d75927…</a:t>
                      </a:r>
                      <a:endParaRPr lang="en-US" sz="1200" dirty="0">
                        <a:latin typeface="Consolas" charset="0"/>
                        <a:ea typeface="Consolas" charset="0"/>
                        <a:cs typeface="Consolas" charset="0"/>
                      </a:endParaRPr>
                    </a:p>
                  </a:txBody>
                  <a:tcPr marL="45720" marR="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0B0B0B"/>
                    </a:solidFill>
                  </a:tcPr>
                </a:tc>
                <a:extLst>
                  <a:ext uri="{0D108BD9-81ED-4DB2-BD59-A6C34878D82A}">
                    <a16:rowId xmlns:a16="http://schemas.microsoft.com/office/drawing/2014/main" val="10006"/>
                  </a:ext>
                </a:extLst>
              </a:tr>
            </a:tbl>
          </a:graphicData>
        </a:graphic>
      </p:graphicFrame>
      <p:sp>
        <p:nvSpPr>
          <p:cNvPr id="13" name="Text 9"/>
          <p:cNvSpPr/>
          <p:nvPr/>
        </p:nvSpPr>
        <p:spPr>
          <a:xfrm>
            <a:off x="548640" y="5166360"/>
            <a:ext cx="11091672" cy="45720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Real rows (first call per agent) from eval/nightshift_live/v2_agent_ids/zetaris-receipts-example-002.jsonl: live Zetaris + Nightshift, 26 Oct 2026, planted-trap run. 25 / 25 receipts OK, fallback never triggered. Ids truncated.</a:t>
            </a:r>
            <a:endParaRPr lang="en-US" sz="1300" dirty="0"/>
          </a:p>
        </p:txBody>
      </p:sp>
      <p:sp>
        <p:nvSpPr>
          <p:cNvPr id="14" name="Text 10"/>
          <p:cNvSpPr/>
          <p:nvPr/>
        </p:nvSpPr>
        <p:spPr>
          <a:xfrm>
            <a:off x="548640" y="5715000"/>
            <a:ext cx="7589520" cy="548640"/>
          </a:xfrm>
          <a:prstGeom prst="rect">
            <a:avLst/>
          </a:prstGeom>
          <a:noFill/>
          <a:ln/>
        </p:spPr>
        <p:txBody>
          <a:bodyPr wrap="square" lIns="0" tIns="0" rIns="0" bIns="0" rtlCol="0" anchor="t"/>
          <a:lstStyle/>
          <a:p>
            <a:pPr marL="0" indent="0" algn="l">
              <a:buNone/>
            </a:pPr>
            <a:r>
              <a:rPr lang="en-US" sz="1200" dirty="0">
                <a:solidFill>
                  <a:srgbClr val="FFFFFF"/>
                </a:solidFill>
                <a:latin typeface="Consolas" pitchFamily="34" charset="0"/>
                <a:ea typeface="Consolas" pitchFamily="34" charset="-122"/>
                <a:cs typeface="Consolas" pitchFamily="34" charset="-120"/>
              </a:rPr>
              <a:t>calls in this run: planner 1 · retriever 9 · s1_filter 6 · evidence_evaluator 5 · cause_analyst 1 · writer 1 · pin checks 2</a:t>
            </a:r>
            <a:endParaRPr lang="en-US" sz="1200" dirty="0"/>
          </a:p>
        </p:txBody>
      </p:sp>
      <p:sp>
        <p:nvSpPr>
          <p:cNvPr id="15" name="Text 11"/>
          <p:cNvSpPr/>
          <p:nvPr/>
        </p:nvSpPr>
        <p:spPr>
          <a:xfrm>
            <a:off x="8321040" y="5669280"/>
            <a:ext cx="3319272" cy="640080"/>
          </a:xfrm>
          <a:prstGeom prst="rect">
            <a:avLst/>
          </a:prstGeom>
          <a:noFill/>
          <a:ln/>
        </p:spPr>
        <p:txBody>
          <a:bodyPr wrap="square" lIns="0" tIns="0" rIns="0" bIns="0" rtlCol="0" anchor="t"/>
          <a:lstStyle/>
          <a:p>
            <a:pPr marL="0" indent="0" algn="r">
              <a:buNone/>
            </a:pPr>
            <a:r>
              <a:rPr lang="en-US" sz="1600" b="1" dirty="0">
                <a:solidFill>
                  <a:srgbClr val="4ADE80"/>
                </a:solidFill>
                <a:latin typeface="Calibri" pitchFamily="34" charset="0"/>
                <a:ea typeface="Calibri" pitchFamily="34" charset="-122"/>
                <a:cs typeface="Calibri" pitchFamily="34" charset="-120"/>
              </a:rPr>
              <a:t>All 3 live scenarios:</a:t>
            </a:r>
            <a:endParaRPr lang="en-US" sz="1600" dirty="0"/>
          </a:p>
          <a:p>
            <a:pPr marL="0" indent="0" algn="r">
              <a:buNone/>
            </a:pPr>
            <a:r>
              <a:rPr lang="en-US" sz="1600" b="1" dirty="0">
                <a:solidFill>
                  <a:srgbClr val="4ADE80"/>
                </a:solidFill>
                <a:latin typeface="Calibri" pitchFamily="34" charset="0"/>
                <a:ea typeface="Calibri" pitchFamily="34" charset="-122"/>
                <a:cs typeface="Calibri" pitchFamily="34" charset="-120"/>
              </a:rPr>
              <a:t>72 / 72 receipts OK, 0 failed</a:t>
            </a:r>
            <a:endParaRPr lang="en-US" sz="1600" dirty="0"/>
          </a:p>
        </p:txBody>
      </p:sp>
      <p:sp>
        <p:nvSpPr>
          <p:cNvPr id="16" name="Text 12"/>
          <p:cNvSpPr/>
          <p:nvPr/>
        </p:nvSpPr>
        <p:spPr>
          <a:xfrm>
            <a:off x="548640" y="6419088"/>
            <a:ext cx="9144000" cy="274320"/>
          </a:xfrm>
          <a:prstGeom prst="rect">
            <a:avLst/>
          </a:prstGeom>
          <a:noFill/>
          <a:ln/>
        </p:spPr>
        <p:txBody>
          <a:bodyPr wrap="square" lIns="0" tIns="0" rIns="0" bIns="0" rtlCol="0" anchor="ctr"/>
          <a:lstStyle/>
          <a:p>
            <a:pPr marL="0" indent="0" algn="l">
              <a:buNone/>
            </a:pPr>
            <a:r>
              <a:rPr lang="en-US" sz="1100" dirty="0">
                <a:solidFill>
                  <a:srgbClr val="9CA3AF"/>
                </a:solidFill>
                <a:latin typeface="Consolas" pitchFamily="34" charset="0"/>
                <a:ea typeface="Consolas" pitchFamily="34" charset="-122"/>
                <a:cs typeface="Consolas" pitchFamily="34" charset="-120"/>
              </a:rPr>
              <a:t>Green = runs in the product today · Amber = benchmark harness only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Change one cited row and the claim turns red</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The Traceability Check re-runs the cited query through Zetaris and re-finds the cited rows and numbers</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7</a:t>
            </a:r>
            <a:endParaRPr lang="en-US" sz="1100" dirty="0"/>
          </a:p>
        </p:txBody>
      </p:sp>
      <p:sp>
        <p:nvSpPr>
          <p:cNvPr id="7" name="Shape 3"/>
          <p:cNvSpPr/>
          <p:nvPr/>
        </p:nvSpPr>
        <p:spPr>
          <a:xfrm>
            <a:off x="548640" y="1554480"/>
            <a:ext cx="6099048" cy="3429000"/>
          </a:xfrm>
          <a:prstGeom prst="rect">
            <a:avLst/>
          </a:prstGeom>
          <a:ln w="9525">
            <a:solidFill>
              <a:srgbClr val="374151"/>
            </a:solidFill>
            <a:prstDash val="solid"/>
          </a:ln>
        </p:spPr>
      </p:sp>
      <p:sp>
        <p:nvSpPr>
          <p:cNvPr id="8" name="Shape 4"/>
          <p:cNvSpPr/>
          <p:nvPr/>
        </p:nvSpPr>
        <p:spPr>
          <a:xfrm>
            <a:off x="6949440" y="1554480"/>
            <a:ext cx="4690872" cy="896112"/>
          </a:xfrm>
          <a:prstGeom prst="roundRect">
            <a:avLst>
              <a:gd name="adj" fmla="val 8163"/>
            </a:avLst>
          </a:prstGeom>
          <a:solidFill>
            <a:srgbClr val="0B0B0B"/>
          </a:solidFill>
          <a:ln w="19050">
            <a:solidFill>
              <a:srgbClr val="4ADE80"/>
            </a:solidFill>
            <a:prstDash val="solid"/>
          </a:ln>
        </p:spPr>
      </p:sp>
      <p:sp>
        <p:nvSpPr>
          <p:cNvPr id="9" name="Text 5"/>
          <p:cNvSpPr/>
          <p:nvPr/>
        </p:nvSpPr>
        <p:spPr>
          <a:xfrm>
            <a:off x="7004304" y="1591056"/>
            <a:ext cx="4581144" cy="822960"/>
          </a:xfrm>
          <a:prstGeom prst="rect">
            <a:avLst/>
          </a:prstGeom>
          <a:noFill/>
          <a:ln/>
        </p:spPr>
        <p:txBody>
          <a:bodyPr wrap="square" lIns="76200" tIns="76200" rIns="76200" bIns="76200" rtlCol="0" anchor="ctr"/>
          <a:lstStyle/>
          <a:p>
            <a:pPr marL="0" indent="0" algn="l">
              <a:buNone/>
            </a:pPr>
            <a:r>
              <a:rPr lang="en-US" sz="1800" b="1" dirty="0">
                <a:solidFill>
                  <a:srgbClr val="4ADE80"/>
                </a:solidFill>
                <a:latin typeface="Consolas" pitchFamily="34" charset="0"/>
                <a:ea typeface="Consolas" pitchFamily="34" charset="-122"/>
                <a:cs typeface="Consolas" pitchFamily="34" charset="-120"/>
              </a:rPr>
              <a:t>GREEN</a:t>
            </a:r>
            <a:endParaRPr lang="en-US" sz="1800" dirty="0"/>
          </a:p>
          <a:p>
            <a:pPr marL="0" indent="0" algn="l">
              <a:buNone/>
            </a:pPr>
            <a:r>
              <a:rPr lang="en-US" sz="1300" dirty="0">
                <a:solidFill>
                  <a:srgbClr val="FFFFFF"/>
                </a:solidFill>
                <a:latin typeface="Calibri" pitchFamily="34" charset="0"/>
                <a:ea typeface="Calibri" pitchFamily="34" charset="-122"/>
                <a:cs typeface="Calibri" pitchFamily="34" charset="-120"/>
              </a:rPr>
              <a:t>claim cites rows; re-run via Zetaris; rows + number re-found</a:t>
            </a:r>
            <a:endParaRPr lang="en-US" sz="1800" dirty="0"/>
          </a:p>
        </p:txBody>
      </p:sp>
      <p:sp>
        <p:nvSpPr>
          <p:cNvPr id="10" name="Shape 6"/>
          <p:cNvSpPr/>
          <p:nvPr/>
        </p:nvSpPr>
        <p:spPr>
          <a:xfrm>
            <a:off x="9299448" y="2468880"/>
            <a:ext cx="914" cy="256032"/>
          </a:xfrm>
          <a:prstGeom prst="line">
            <a:avLst/>
          </a:prstGeom>
          <a:noFill/>
          <a:ln w="19050">
            <a:solidFill>
              <a:srgbClr val="22D3EE"/>
            </a:solidFill>
            <a:prstDash val="solid"/>
            <a:tailEnd type="arrow"/>
          </a:ln>
        </p:spPr>
      </p:sp>
      <p:sp>
        <p:nvSpPr>
          <p:cNvPr id="11" name="Shape 7"/>
          <p:cNvSpPr/>
          <p:nvPr/>
        </p:nvSpPr>
        <p:spPr>
          <a:xfrm>
            <a:off x="6949440" y="2743200"/>
            <a:ext cx="4690872" cy="896112"/>
          </a:xfrm>
          <a:prstGeom prst="roundRect">
            <a:avLst>
              <a:gd name="adj" fmla="val 8163"/>
            </a:avLst>
          </a:prstGeom>
          <a:solidFill>
            <a:srgbClr val="0B0B0B"/>
          </a:solidFill>
          <a:ln w="19050">
            <a:solidFill>
              <a:srgbClr val="F87171"/>
            </a:solidFill>
            <a:prstDash val="solid"/>
          </a:ln>
        </p:spPr>
      </p:sp>
      <p:sp>
        <p:nvSpPr>
          <p:cNvPr id="12" name="Text 8"/>
          <p:cNvSpPr/>
          <p:nvPr/>
        </p:nvSpPr>
        <p:spPr>
          <a:xfrm>
            <a:off x="7004304" y="2779776"/>
            <a:ext cx="4581144" cy="822960"/>
          </a:xfrm>
          <a:prstGeom prst="rect">
            <a:avLst/>
          </a:prstGeom>
          <a:noFill/>
          <a:ln/>
        </p:spPr>
        <p:txBody>
          <a:bodyPr wrap="square" lIns="76200" tIns="76200" rIns="76200" bIns="76200" rtlCol="0" anchor="ctr"/>
          <a:lstStyle/>
          <a:p>
            <a:pPr marL="0" indent="0" algn="l">
              <a:buNone/>
            </a:pPr>
            <a:r>
              <a:rPr lang="en-US" sz="1800" b="1" dirty="0">
                <a:solidFill>
                  <a:srgbClr val="F87171"/>
                </a:solidFill>
                <a:latin typeface="Consolas" pitchFamily="34" charset="0"/>
                <a:ea typeface="Consolas" pitchFamily="34" charset="-122"/>
                <a:cs typeface="Consolas" pitchFamily="34" charset="-120"/>
              </a:rPr>
              <a:t>RED</a:t>
            </a:r>
            <a:endParaRPr lang="en-US" sz="1800" dirty="0"/>
          </a:p>
          <a:p>
            <a:pPr marL="0" indent="0" algn="l">
              <a:buNone/>
            </a:pPr>
            <a:r>
              <a:rPr lang="en-US" sz="1300" dirty="0">
                <a:solidFill>
                  <a:srgbClr val="FFFFFF"/>
                </a:solidFill>
                <a:latin typeface="Calibri" pitchFamily="34" charset="0"/>
                <a:ea typeface="Calibri" pitchFamily="34" charset="-122"/>
                <a:cs typeface="Calibri" pitchFamily="34" charset="-120"/>
              </a:rPr>
              <a:t>1 cited row mutated in PostgreSQL: “cited rows missing or no longer matching”</a:t>
            </a:r>
            <a:endParaRPr lang="en-US" sz="1800" dirty="0"/>
          </a:p>
        </p:txBody>
      </p:sp>
      <p:sp>
        <p:nvSpPr>
          <p:cNvPr id="13" name="Shape 9"/>
          <p:cNvSpPr/>
          <p:nvPr/>
        </p:nvSpPr>
        <p:spPr>
          <a:xfrm>
            <a:off x="9299448" y="3657600"/>
            <a:ext cx="914" cy="256032"/>
          </a:xfrm>
          <a:prstGeom prst="line">
            <a:avLst/>
          </a:prstGeom>
          <a:noFill/>
          <a:ln w="19050">
            <a:solidFill>
              <a:srgbClr val="22D3EE"/>
            </a:solidFill>
            <a:prstDash val="solid"/>
            <a:tailEnd type="arrow"/>
          </a:ln>
        </p:spPr>
      </p:sp>
      <p:sp>
        <p:nvSpPr>
          <p:cNvPr id="14" name="Shape 10"/>
          <p:cNvSpPr/>
          <p:nvPr/>
        </p:nvSpPr>
        <p:spPr>
          <a:xfrm>
            <a:off x="6949440" y="3931920"/>
            <a:ext cx="4690872" cy="896112"/>
          </a:xfrm>
          <a:prstGeom prst="roundRect">
            <a:avLst>
              <a:gd name="adj" fmla="val 8163"/>
            </a:avLst>
          </a:prstGeom>
          <a:solidFill>
            <a:srgbClr val="0B0B0B"/>
          </a:solidFill>
          <a:ln w="19050">
            <a:solidFill>
              <a:srgbClr val="4ADE80"/>
            </a:solidFill>
            <a:prstDash val="solid"/>
          </a:ln>
        </p:spPr>
      </p:sp>
      <p:sp>
        <p:nvSpPr>
          <p:cNvPr id="15" name="Text 11"/>
          <p:cNvSpPr/>
          <p:nvPr/>
        </p:nvSpPr>
        <p:spPr>
          <a:xfrm>
            <a:off x="7004304" y="3968496"/>
            <a:ext cx="4581144" cy="822960"/>
          </a:xfrm>
          <a:prstGeom prst="rect">
            <a:avLst/>
          </a:prstGeom>
          <a:noFill/>
          <a:ln/>
        </p:spPr>
        <p:txBody>
          <a:bodyPr wrap="square" lIns="76200" tIns="76200" rIns="76200" bIns="76200" rtlCol="0" anchor="ctr"/>
          <a:lstStyle/>
          <a:p>
            <a:pPr marL="0" indent="0" algn="l">
              <a:buNone/>
            </a:pPr>
            <a:r>
              <a:rPr lang="en-US" sz="1800" b="1" dirty="0">
                <a:solidFill>
                  <a:srgbClr val="4ADE80"/>
                </a:solidFill>
                <a:latin typeface="Consolas" pitchFamily="34" charset="0"/>
                <a:ea typeface="Consolas" pitchFamily="34" charset="-122"/>
                <a:cs typeface="Consolas" pitchFamily="34" charset="-120"/>
              </a:rPr>
              <a:t>GREEN</a:t>
            </a:r>
            <a:endParaRPr lang="en-US" sz="1800" dirty="0"/>
          </a:p>
          <a:p>
            <a:pPr marL="0" indent="0" algn="l">
              <a:buNone/>
            </a:pPr>
            <a:r>
              <a:rPr lang="en-US" sz="1300" dirty="0">
                <a:solidFill>
                  <a:srgbClr val="FFFFFF"/>
                </a:solidFill>
                <a:latin typeface="Calibri" pitchFamily="34" charset="0"/>
                <a:ea typeface="Calibri" pitchFamily="34" charset="-122"/>
                <a:cs typeface="Calibri" pitchFamily="34" charset="-120"/>
              </a:rPr>
              <a:t>row restored; re-run via Zetaris; claim passes again</a:t>
            </a:r>
            <a:endParaRPr lang="en-US" sz="1800" dirty="0"/>
          </a:p>
        </p:txBody>
      </p:sp>
      <p:sp>
        <p:nvSpPr>
          <p:cNvPr id="16" name="Shape 12"/>
          <p:cNvSpPr/>
          <p:nvPr/>
        </p:nvSpPr>
        <p:spPr>
          <a:xfrm>
            <a:off x="548640" y="5212080"/>
            <a:ext cx="11091672" cy="868680"/>
          </a:xfrm>
          <a:prstGeom prst="roundRect">
            <a:avLst>
              <a:gd name="adj" fmla="val 8421"/>
            </a:avLst>
          </a:prstGeom>
          <a:solidFill>
            <a:srgbClr val="0B0B0B"/>
          </a:solidFill>
          <a:ln w="12700">
            <a:solidFill>
              <a:srgbClr val="FBBF24"/>
            </a:solidFill>
            <a:prstDash val="dash"/>
          </a:ln>
        </p:spPr>
      </p:sp>
      <p:sp>
        <p:nvSpPr>
          <p:cNvPr id="17" name="Text 13"/>
          <p:cNvSpPr/>
          <p:nvPr/>
        </p:nvSpPr>
        <p:spPr>
          <a:xfrm>
            <a:off x="603504" y="5248656"/>
            <a:ext cx="10981944" cy="795528"/>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Traceability, not truth.</a:t>
            </a:r>
            <a:endParaRPr lang="en-US" sz="2000" dirty="0"/>
          </a:p>
          <a:p>
            <a:pPr marL="0" indent="0" algn="ctr">
              <a:buNone/>
            </a:pPr>
            <a:r>
              <a:rPr lang="en-US" sz="1600" dirty="0">
                <a:solidFill>
                  <a:srgbClr val="9CA3AF"/>
                </a:solidFill>
                <a:latin typeface="Calibri" pitchFamily="34" charset="0"/>
                <a:ea typeface="Calibri" pitchFamily="34" charset="-122"/>
                <a:cs typeface="Calibri" pitchFamily="34" charset="-120"/>
              </a:rPr>
              <a:t>Green means the cited data can be re-found in the queried views, not that the claim is true.</a:t>
            </a:r>
            <a:endParaRPr lang="en-US" sz="2000" dirty="0"/>
          </a:p>
        </p:txBody>
      </p:sp>
      <p:sp>
        <p:nvSpPr>
          <p:cNvPr id="18" name="Text 14"/>
          <p:cNvSpPr/>
          <p:nvPr/>
        </p:nvSpPr>
        <p:spPr>
          <a:xfrm>
            <a:off x="548640" y="6172200"/>
            <a:ext cx="10607040" cy="365760"/>
          </a:xfrm>
          <a:prstGeom prst="rect">
            <a:avLst/>
          </a:prstGeom>
          <a:noFill/>
          <a:ln/>
        </p:spPr>
        <p:txBody>
          <a:bodyPr wrap="square" lIns="0" tIns="0" rIns="0" bIns="0" rtlCol="0" anchor="t"/>
          <a:lstStyle/>
          <a:p>
            <a:pPr marL="0" indent="0" algn="l">
              <a:buNone/>
            </a:pPr>
            <a:r>
              <a:rPr lang="en-US" sz="1200" dirty="0">
                <a:solidFill>
                  <a:srgbClr val="9CA3AF"/>
                </a:solidFill>
                <a:latin typeface="Calibri" pitchFamily="34" charset="0"/>
                <a:ea typeface="Calibri" pitchFamily="34" charset="-122"/>
                <a:cs typeface="Calibri" pitchFamily="34" charset="-120"/>
              </a:rPr>
              <a:t>Clip: replay of live Zetaris JDBC trace on public Olist data (24 Oct). Also verified: verify_live_demo.py --backend zetaris (DEMO OK), olist_demo.py --mutate (OLIST OK).</a:t>
            </a:r>
            <a:endParaRPr lang="en-US" sz="1200" dirty="0"/>
          </a:p>
        </p:txBody>
      </p:sp>
      <p:pic>
        <p:nvPicPr>
          <p:cNvPr id="5" name="media-7-1">
            <a:hlinkClick r:id="" action="ppaction://media"/>
            <a:extLst>
              <a:ext uri="{FF2B5EF4-FFF2-40B4-BE49-F238E27FC236}">
                <a16:creationId xmlns:a16="http://schemas.microsoft.com/office/drawing/2014/main" id="{21215541-3652-43FC-B510-E58A090E8F3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1" y="1554481"/>
            <a:ext cx="6095999" cy="34290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What the analyst sees: a memo, and the trace behind it</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Web UI (:8501) over the FastAPI service (:8000); every run writes a JSONL trace</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8</a:t>
            </a:r>
            <a:endParaRPr lang="en-US" sz="1100" dirty="0"/>
          </a:p>
        </p:txBody>
      </p:sp>
      <p:sp>
        <p:nvSpPr>
          <p:cNvPr id="6" name="Shape 3"/>
          <p:cNvSpPr/>
          <p:nvPr/>
        </p:nvSpPr>
        <p:spPr>
          <a:xfrm>
            <a:off x="548640" y="1554480"/>
            <a:ext cx="5422392" cy="3054096"/>
          </a:xfrm>
          <a:prstGeom prst="rect">
            <a:avLst/>
          </a:prstGeom>
          <a:noFill/>
          <a:ln w="9525">
            <a:solidFill>
              <a:srgbClr val="374151"/>
            </a:solidFill>
          </a:ln>
        </p:spPr>
      </p:sp>
      <p:sp>
        <p:nvSpPr>
          <p:cNvPr id="7" name="Text 4"/>
          <p:cNvSpPr/>
          <p:nvPr/>
        </p:nvSpPr>
        <p:spPr>
          <a:xfrm>
            <a:off x="548640" y="4709160"/>
            <a:ext cx="5422392" cy="777240"/>
          </a:xfrm>
          <a:prstGeom prst="rect">
            <a:avLst/>
          </a:prstGeom>
          <a:noFill/>
          <a:ln/>
        </p:spPr>
        <p:txBody>
          <a:bodyPr wrap="square" lIns="0" tIns="0" rIns="0" bIns="0" rtlCol="0" anchor="t"/>
          <a:lstStyle/>
          <a:p>
            <a:pPr marL="0" indent="0" algn="l">
              <a:buNone/>
            </a:pPr>
            <a:r>
              <a:rPr lang="en-US" sz="1300" dirty="0">
                <a:solidFill>
                  <a:srgbClr val="D1D5DB"/>
                </a:solidFill>
                <a:latin typeface="Calibri" pitchFamily="34" charset="0"/>
                <a:ea typeface="Calibri" pitchFamily="34" charset="-122"/>
                <a:cs typeface="Calibri" pitchFamily="34" charset="-120"/>
              </a:rPr>
              <a:t>Web UI (:8501) over FastAPI (:8000): decision memo with [PASS · GREEN] claims, row-level click-through to Zetaris JDBC, and What-if counterfactual simulator.</a:t>
            </a:r>
            <a:endParaRPr lang="en-US" sz="1300" dirty="0"/>
          </a:p>
        </p:txBody>
      </p:sp>
      <p:sp>
        <p:nvSpPr>
          <p:cNvPr id="8" name="Text 5"/>
          <p:cNvSpPr/>
          <p:nvPr/>
        </p:nvSpPr>
        <p:spPr>
          <a:xfrm>
            <a:off x="548640" y="5577840"/>
            <a:ext cx="5422392" cy="320040"/>
          </a:xfrm>
          <a:prstGeom prst="rect">
            <a:avLst/>
          </a:prstGeom>
          <a:noFill/>
          <a:ln/>
        </p:spPr>
        <p:txBody>
          <a:bodyPr wrap="square" lIns="0" tIns="0" rIns="0" bIns="0" rtlCol="0" anchor="t"/>
          <a:lstStyle/>
          <a:p>
            <a:pPr marL="0" indent="0" algn="l">
              <a:buNone/>
            </a:pPr>
            <a:r>
              <a:rPr lang="en-US" sz="1100" dirty="0">
                <a:solidFill>
                  <a:srgbClr val="9CA3AF"/>
                </a:solidFill>
                <a:latin typeface="Consolas" pitchFamily="34" charset="0"/>
                <a:ea typeface="Consolas" pitchFamily="34" charset="-122"/>
                <a:cs typeface="Consolas" pitchFamily="34" charset="-120"/>
              </a:rPr>
              <a:t>output_examples/example_5_live_zetaris_nightshift.json · Live Zetaris + Nightshift</a:t>
            </a:r>
            <a:endParaRPr lang="en-US" sz="1100" dirty="0"/>
          </a:p>
        </p:txBody>
      </p:sp>
      <p:sp>
        <p:nvSpPr>
          <p:cNvPr id="10" name="Shape 6"/>
          <p:cNvSpPr/>
          <p:nvPr/>
        </p:nvSpPr>
        <p:spPr>
          <a:xfrm>
            <a:off x="6217920" y="1554480"/>
            <a:ext cx="5422392" cy="3054096"/>
          </a:xfrm>
          <a:prstGeom prst="rect">
            <a:avLst/>
          </a:prstGeom>
          <a:ln w="9525">
            <a:solidFill>
              <a:srgbClr val="374151"/>
            </a:solidFill>
            <a:prstDash val="solid"/>
          </a:ln>
        </p:spPr>
      </p:sp>
      <p:sp>
        <p:nvSpPr>
          <p:cNvPr id="11" name="Text 7"/>
          <p:cNvSpPr/>
          <p:nvPr/>
        </p:nvSpPr>
        <p:spPr>
          <a:xfrm>
            <a:off x="6217920" y="4709160"/>
            <a:ext cx="5422392" cy="77724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Replay of the committed trace for the planted-trap example: hand-offs, the Evaluator sending the Planner back (cyan), claims passing the check (green).</a:t>
            </a:r>
            <a:endParaRPr lang="en-US" sz="1400" dirty="0"/>
          </a:p>
        </p:txBody>
      </p:sp>
      <p:sp>
        <p:nvSpPr>
          <p:cNvPr id="12" name="Text 8"/>
          <p:cNvSpPr/>
          <p:nvPr/>
        </p:nvSpPr>
        <p:spPr>
          <a:xfrm>
            <a:off x="6217920" y="5577840"/>
            <a:ext cx="5422392" cy="320040"/>
          </a:xfrm>
          <a:prstGeom prst="rect">
            <a:avLst/>
          </a:prstGeom>
          <a:noFill/>
          <a:ln/>
        </p:spPr>
        <p:txBody>
          <a:bodyPr wrap="square" lIns="0" tIns="0" rIns="0" bIns="0" rtlCol="0" anchor="t"/>
          <a:lstStyle/>
          <a:p>
            <a:pPr marL="0" indent="0" algn="l">
              <a:buNone/>
            </a:pPr>
            <a:r>
              <a:rPr lang="en-US" sz="1100" dirty="0">
                <a:solidFill>
                  <a:srgbClr val="9CA3AF"/>
                </a:solidFill>
                <a:latin typeface="Consolas" pitchFamily="34" charset="0"/>
                <a:ea typeface="Consolas" pitchFamily="34" charset="-122"/>
                <a:cs typeface="Consolas" pitchFamily="34" charset="-120"/>
              </a:rPr>
              <a:t>logs/demo_video/trace-example-002.jsonl · Live Zetaris JDBC + Nightshift 1.2.7</a:t>
            </a:r>
            <a:endParaRPr lang="en-US" sz="1100" dirty="0"/>
          </a:p>
        </p:txBody>
      </p:sp>
      <p:pic>
        <p:nvPicPr>
          <p:cNvPr id="5" name="media-8-left">
            <a:hlinkClick r:id="" action="ppaction://media"/>
            <a:extLst>
              <a:ext uri="{FF2B5EF4-FFF2-40B4-BE49-F238E27FC236}">
                <a16:creationId xmlns:a16="http://schemas.microsoft.com/office/drawing/2014/main" id="{938DAF1D-0AA3-46ED-8495-5E2E3FDEDD7B}"/>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554480"/>
            <a:ext cx="5429503" cy="3054096"/>
          </a:xfrm>
          <a:prstGeom prst="rect">
            <a:avLst/>
          </a:prstGeom>
        </p:spPr>
      </p:pic>
      <p:pic>
        <p:nvPicPr>
          <p:cNvPr id="9" name="media-8-1">
            <a:hlinkClick r:id="" action="ppaction://media"/>
            <a:extLst>
              <a:ext uri="{FF2B5EF4-FFF2-40B4-BE49-F238E27FC236}">
                <a16:creationId xmlns:a16="http://schemas.microsoft.com/office/drawing/2014/main" id="{940650F4-30C8-4B0A-9E40-755A6AAF8B01}"/>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217920" y="1554480"/>
            <a:ext cx="5429503" cy="3054096"/>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video>
              <p:cMediaNode vol="80000">
                <p:cTn id="13" fill="hold" display="0">
                  <p:stCondLst>
                    <p:cond delay="indefinite"/>
                  </p:stCondLst>
                </p:cTn>
                <p:tgtEl>
                  <p:spTgt spid="9"/>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Technical stack: plain Python, no agent framework</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Own orchestrator (app/pipeline.py) and own agentic retriever; numbers always come from SQL</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9</a:t>
            </a:r>
            <a:endParaRPr lang="en-US" sz="1100" dirty="0"/>
          </a:p>
        </p:txBody>
      </p:sp>
      <p:sp>
        <p:nvSpPr>
          <p:cNvPr id="6" name="Text 3"/>
          <p:cNvSpPr/>
          <p:nvPr/>
        </p:nvSpPr>
        <p:spPr>
          <a:xfrm>
            <a:off x="548640" y="1600200"/>
            <a:ext cx="2194560" cy="621792"/>
          </a:xfrm>
          <a:prstGeom prst="rect">
            <a:avLst/>
          </a:prstGeom>
          <a:noFill/>
          <a:ln/>
        </p:spPr>
        <p:txBody>
          <a:bodyPr wrap="square" lIns="0" tIns="0" rIns="0" bIns="0" rtlCol="0" anchor="ctr"/>
          <a:lstStyle/>
          <a:p>
            <a:pPr marL="0" indent="0" algn="r">
              <a:buNone/>
            </a:pPr>
            <a:r>
              <a:rPr lang="en-US" sz="1400" dirty="0">
                <a:solidFill>
                  <a:srgbClr val="9CA3AF"/>
                </a:solidFill>
                <a:latin typeface="Consolas" pitchFamily="34" charset="0"/>
                <a:ea typeface="Consolas" pitchFamily="34" charset="-122"/>
                <a:cs typeface="Consolas" pitchFamily="34" charset="-120"/>
              </a:rPr>
              <a:t>interface</a:t>
            </a:r>
            <a:endParaRPr lang="en-US" sz="1400" dirty="0"/>
          </a:p>
        </p:txBody>
      </p:sp>
      <p:sp>
        <p:nvSpPr>
          <p:cNvPr id="7" name="Shape 4"/>
          <p:cNvSpPr/>
          <p:nvPr/>
        </p:nvSpPr>
        <p:spPr>
          <a:xfrm>
            <a:off x="2926080" y="1600200"/>
            <a:ext cx="8714232" cy="621792"/>
          </a:xfrm>
          <a:prstGeom prst="roundRect">
            <a:avLst>
              <a:gd name="adj" fmla="val 11765"/>
            </a:avLst>
          </a:prstGeom>
          <a:solidFill>
            <a:srgbClr val="0B0B0B"/>
          </a:solidFill>
          <a:ln w="12700">
            <a:solidFill>
              <a:srgbClr val="FFFFFF"/>
            </a:solidFill>
            <a:prstDash val="solid"/>
          </a:ln>
        </p:spPr>
      </p:sp>
      <p:sp>
        <p:nvSpPr>
          <p:cNvPr id="8" name="Text 5"/>
          <p:cNvSpPr/>
          <p:nvPr/>
        </p:nvSpPr>
        <p:spPr>
          <a:xfrm>
            <a:off x="2980944" y="1636776"/>
            <a:ext cx="8604504" cy="548640"/>
          </a:xfrm>
          <a:prstGeom prst="rect">
            <a:avLst/>
          </a:prstGeom>
          <a:noFill/>
          <a:ln/>
        </p:spPr>
        <p:txBody>
          <a:bodyPr wrap="square" lIns="101600" tIns="101600" rIns="101600" bIns="1016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FastAPI API :8000 · web UI :8501 · CLI run.py · memo PDF (fpdf2)</a:t>
            </a:r>
            <a:endParaRPr lang="en-US" sz="1500" dirty="0"/>
          </a:p>
        </p:txBody>
      </p:sp>
      <p:sp>
        <p:nvSpPr>
          <p:cNvPr id="9" name="Text 6"/>
          <p:cNvSpPr/>
          <p:nvPr/>
        </p:nvSpPr>
        <p:spPr>
          <a:xfrm>
            <a:off x="548640" y="2359152"/>
            <a:ext cx="2194560" cy="621792"/>
          </a:xfrm>
          <a:prstGeom prst="rect">
            <a:avLst/>
          </a:prstGeom>
          <a:noFill/>
          <a:ln/>
        </p:spPr>
        <p:txBody>
          <a:bodyPr wrap="square" lIns="0" tIns="0" rIns="0" bIns="0" rtlCol="0" anchor="ctr"/>
          <a:lstStyle/>
          <a:p>
            <a:pPr marL="0" indent="0" algn="r">
              <a:buNone/>
            </a:pPr>
            <a:r>
              <a:rPr lang="en-US" sz="1400" dirty="0">
                <a:solidFill>
                  <a:srgbClr val="9CA3AF"/>
                </a:solidFill>
                <a:latin typeface="Consolas" pitchFamily="34" charset="0"/>
                <a:ea typeface="Consolas" pitchFamily="34" charset="-122"/>
                <a:cs typeface="Consolas" pitchFamily="34" charset="-120"/>
              </a:rPr>
              <a:t>orchestration</a:t>
            </a:r>
            <a:endParaRPr lang="en-US" sz="1400" dirty="0"/>
          </a:p>
        </p:txBody>
      </p:sp>
      <p:sp>
        <p:nvSpPr>
          <p:cNvPr id="10" name="Shape 7"/>
          <p:cNvSpPr/>
          <p:nvPr/>
        </p:nvSpPr>
        <p:spPr>
          <a:xfrm>
            <a:off x="2926080" y="2359152"/>
            <a:ext cx="8714232" cy="621792"/>
          </a:xfrm>
          <a:prstGeom prst="roundRect">
            <a:avLst>
              <a:gd name="adj" fmla="val 11765"/>
            </a:avLst>
          </a:prstGeom>
          <a:solidFill>
            <a:srgbClr val="0B0B0B"/>
          </a:solidFill>
          <a:ln w="12700">
            <a:solidFill>
              <a:srgbClr val="FFFFFF"/>
            </a:solidFill>
            <a:prstDash val="solid"/>
          </a:ln>
        </p:spPr>
      </p:sp>
      <p:sp>
        <p:nvSpPr>
          <p:cNvPr id="11" name="Text 8"/>
          <p:cNvSpPr/>
          <p:nvPr/>
        </p:nvSpPr>
        <p:spPr>
          <a:xfrm>
            <a:off x="2980944" y="2395728"/>
            <a:ext cx="8604504" cy="548640"/>
          </a:xfrm>
          <a:prstGeom prst="rect">
            <a:avLst/>
          </a:prstGeom>
          <a:noFill/>
          <a:ln/>
        </p:spPr>
        <p:txBody>
          <a:bodyPr wrap="square" lIns="101600" tIns="101600" rIns="101600" bIns="1016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own Python orchestrator · own agentic retriever (SQL templates + BM25 / dense)</a:t>
            </a:r>
            <a:endParaRPr lang="en-US" sz="1500" dirty="0"/>
          </a:p>
        </p:txBody>
      </p:sp>
      <p:sp>
        <p:nvSpPr>
          <p:cNvPr id="12" name="Text 9"/>
          <p:cNvSpPr/>
          <p:nvPr/>
        </p:nvSpPr>
        <p:spPr>
          <a:xfrm>
            <a:off x="548640" y="3118104"/>
            <a:ext cx="2194560" cy="621792"/>
          </a:xfrm>
          <a:prstGeom prst="rect">
            <a:avLst/>
          </a:prstGeom>
          <a:noFill/>
          <a:ln/>
        </p:spPr>
        <p:txBody>
          <a:bodyPr wrap="square" lIns="0" tIns="0" rIns="0" bIns="0" rtlCol="0" anchor="ctr"/>
          <a:lstStyle/>
          <a:p>
            <a:pPr marL="0" indent="0" algn="r">
              <a:buNone/>
            </a:pPr>
            <a:r>
              <a:rPr lang="en-US" sz="1400" dirty="0">
                <a:solidFill>
                  <a:srgbClr val="22D3EE"/>
                </a:solidFill>
                <a:latin typeface="Consolas" pitchFamily="34" charset="0"/>
                <a:ea typeface="Consolas" pitchFamily="34" charset="-122"/>
                <a:cs typeface="Consolas" pitchFamily="34" charset="-120"/>
              </a:rPr>
              <a:t>models</a:t>
            </a:r>
            <a:endParaRPr lang="en-US" sz="1400" dirty="0"/>
          </a:p>
        </p:txBody>
      </p:sp>
      <p:sp>
        <p:nvSpPr>
          <p:cNvPr id="13" name="Shape 10"/>
          <p:cNvSpPr/>
          <p:nvPr/>
        </p:nvSpPr>
        <p:spPr>
          <a:xfrm>
            <a:off x="2926080" y="3118104"/>
            <a:ext cx="8714232" cy="621792"/>
          </a:xfrm>
          <a:prstGeom prst="roundRect">
            <a:avLst>
              <a:gd name="adj" fmla="val 11765"/>
            </a:avLst>
          </a:prstGeom>
          <a:solidFill>
            <a:srgbClr val="0B0B0B"/>
          </a:solidFill>
          <a:ln w="12700">
            <a:solidFill>
              <a:srgbClr val="22D3EE"/>
            </a:solidFill>
            <a:prstDash val="solid"/>
          </a:ln>
        </p:spPr>
      </p:sp>
      <p:sp>
        <p:nvSpPr>
          <p:cNvPr id="14" name="Text 11"/>
          <p:cNvSpPr/>
          <p:nvPr/>
        </p:nvSpPr>
        <p:spPr>
          <a:xfrm>
            <a:off x="2980944" y="3154680"/>
            <a:ext cx="8604504" cy="548640"/>
          </a:xfrm>
          <a:prstGeom prst="rect">
            <a:avLst/>
          </a:prstGeom>
          <a:noFill/>
          <a:ln/>
        </p:spPr>
        <p:txBody>
          <a:bodyPr wrap="square" lIns="101600" tIns="101600" rIns="101600" bIns="1016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NVIDIA Nemotron 3.5 Lightning 30B (S1) + Nemotron 3 Ultra (S2) via Meterless Nightshift 1.2.7</a:t>
            </a:r>
            <a:endParaRPr lang="en-US" sz="1500" dirty="0"/>
          </a:p>
        </p:txBody>
      </p:sp>
      <p:sp>
        <p:nvSpPr>
          <p:cNvPr id="15" name="Text 12"/>
          <p:cNvSpPr/>
          <p:nvPr/>
        </p:nvSpPr>
        <p:spPr>
          <a:xfrm>
            <a:off x="548640" y="3877056"/>
            <a:ext cx="2194560" cy="621792"/>
          </a:xfrm>
          <a:prstGeom prst="rect">
            <a:avLst/>
          </a:prstGeom>
          <a:noFill/>
          <a:ln/>
        </p:spPr>
        <p:txBody>
          <a:bodyPr wrap="square" lIns="0" tIns="0" rIns="0" bIns="0" rtlCol="0" anchor="ctr"/>
          <a:lstStyle/>
          <a:p>
            <a:pPr marL="0" indent="0" algn="r">
              <a:buNone/>
            </a:pPr>
            <a:r>
              <a:rPr lang="en-US" sz="1400" dirty="0">
                <a:solidFill>
                  <a:srgbClr val="22D3EE"/>
                </a:solidFill>
                <a:latin typeface="Consolas" pitchFamily="34" charset="0"/>
                <a:ea typeface="Consolas" pitchFamily="34" charset="-122"/>
                <a:cs typeface="Consolas" pitchFamily="34" charset="-120"/>
              </a:rPr>
              <a:t>memory &amp; rounds</a:t>
            </a:r>
            <a:endParaRPr lang="en-US" sz="1400" dirty="0"/>
          </a:p>
        </p:txBody>
      </p:sp>
      <p:sp>
        <p:nvSpPr>
          <p:cNvPr id="16" name="Shape 13"/>
          <p:cNvSpPr/>
          <p:nvPr/>
        </p:nvSpPr>
        <p:spPr>
          <a:xfrm>
            <a:off x="2926080" y="3877056"/>
            <a:ext cx="8714232" cy="621792"/>
          </a:xfrm>
          <a:prstGeom prst="roundRect">
            <a:avLst>
              <a:gd name="adj" fmla="val 11765"/>
            </a:avLst>
          </a:prstGeom>
          <a:solidFill>
            <a:srgbClr val="0B0B0B"/>
          </a:solidFill>
          <a:ln w="12700">
            <a:solidFill>
              <a:srgbClr val="22D3EE"/>
            </a:solidFill>
            <a:prstDash val="solid"/>
          </a:ln>
        </p:spPr>
      </p:sp>
      <p:sp>
        <p:nvSpPr>
          <p:cNvPr id="17" name="Text 14"/>
          <p:cNvSpPr/>
          <p:nvPr/>
        </p:nvSpPr>
        <p:spPr>
          <a:xfrm>
            <a:off x="2980944" y="3913632"/>
            <a:ext cx="8604504" cy="548640"/>
          </a:xfrm>
          <a:prstGeom prst="rect">
            <a:avLst/>
          </a:prstGeom>
          <a:noFill/>
          <a:ln/>
        </p:spPr>
        <p:txBody>
          <a:bodyPr wrap="square" lIns="101600" tIns="101600" rIns="101600" bIns="1016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Meterless H-MEM + Markovian (vendored, Apache-2.0) via Node bridge</a:t>
            </a:r>
            <a:endParaRPr lang="en-US" sz="1500" dirty="0"/>
          </a:p>
        </p:txBody>
      </p:sp>
      <p:sp>
        <p:nvSpPr>
          <p:cNvPr id="18" name="Text 15"/>
          <p:cNvSpPr/>
          <p:nvPr/>
        </p:nvSpPr>
        <p:spPr>
          <a:xfrm>
            <a:off x="548640" y="4636008"/>
            <a:ext cx="2194560" cy="621792"/>
          </a:xfrm>
          <a:prstGeom prst="rect">
            <a:avLst/>
          </a:prstGeom>
          <a:noFill/>
          <a:ln/>
        </p:spPr>
        <p:txBody>
          <a:bodyPr wrap="square" lIns="0" tIns="0" rIns="0" bIns="0" rtlCol="0" anchor="ctr"/>
          <a:lstStyle/>
          <a:p>
            <a:pPr marL="0" indent="0" algn="r">
              <a:buNone/>
            </a:pPr>
            <a:r>
              <a:rPr lang="en-US" sz="1400" dirty="0">
                <a:solidFill>
                  <a:srgbClr val="9CA3AF"/>
                </a:solidFill>
                <a:latin typeface="Consolas" pitchFamily="34" charset="0"/>
                <a:ea typeface="Consolas" pitchFamily="34" charset="-122"/>
                <a:cs typeface="Consolas" pitchFamily="34" charset="-120"/>
              </a:rPr>
              <a:t>data</a:t>
            </a:r>
            <a:endParaRPr lang="en-US" sz="1400" dirty="0"/>
          </a:p>
        </p:txBody>
      </p:sp>
      <p:sp>
        <p:nvSpPr>
          <p:cNvPr id="19" name="Shape 16"/>
          <p:cNvSpPr/>
          <p:nvPr/>
        </p:nvSpPr>
        <p:spPr>
          <a:xfrm>
            <a:off x="2926080" y="4636008"/>
            <a:ext cx="8714232" cy="621792"/>
          </a:xfrm>
          <a:prstGeom prst="roundRect">
            <a:avLst>
              <a:gd name="adj" fmla="val 11765"/>
            </a:avLst>
          </a:prstGeom>
          <a:solidFill>
            <a:srgbClr val="0B0B0B"/>
          </a:solidFill>
          <a:ln w="12700">
            <a:solidFill>
              <a:srgbClr val="FFFFFF"/>
            </a:solidFill>
            <a:prstDash val="solid"/>
          </a:ln>
        </p:spPr>
      </p:sp>
      <p:sp>
        <p:nvSpPr>
          <p:cNvPr id="20" name="Text 17"/>
          <p:cNvSpPr/>
          <p:nvPr/>
        </p:nvSpPr>
        <p:spPr>
          <a:xfrm>
            <a:off x="2980944" y="4672584"/>
            <a:ext cx="8604504" cy="548640"/>
          </a:xfrm>
          <a:prstGeom prst="rect">
            <a:avLst/>
          </a:prstGeom>
          <a:noFill/>
          <a:ln/>
        </p:spPr>
        <p:txBody>
          <a:bodyPr wrap="square" lIns="101600" tIns="101600" rIns="101600" bIns="1016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Zetaris Lightning over JDBC (JayDeBeApi) · DuckDB snapshot for SAMPLE_MODE</a:t>
            </a:r>
            <a:endParaRPr lang="en-US" sz="1500" dirty="0"/>
          </a:p>
        </p:txBody>
      </p:sp>
      <p:sp>
        <p:nvSpPr>
          <p:cNvPr id="21" name="Text 18"/>
          <p:cNvSpPr/>
          <p:nvPr/>
        </p:nvSpPr>
        <p:spPr>
          <a:xfrm>
            <a:off x="548640" y="5394960"/>
            <a:ext cx="2194560" cy="621792"/>
          </a:xfrm>
          <a:prstGeom prst="rect">
            <a:avLst/>
          </a:prstGeom>
          <a:noFill/>
          <a:ln/>
        </p:spPr>
        <p:txBody>
          <a:bodyPr wrap="square" lIns="0" tIns="0" rIns="0" bIns="0" rtlCol="0" anchor="ctr"/>
          <a:lstStyle/>
          <a:p>
            <a:pPr marL="0" indent="0" algn="r">
              <a:buNone/>
            </a:pPr>
            <a:r>
              <a:rPr lang="en-US" sz="1400" dirty="0">
                <a:solidFill>
                  <a:srgbClr val="9CA3AF"/>
                </a:solidFill>
                <a:latin typeface="Consolas" pitchFamily="34" charset="0"/>
                <a:ea typeface="Consolas" pitchFamily="34" charset="-122"/>
                <a:cs typeface="Consolas" pitchFamily="34" charset="-120"/>
              </a:rPr>
              <a:t>ops &amp; evidence</a:t>
            </a:r>
            <a:endParaRPr lang="en-US" sz="1400" dirty="0"/>
          </a:p>
        </p:txBody>
      </p:sp>
      <p:sp>
        <p:nvSpPr>
          <p:cNvPr id="22" name="Shape 19"/>
          <p:cNvSpPr/>
          <p:nvPr/>
        </p:nvSpPr>
        <p:spPr>
          <a:xfrm>
            <a:off x="2926080" y="5394960"/>
            <a:ext cx="8714232" cy="621792"/>
          </a:xfrm>
          <a:prstGeom prst="roundRect">
            <a:avLst>
              <a:gd name="adj" fmla="val 11765"/>
            </a:avLst>
          </a:prstGeom>
          <a:solidFill>
            <a:srgbClr val="0B0B0B"/>
          </a:solidFill>
          <a:ln w="12700">
            <a:solidFill>
              <a:srgbClr val="FFFFFF"/>
            </a:solidFill>
            <a:prstDash val="solid"/>
          </a:ln>
        </p:spPr>
      </p:sp>
      <p:sp>
        <p:nvSpPr>
          <p:cNvPr id="23" name="Text 20"/>
          <p:cNvSpPr/>
          <p:nvPr/>
        </p:nvSpPr>
        <p:spPr>
          <a:xfrm>
            <a:off x="2980944" y="5431536"/>
            <a:ext cx="8604504" cy="548640"/>
          </a:xfrm>
          <a:prstGeom prst="rect">
            <a:avLst/>
          </a:prstGeom>
          <a:noFill/>
          <a:ln/>
        </p:spPr>
        <p:txBody>
          <a:bodyPr wrap="square" lIns="101600" tIns="101600" rIns="101600" bIns="1016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Docker compose · pytest + GitHub CI · JSONL traces, receipts, H-MEM ledgers</a:t>
            </a:r>
            <a:endParaRPr lang="en-US" sz="1500" dirty="0"/>
          </a:p>
        </p:txBody>
      </p:sp>
      <p:sp>
        <p:nvSpPr>
          <p:cNvPr id="24" name="Text 21"/>
          <p:cNvSpPr/>
          <p:nvPr/>
        </p:nvSpPr>
        <p:spPr>
          <a:xfrm>
            <a:off x="548640" y="6263640"/>
            <a:ext cx="10058400" cy="320040"/>
          </a:xfrm>
          <a:prstGeom prst="rect">
            <a:avLst/>
          </a:prstGeom>
          <a:noFill/>
          <a:ln/>
        </p:spPr>
        <p:txBody>
          <a:bodyPr wrap="square" lIns="0" tIns="0" rIns="0" bIns="0" rtlCol="0" anchor="t"/>
          <a:lstStyle/>
          <a:p>
            <a:pPr marL="0" indent="0" algn="l">
              <a:buNone/>
            </a:pPr>
            <a:r>
              <a:rPr lang="en-US" sz="1100" dirty="0">
                <a:solidFill>
                  <a:srgbClr val="9CA3AF"/>
                </a:solidFill>
                <a:latin typeface="Consolas" pitchFamily="34" charset="0"/>
                <a:ea typeface="Consolas" pitchFamily="34" charset="-122"/>
                <a:cs typeface="Consolas" pitchFamily="34" charset="-120"/>
              </a:rPr>
              <a:t>MIT licence · secrets only in a local .env (gitignored) · secret scan clean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Evidence it works: a pre-registered benchmark run</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TableBench, n = 361, single run, no tuning (docs/V11_RESULTS.md) · benchmark lane, not the live KPI pipeline</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10</a:t>
            </a:r>
            <a:endParaRPr lang="en-US" sz="1100" dirty="0"/>
          </a:p>
        </p:txBody>
      </p:sp>
      <p:sp>
        <p:nvSpPr>
          <p:cNvPr id="6" name="Shape 3"/>
          <p:cNvSpPr/>
          <p:nvPr/>
        </p:nvSpPr>
        <p:spPr>
          <a:xfrm>
            <a:off x="320040" y="1463040"/>
            <a:ext cx="11548872" cy="4800600"/>
          </a:xfrm>
          <a:prstGeom prst="roundRect">
            <a:avLst>
              <a:gd name="adj" fmla="val 1905"/>
            </a:avLst>
          </a:prstGeom>
          <a:solidFill>
            <a:srgbClr val="0B0B0B"/>
          </a:solidFill>
          <a:ln w="15875">
            <a:solidFill>
              <a:srgbClr val="FBBF24"/>
            </a:solidFill>
            <a:prstDash val="dash"/>
          </a:ln>
        </p:spPr>
      </p:sp>
      <p:sp>
        <p:nvSpPr>
          <p:cNvPr id="7" name="Text 4"/>
          <p:cNvSpPr/>
          <p:nvPr/>
        </p:nvSpPr>
        <p:spPr>
          <a:xfrm>
            <a:off x="502920" y="1536192"/>
            <a:ext cx="11183112" cy="292608"/>
          </a:xfrm>
          <a:prstGeom prst="rect">
            <a:avLst/>
          </a:prstGeom>
          <a:noFill/>
          <a:ln/>
        </p:spPr>
        <p:txBody>
          <a:bodyPr wrap="square" lIns="0" tIns="0" rIns="0" bIns="0" rtlCol="0" anchor="ctr"/>
          <a:lstStyle/>
          <a:p>
            <a:pPr marL="0" indent="0">
              <a:buNone/>
            </a:pPr>
            <a:r>
              <a:rPr lang="en-US" sz="1300" dirty="0">
                <a:solidFill>
                  <a:srgbClr val="FBBF24"/>
                </a:solidFill>
                <a:latin typeface="Consolas" pitchFamily="34" charset="0"/>
                <a:ea typeface="Consolas" pitchFamily="34" charset="-122"/>
                <a:cs typeface="Consolas" pitchFamily="34" charset="-120"/>
              </a:rPr>
              <a:t>B · BENCHMARK-ONLY: bench/run.py · V7 answers + V9_full confidence</a:t>
            </a:r>
            <a:endParaRPr lang="en-US" sz="1300" dirty="0"/>
          </a:p>
        </p:txBody>
      </p:sp>
      <p:sp>
        <p:nvSpPr>
          <p:cNvPr id="8" name="Text 5"/>
          <p:cNvSpPr/>
          <p:nvPr/>
        </p:nvSpPr>
        <p:spPr>
          <a:xfrm>
            <a:off x="731520" y="2103120"/>
            <a:ext cx="1463040" cy="548640"/>
          </a:xfrm>
          <a:prstGeom prst="rect">
            <a:avLst/>
          </a:prstGeom>
          <a:noFill/>
          <a:ln/>
        </p:spPr>
        <p:txBody>
          <a:bodyPr wrap="square" lIns="0" tIns="0" rIns="0" bIns="0" rtlCol="0" anchor="ctr"/>
          <a:lstStyle/>
          <a:p>
            <a:pPr marL="0" indent="0" algn="l">
              <a:buNone/>
            </a:pPr>
            <a:r>
              <a:rPr lang="en-US" sz="1400" dirty="0">
                <a:solidFill>
                  <a:srgbClr val="FFFFFF"/>
                </a:solidFill>
                <a:latin typeface="Consolas" pitchFamily="34" charset="0"/>
                <a:ea typeface="Consolas" pitchFamily="34" charset="-122"/>
                <a:cs typeface="Consolas" pitchFamily="34" charset="-120"/>
              </a:rPr>
              <a:t>V7 agent</a:t>
            </a:r>
            <a:endParaRPr lang="en-US" sz="1400" dirty="0"/>
          </a:p>
        </p:txBody>
      </p:sp>
      <p:sp>
        <p:nvSpPr>
          <p:cNvPr id="9" name="Shape 6"/>
          <p:cNvSpPr/>
          <p:nvPr/>
        </p:nvSpPr>
        <p:spPr>
          <a:xfrm>
            <a:off x="2286000" y="2194560"/>
            <a:ext cx="2938272" cy="365760"/>
          </a:xfrm>
          <a:prstGeom prst="rect">
            <a:avLst/>
          </a:prstGeom>
          <a:solidFill>
            <a:srgbClr val="22D3EE"/>
          </a:solidFill>
          <a:ln w="12700">
            <a:solidFill>
              <a:srgbClr val="22D3EE"/>
            </a:solidFill>
            <a:prstDash val="solid"/>
          </a:ln>
        </p:spPr>
      </p:sp>
      <p:sp>
        <p:nvSpPr>
          <p:cNvPr id="10" name="Text 7"/>
          <p:cNvSpPr/>
          <p:nvPr/>
        </p:nvSpPr>
        <p:spPr>
          <a:xfrm>
            <a:off x="5315712" y="2103120"/>
            <a:ext cx="1005840" cy="548640"/>
          </a:xfrm>
          <a:prstGeom prst="rect">
            <a:avLst/>
          </a:prstGeom>
          <a:noFill/>
          <a:ln/>
        </p:spPr>
        <p:txBody>
          <a:bodyPr wrap="square" lIns="0" tIns="0" rIns="0" bIns="0" rtlCol="0" anchor="ctr"/>
          <a:lstStyle/>
          <a:p>
            <a:pPr marL="0" indent="0" algn="l">
              <a:buNone/>
            </a:pPr>
            <a:r>
              <a:rPr lang="en-US" sz="1800" b="1" dirty="0">
                <a:solidFill>
                  <a:srgbClr val="FFFFFF"/>
                </a:solidFill>
                <a:latin typeface="Consolas" pitchFamily="34" charset="0"/>
                <a:ea typeface="Consolas" pitchFamily="34" charset="-122"/>
                <a:cs typeface="Consolas" pitchFamily="34" charset="-120"/>
              </a:rPr>
              <a:t>48.2%</a:t>
            </a:r>
            <a:endParaRPr lang="en-US" sz="1800" dirty="0"/>
          </a:p>
        </p:txBody>
      </p:sp>
      <p:sp>
        <p:nvSpPr>
          <p:cNvPr id="11" name="Text 8"/>
          <p:cNvSpPr/>
          <p:nvPr/>
        </p:nvSpPr>
        <p:spPr>
          <a:xfrm>
            <a:off x="731520" y="3017520"/>
            <a:ext cx="1463040" cy="548640"/>
          </a:xfrm>
          <a:prstGeom prst="rect">
            <a:avLst/>
          </a:prstGeom>
          <a:noFill/>
          <a:ln/>
        </p:spPr>
        <p:txBody>
          <a:bodyPr wrap="square" lIns="0" tIns="0" rIns="0" bIns="0" rtlCol="0" anchor="ctr"/>
          <a:lstStyle/>
          <a:p>
            <a:pPr marL="0" indent="0" algn="l">
              <a:buNone/>
            </a:pPr>
            <a:r>
              <a:rPr lang="en-US" sz="1400" dirty="0">
                <a:solidFill>
                  <a:srgbClr val="FFFFFF"/>
                </a:solidFill>
                <a:latin typeface="Consolas" pitchFamily="34" charset="0"/>
                <a:ea typeface="Consolas" pitchFamily="34" charset="-122"/>
                <a:cs typeface="Consolas" pitchFamily="34" charset="-120"/>
              </a:rPr>
              <a:t>plain RAG</a:t>
            </a:r>
            <a:endParaRPr lang="en-US" sz="1400" dirty="0"/>
          </a:p>
        </p:txBody>
      </p:sp>
      <p:sp>
        <p:nvSpPr>
          <p:cNvPr id="12" name="Shape 9"/>
          <p:cNvSpPr/>
          <p:nvPr/>
        </p:nvSpPr>
        <p:spPr>
          <a:xfrm>
            <a:off x="2286000" y="3108960"/>
            <a:ext cx="1993392" cy="365760"/>
          </a:xfrm>
          <a:prstGeom prst="rect">
            <a:avLst/>
          </a:prstGeom>
          <a:solidFill>
            <a:srgbClr val="9CA3AF"/>
          </a:solidFill>
          <a:ln w="12700">
            <a:solidFill>
              <a:srgbClr val="9CA3AF"/>
            </a:solidFill>
            <a:prstDash val="solid"/>
          </a:ln>
        </p:spPr>
      </p:sp>
      <p:sp>
        <p:nvSpPr>
          <p:cNvPr id="13" name="Text 10"/>
          <p:cNvSpPr/>
          <p:nvPr/>
        </p:nvSpPr>
        <p:spPr>
          <a:xfrm>
            <a:off x="4370832" y="3017520"/>
            <a:ext cx="1005840" cy="548640"/>
          </a:xfrm>
          <a:prstGeom prst="rect">
            <a:avLst/>
          </a:prstGeom>
          <a:noFill/>
          <a:ln/>
        </p:spPr>
        <p:txBody>
          <a:bodyPr wrap="square" lIns="0" tIns="0" rIns="0" bIns="0" rtlCol="0" anchor="ctr"/>
          <a:lstStyle/>
          <a:p>
            <a:pPr marL="0" indent="0" algn="l">
              <a:buNone/>
            </a:pPr>
            <a:r>
              <a:rPr lang="en-US" sz="1800" b="1" dirty="0">
                <a:solidFill>
                  <a:srgbClr val="FFFFFF"/>
                </a:solidFill>
                <a:latin typeface="Consolas" pitchFamily="34" charset="0"/>
                <a:ea typeface="Consolas" pitchFamily="34" charset="-122"/>
                <a:cs typeface="Consolas" pitchFamily="34" charset="-120"/>
              </a:rPr>
              <a:t>32.7%</a:t>
            </a:r>
            <a:endParaRPr lang="en-US" sz="1800" dirty="0"/>
          </a:p>
        </p:txBody>
      </p:sp>
      <p:sp>
        <p:nvSpPr>
          <p:cNvPr id="14" name="Text 11"/>
          <p:cNvSpPr/>
          <p:nvPr/>
        </p:nvSpPr>
        <p:spPr>
          <a:xfrm>
            <a:off x="731520" y="3977640"/>
            <a:ext cx="5486400" cy="365760"/>
          </a:xfrm>
          <a:prstGeom prst="rect">
            <a:avLst/>
          </a:prstGeom>
          <a:noFill/>
          <a:ln/>
        </p:spPr>
        <p:txBody>
          <a:bodyPr wrap="square" lIns="0" tIns="0" rIns="0" bIns="0" rtlCol="0" anchor="t"/>
          <a:lstStyle/>
          <a:p>
            <a:pPr marL="0" indent="0" algn="l">
              <a:buNone/>
            </a:pPr>
            <a:r>
              <a:rPr lang="en-US" sz="1800" b="1" dirty="0">
                <a:solidFill>
                  <a:srgbClr val="22D3EE"/>
                </a:solidFill>
                <a:latin typeface="Calibri" pitchFamily="34" charset="0"/>
                <a:ea typeface="Calibri" pitchFamily="34" charset="-122"/>
                <a:cs typeface="Calibri" pitchFamily="34" charset="-120"/>
              </a:rPr>
              <a:t>+15.5 pp (95% CI +11.1 to +20.2)</a:t>
            </a:r>
            <a:endParaRPr lang="en-US" sz="1800" dirty="0"/>
          </a:p>
        </p:txBody>
      </p:sp>
      <p:sp>
        <p:nvSpPr>
          <p:cNvPr id="15" name="Text 12"/>
          <p:cNvSpPr/>
          <p:nvPr/>
        </p:nvSpPr>
        <p:spPr>
          <a:xfrm>
            <a:off x="731520" y="4343400"/>
            <a:ext cx="5486400" cy="32004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semantic accuracy, paired bootstrap</a:t>
            </a:r>
            <a:endParaRPr lang="en-US" sz="1400" dirty="0"/>
          </a:p>
        </p:txBody>
      </p:sp>
      <p:sp>
        <p:nvSpPr>
          <p:cNvPr id="16" name="Shape 13"/>
          <p:cNvSpPr/>
          <p:nvPr/>
        </p:nvSpPr>
        <p:spPr>
          <a:xfrm>
            <a:off x="6400800" y="1965960"/>
            <a:ext cx="2560320" cy="1508760"/>
          </a:xfrm>
          <a:prstGeom prst="roundRect">
            <a:avLst>
              <a:gd name="adj" fmla="val 4848"/>
            </a:avLst>
          </a:prstGeom>
          <a:solidFill>
            <a:srgbClr val="0B0B0B"/>
          </a:solidFill>
          <a:ln w="12700">
            <a:solidFill>
              <a:srgbClr val="FFFFFF"/>
            </a:solidFill>
            <a:prstDash val="solid"/>
          </a:ln>
        </p:spPr>
      </p:sp>
      <p:sp>
        <p:nvSpPr>
          <p:cNvPr id="17" name="Text 14"/>
          <p:cNvSpPr/>
          <p:nvPr/>
        </p:nvSpPr>
        <p:spPr>
          <a:xfrm>
            <a:off x="6455664" y="2002536"/>
            <a:ext cx="2450592" cy="1435608"/>
          </a:xfrm>
          <a:prstGeom prst="rect">
            <a:avLst/>
          </a:prstGeom>
          <a:noFill/>
          <a:ln/>
        </p:spPr>
        <p:txBody>
          <a:bodyPr wrap="square" lIns="25400" tIns="25400" rIns="25400" bIns="2540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0.834</a:t>
            </a:r>
            <a:endParaRPr lang="en-US" sz="2600" dirty="0"/>
          </a:p>
          <a:p>
            <a:pPr marL="0" indent="0" algn="ctr">
              <a:buNone/>
            </a:pPr>
            <a:r>
              <a:rPr lang="en-US" sz="1200" dirty="0">
                <a:solidFill>
                  <a:srgbClr val="9CA3AF"/>
                </a:solidFill>
                <a:latin typeface="Calibri" pitchFamily="34" charset="0"/>
                <a:ea typeface="Calibri" pitchFamily="34" charset="-122"/>
                <a:cs typeface="Calibri" pitchFamily="34" charset="-120"/>
              </a:rPr>
              <a:t>V9_full confidence AUROC</a:t>
            </a:r>
            <a:endParaRPr lang="en-US" sz="2600" dirty="0"/>
          </a:p>
        </p:txBody>
      </p:sp>
      <p:sp>
        <p:nvSpPr>
          <p:cNvPr id="18" name="Shape 15"/>
          <p:cNvSpPr/>
          <p:nvPr/>
        </p:nvSpPr>
        <p:spPr>
          <a:xfrm>
            <a:off x="9098280" y="1965960"/>
            <a:ext cx="2560320" cy="1508760"/>
          </a:xfrm>
          <a:prstGeom prst="roundRect">
            <a:avLst>
              <a:gd name="adj" fmla="val 4848"/>
            </a:avLst>
          </a:prstGeom>
          <a:solidFill>
            <a:srgbClr val="0B0B0B"/>
          </a:solidFill>
          <a:ln w="12700">
            <a:solidFill>
              <a:srgbClr val="FFFFFF"/>
            </a:solidFill>
            <a:prstDash val="solid"/>
          </a:ln>
        </p:spPr>
      </p:sp>
      <p:sp>
        <p:nvSpPr>
          <p:cNvPr id="19" name="Text 16"/>
          <p:cNvSpPr/>
          <p:nvPr/>
        </p:nvSpPr>
        <p:spPr>
          <a:xfrm>
            <a:off x="9153144" y="2002536"/>
            <a:ext cx="2450592" cy="1435608"/>
          </a:xfrm>
          <a:prstGeom prst="rect">
            <a:avLst/>
          </a:prstGeom>
          <a:noFill/>
          <a:ln/>
        </p:spPr>
        <p:txBody>
          <a:bodyPr wrap="square" lIns="25400" tIns="25400" rIns="25400" bIns="2540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36.6% → 77.3%</a:t>
            </a:r>
            <a:endParaRPr lang="en-US" sz="1700" dirty="0"/>
          </a:p>
          <a:p>
            <a:pPr marL="0" indent="0" algn="ctr">
              <a:buNone/>
            </a:pPr>
            <a:r>
              <a:rPr lang="en-US" sz="1200" dirty="0">
                <a:solidFill>
                  <a:srgbClr val="9CA3AF"/>
                </a:solidFill>
                <a:latin typeface="Calibri" pitchFamily="34" charset="0"/>
                <a:ea typeface="Calibri" pitchFamily="34" charset="-122"/>
                <a:cs typeface="Calibri" pitchFamily="34" charset="-120"/>
              </a:rPr>
              <a:t>answers 36.6% of questions,</a:t>
            </a:r>
            <a:endParaRPr lang="en-US" sz="1700" dirty="0"/>
          </a:p>
          <a:p>
            <a:pPr marL="0" indent="0" algn="ctr">
              <a:buNone/>
            </a:pPr>
            <a:r>
              <a:rPr lang="en-US" sz="1200" dirty="0">
                <a:solidFill>
                  <a:srgbClr val="9CA3AF"/>
                </a:solidFill>
                <a:latin typeface="Calibri" pitchFamily="34" charset="0"/>
                <a:ea typeface="Calibri" pitchFamily="34" charset="-122"/>
                <a:cs typeface="Calibri" pitchFamily="34" charset="-120"/>
              </a:rPr>
              <a:t>77.3% accurate when it answers</a:t>
            </a:r>
            <a:endParaRPr lang="en-US" sz="1700" dirty="0"/>
          </a:p>
        </p:txBody>
      </p:sp>
      <p:sp>
        <p:nvSpPr>
          <p:cNvPr id="20" name="Shape 17"/>
          <p:cNvSpPr/>
          <p:nvPr/>
        </p:nvSpPr>
        <p:spPr>
          <a:xfrm>
            <a:off x="6400800" y="3657600"/>
            <a:ext cx="2560320" cy="1508760"/>
          </a:xfrm>
          <a:prstGeom prst="roundRect">
            <a:avLst>
              <a:gd name="adj" fmla="val 4848"/>
            </a:avLst>
          </a:prstGeom>
          <a:solidFill>
            <a:srgbClr val="0B0B0B"/>
          </a:solidFill>
          <a:ln w="12700">
            <a:solidFill>
              <a:srgbClr val="FFFFFF"/>
            </a:solidFill>
            <a:prstDash val="solid"/>
          </a:ln>
        </p:spPr>
      </p:sp>
      <p:sp>
        <p:nvSpPr>
          <p:cNvPr id="21" name="Text 18"/>
          <p:cNvSpPr/>
          <p:nvPr/>
        </p:nvSpPr>
        <p:spPr>
          <a:xfrm>
            <a:off x="6455664" y="3694176"/>
            <a:ext cx="2450592" cy="1435608"/>
          </a:xfrm>
          <a:prstGeom prst="rect">
            <a:avLst/>
          </a:prstGeom>
          <a:noFill/>
          <a:ln/>
        </p:spPr>
        <p:txBody>
          <a:bodyPr wrap="square" lIns="25400" tIns="25400" rIns="25400" bIns="2540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8.3%</a:t>
            </a:r>
            <a:endParaRPr lang="en-US" sz="2600" dirty="0"/>
          </a:p>
          <a:p>
            <a:pPr marL="0" indent="0" algn="ctr">
              <a:buNone/>
            </a:pPr>
            <a:r>
              <a:rPr lang="en-US" sz="1200" dirty="0">
                <a:solidFill>
                  <a:srgbClr val="9CA3AF"/>
                </a:solidFill>
                <a:latin typeface="Calibri" pitchFamily="34" charset="0"/>
                <a:ea typeface="Calibri" pitchFamily="34" charset="-122"/>
                <a:cs typeface="Calibri" pitchFamily="34" charset="-120"/>
              </a:rPr>
              <a:t>wrong answers given, of all</a:t>
            </a:r>
            <a:endParaRPr lang="en-US" sz="2600" dirty="0"/>
          </a:p>
          <a:p>
            <a:pPr marL="0" indent="0" algn="ctr">
              <a:buNone/>
            </a:pPr>
            <a:r>
              <a:rPr lang="en-US" sz="1200" dirty="0">
                <a:solidFill>
                  <a:srgbClr val="9CA3AF"/>
                </a:solidFill>
                <a:latin typeface="Calibri" pitchFamily="34" charset="0"/>
                <a:ea typeface="Calibri" pitchFamily="34" charset="-122"/>
                <a:cs typeface="Calibri" pitchFamily="34" charset="-120"/>
              </a:rPr>
              <a:t>questions (target ≤ 10%)</a:t>
            </a:r>
            <a:endParaRPr lang="en-US" sz="2600" dirty="0"/>
          </a:p>
        </p:txBody>
      </p:sp>
      <p:sp>
        <p:nvSpPr>
          <p:cNvPr id="22" name="Shape 19"/>
          <p:cNvSpPr/>
          <p:nvPr/>
        </p:nvSpPr>
        <p:spPr>
          <a:xfrm>
            <a:off x="9098280" y="3657600"/>
            <a:ext cx="2560320" cy="1508760"/>
          </a:xfrm>
          <a:prstGeom prst="roundRect">
            <a:avLst>
              <a:gd name="adj" fmla="val 4848"/>
            </a:avLst>
          </a:prstGeom>
          <a:solidFill>
            <a:srgbClr val="0B0B0B"/>
          </a:solidFill>
          <a:ln w="12700">
            <a:solidFill>
              <a:srgbClr val="FFFFFF"/>
            </a:solidFill>
            <a:prstDash val="solid"/>
          </a:ln>
        </p:spPr>
      </p:sp>
      <p:sp>
        <p:nvSpPr>
          <p:cNvPr id="23" name="Text 20"/>
          <p:cNvSpPr/>
          <p:nvPr/>
        </p:nvSpPr>
        <p:spPr>
          <a:xfrm>
            <a:off x="9153144" y="3694176"/>
            <a:ext cx="2450592" cy="1435608"/>
          </a:xfrm>
          <a:prstGeom prst="rect">
            <a:avLst/>
          </a:prstGeom>
          <a:noFill/>
          <a:ln/>
        </p:spPr>
        <p:txBody>
          <a:bodyPr wrap="square" lIns="25400" tIns="25400" rIns="25400" bIns="2540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+0.199 vs −0.346</a:t>
            </a:r>
            <a:endParaRPr lang="en-US" sz="1700" dirty="0"/>
          </a:p>
          <a:p>
            <a:pPr marL="0" indent="0" algn="ctr">
              <a:buNone/>
            </a:pPr>
            <a:r>
              <a:rPr lang="en-US" sz="1200" dirty="0">
                <a:solidFill>
                  <a:srgbClr val="9CA3AF"/>
                </a:solidFill>
                <a:latin typeface="Calibri" pitchFamily="34" charset="0"/>
                <a:ea typeface="Calibri" pitchFamily="34" charset="-122"/>
                <a:cs typeface="Calibri" pitchFamily="34" charset="-120"/>
              </a:rPr>
              <a:t>net score (+1 right, −1 wrong,</a:t>
            </a:r>
            <a:endParaRPr lang="en-US" sz="1700" dirty="0"/>
          </a:p>
          <a:p>
            <a:pPr marL="0" indent="0" algn="ctr">
              <a:buNone/>
            </a:pPr>
            <a:r>
              <a:rPr lang="en-US" sz="1200" dirty="0">
                <a:solidFill>
                  <a:srgbClr val="9CA3AF"/>
                </a:solidFill>
                <a:latin typeface="Calibri" pitchFamily="34" charset="0"/>
                <a:ea typeface="Calibri" pitchFamily="34" charset="-122"/>
                <a:cs typeface="Calibri" pitchFamily="34" charset="-120"/>
              </a:rPr>
              <a:t>0 abstain): V7+V9 vs RAG</a:t>
            </a:r>
            <a:endParaRPr lang="en-US" sz="1700" dirty="0"/>
          </a:p>
        </p:txBody>
      </p:sp>
      <p:sp>
        <p:nvSpPr>
          <p:cNvPr id="24" name="Text 21"/>
          <p:cNvSpPr/>
          <p:nvPr/>
        </p:nvSpPr>
        <p:spPr>
          <a:xfrm>
            <a:off x="731520" y="5577840"/>
            <a:ext cx="10789920" cy="365760"/>
          </a:xfrm>
          <a:prstGeom prst="rect">
            <a:avLst/>
          </a:prstGeom>
          <a:noFill/>
          <a:ln/>
        </p:spPr>
        <p:txBody>
          <a:bodyPr wrap="square" lIns="0" tIns="0" rIns="0" bIns="0" rtlCol="0" anchor="t"/>
          <a:lstStyle/>
          <a:p>
            <a:pPr marL="0" indent="0" algn="l">
              <a:buNone/>
            </a:pPr>
            <a:r>
              <a:rPr lang="en-US" sz="1400" dirty="0">
                <a:solidFill>
                  <a:srgbClr val="FBBF24"/>
                </a:solidFill>
                <a:latin typeface="Calibri" pitchFamily="34" charset="0"/>
                <a:ea typeface="Calibri" pitchFamily="34" charset="-122"/>
                <a:cs typeface="Calibri" pitchFamily="34" charset="-120"/>
              </a:rPr>
              <a:t>The live KPI memo does not use V7 / V9: its confidence is the fixed formula in app/confidence.py.</a:t>
            </a:r>
            <a:endParaRPr lang="en-US" sz="1400" dirty="0"/>
          </a:p>
        </p:txBody>
      </p:sp>
      <p:sp>
        <p:nvSpPr>
          <p:cNvPr id="25" name="Text 22"/>
          <p:cNvSpPr/>
          <p:nvPr/>
        </p:nvSpPr>
        <p:spPr>
          <a:xfrm>
            <a:off x="548640" y="6419088"/>
            <a:ext cx="9144000" cy="274320"/>
          </a:xfrm>
          <a:prstGeom prst="rect">
            <a:avLst/>
          </a:prstGeom>
          <a:noFill/>
          <a:ln/>
        </p:spPr>
        <p:txBody>
          <a:bodyPr wrap="square" lIns="0" tIns="0" rIns="0" bIns="0" rtlCol="0" anchor="ctr"/>
          <a:lstStyle/>
          <a:p>
            <a:pPr marL="0" indent="0" algn="l">
              <a:buNone/>
            </a:pPr>
            <a:r>
              <a:rPr lang="en-US" sz="1100" dirty="0">
                <a:solidFill>
                  <a:srgbClr val="9CA3AF"/>
                </a:solidFill>
                <a:latin typeface="Consolas" pitchFamily="34" charset="0"/>
                <a:ea typeface="Consolas" pitchFamily="34" charset="-122"/>
                <a:cs typeface="Consolas" pitchFamily="34" charset="-120"/>
              </a:rPr>
              <a:t>Green = runs in the product today · Amber = benchmark harness only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Honest limits, and what comes next</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All numbers from the README Status section and the linked reports</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11</a:t>
            </a:r>
            <a:endParaRPr lang="en-US" sz="1100" dirty="0"/>
          </a:p>
        </p:txBody>
      </p:sp>
      <p:sp>
        <p:nvSpPr>
          <p:cNvPr id="6" name="Shape 3"/>
          <p:cNvSpPr/>
          <p:nvPr/>
        </p:nvSpPr>
        <p:spPr>
          <a:xfrm>
            <a:off x="320040" y="1463040"/>
            <a:ext cx="7178040" cy="4800600"/>
          </a:xfrm>
          <a:prstGeom prst="roundRect">
            <a:avLst>
              <a:gd name="adj" fmla="val 1905"/>
            </a:avLst>
          </a:prstGeom>
          <a:solidFill>
            <a:srgbClr val="0B0B0B"/>
          </a:solidFill>
          <a:ln w="15875">
            <a:solidFill>
              <a:srgbClr val="FBBF24"/>
            </a:solidFill>
            <a:prstDash val="dash"/>
          </a:ln>
        </p:spPr>
      </p:sp>
      <p:sp>
        <p:nvSpPr>
          <p:cNvPr id="7" name="Text 4"/>
          <p:cNvSpPr/>
          <p:nvPr/>
        </p:nvSpPr>
        <p:spPr>
          <a:xfrm>
            <a:off x="502920" y="1536192"/>
            <a:ext cx="6812280" cy="292608"/>
          </a:xfrm>
          <a:prstGeom prst="rect">
            <a:avLst/>
          </a:prstGeom>
          <a:noFill/>
          <a:ln/>
        </p:spPr>
        <p:txBody>
          <a:bodyPr wrap="square" lIns="0" tIns="0" rIns="0" bIns="0" rtlCol="0" anchor="ctr"/>
          <a:lstStyle/>
          <a:p>
            <a:pPr marL="0" indent="0">
              <a:buNone/>
            </a:pPr>
            <a:r>
              <a:rPr lang="en-US" sz="1300" dirty="0">
                <a:solidFill>
                  <a:srgbClr val="FBBF24"/>
                </a:solidFill>
                <a:latin typeface="Consolas" pitchFamily="34" charset="0"/>
                <a:ea typeface="Consolas" pitchFamily="34" charset="-122"/>
                <a:cs typeface="Consolas" pitchFamily="34" charset="-120"/>
              </a:rPr>
              <a:t>limits</a:t>
            </a:r>
            <a:endParaRPr lang="en-US" sz="1300" dirty="0"/>
          </a:p>
        </p:txBody>
      </p:sp>
      <p:sp>
        <p:nvSpPr>
          <p:cNvPr id="8" name="Text 5"/>
          <p:cNvSpPr/>
          <p:nvPr/>
        </p:nvSpPr>
        <p:spPr>
          <a:xfrm>
            <a:off x="594360" y="1920240"/>
            <a:ext cx="6675120" cy="804672"/>
          </a:xfrm>
          <a:prstGeom prst="rect">
            <a:avLst/>
          </a:prstGeom>
          <a:noFill/>
          <a:ln/>
        </p:spPr>
        <p:txBody>
          <a:bodyPr wrap="square" lIns="0" tIns="0" rIns="0" bIns="0" rtlCol="0" anchor="t"/>
          <a:lstStyle/>
          <a:p>
            <a:pPr marL="0" indent="0" algn="l">
              <a:buNone/>
            </a:pPr>
            <a:r>
              <a:rPr lang="en-US" sz="1600" b="1" dirty="0">
                <a:solidFill>
                  <a:srgbClr val="FFFFFF"/>
                </a:solidFill>
                <a:latin typeface="Calibri" pitchFamily="34" charset="0"/>
                <a:ea typeface="Calibri" pitchFamily="34" charset="-122"/>
                <a:cs typeface="Calibri" pitchFamily="34" charset="-120"/>
              </a:rPr>
              <a:t>traceability ≠ correctness</a:t>
            </a:r>
            <a:endParaRPr lang="en-US" sz="1600" dirty="0"/>
          </a:p>
          <a:p>
            <a:pPr marL="0" indent="0" algn="l">
              <a:buNone/>
            </a:pPr>
            <a:r>
              <a:rPr lang="en-US" sz="1400" dirty="0">
                <a:solidFill>
                  <a:srgbClr val="9CA3AF"/>
                </a:solidFill>
                <a:latin typeface="Calibri" pitchFamily="34" charset="0"/>
                <a:ea typeface="Calibri" pitchFamily="34" charset="-122"/>
                <a:cs typeface="Calibri" pitchFamily="34" charset="-120"/>
              </a:rPr>
              <a:t>140 of 171 wrong test500 answers passed the check</a:t>
            </a:r>
            <a:endParaRPr lang="en-US" sz="1600" dirty="0"/>
          </a:p>
        </p:txBody>
      </p:sp>
      <p:sp>
        <p:nvSpPr>
          <p:cNvPr id="9" name="Text 6"/>
          <p:cNvSpPr/>
          <p:nvPr/>
        </p:nvSpPr>
        <p:spPr>
          <a:xfrm>
            <a:off x="594360" y="2770632"/>
            <a:ext cx="6675120" cy="804672"/>
          </a:xfrm>
          <a:prstGeom prst="rect">
            <a:avLst/>
          </a:prstGeom>
          <a:noFill/>
          <a:ln/>
        </p:spPr>
        <p:txBody>
          <a:bodyPr wrap="square" lIns="0" tIns="0" rIns="0" bIns="0" rtlCol="0" anchor="t"/>
          <a:lstStyle/>
          <a:p>
            <a:pPr marL="0" indent="0" algn="l">
              <a:buNone/>
            </a:pPr>
            <a:r>
              <a:rPr lang="en-US" sz="1600" b="1" dirty="0">
                <a:solidFill>
                  <a:srgbClr val="FFFFFF"/>
                </a:solidFill>
                <a:latin typeface="Calibri" pitchFamily="34" charset="0"/>
                <a:ea typeface="Calibri" pitchFamily="34" charset="-122"/>
                <a:cs typeface="Calibri" pitchFamily="34" charset="-120"/>
              </a:rPr>
              <a:t>dev 21/22 vs plain RAG 12/22 is in-sample</a:t>
            </a:r>
            <a:endParaRPr lang="en-US" sz="1600" dirty="0"/>
          </a:p>
          <a:p>
            <a:pPr marL="0" indent="0" algn="l">
              <a:buNone/>
            </a:pPr>
            <a:r>
              <a:rPr lang="en-US" sz="1400" dirty="0">
                <a:solidFill>
                  <a:srgbClr val="9CA3AF"/>
                </a:solidFill>
                <a:latin typeface="Calibri" pitchFamily="34" charset="0"/>
                <a:ea typeface="Calibri" pitchFamily="34" charset="-122"/>
                <a:cs typeface="Calibri" pitchFamily="34" charset="-120"/>
              </a:rPr>
              <a:t>deterministic rules alone also score 21/22; plain RAG is below the trivial rule (13/22)</a:t>
            </a:r>
            <a:endParaRPr lang="en-US" sz="1600" dirty="0"/>
          </a:p>
        </p:txBody>
      </p:sp>
      <p:sp>
        <p:nvSpPr>
          <p:cNvPr id="10" name="Text 7"/>
          <p:cNvSpPr/>
          <p:nvPr/>
        </p:nvSpPr>
        <p:spPr>
          <a:xfrm>
            <a:off x="594360" y="3621024"/>
            <a:ext cx="6675120" cy="804672"/>
          </a:xfrm>
          <a:prstGeom prst="rect">
            <a:avLst/>
          </a:prstGeom>
          <a:noFill/>
          <a:ln/>
        </p:spPr>
        <p:txBody>
          <a:bodyPr wrap="square" lIns="0" tIns="0" rIns="0" bIns="0" rtlCol="0" anchor="t"/>
          <a:lstStyle/>
          <a:p>
            <a:pPr marL="0" indent="0" algn="l">
              <a:buNone/>
            </a:pPr>
            <a:r>
              <a:rPr lang="en-US" sz="1600" b="1" dirty="0">
                <a:solidFill>
                  <a:srgbClr val="FFFFFF"/>
                </a:solidFill>
                <a:latin typeface="Calibri" pitchFamily="34" charset="0"/>
                <a:ea typeface="Calibri" pitchFamily="34" charset="-122"/>
                <a:cs typeface="Calibri" pitchFamily="34" charset="-120"/>
              </a:rPr>
              <a:t>V9 confidence on hard sets</a:t>
            </a:r>
            <a:endParaRPr lang="en-US" sz="1600" dirty="0"/>
          </a:p>
          <a:p>
            <a:pPr marL="0" indent="0" algn="l">
              <a:buNone/>
            </a:pPr>
            <a:r>
              <a:rPr lang="en-US" sz="1400" dirty="0">
                <a:solidFill>
                  <a:srgbClr val="9CA3AF"/>
                </a:solidFill>
                <a:latin typeface="Calibri" pitchFamily="34" charset="0"/>
                <a:ea typeface="Calibri" pitchFamily="34" charset="-122"/>
                <a:cs typeface="Calibri" pitchFamily="34" charset="-120"/>
              </a:rPr>
              <a:t>not better than cheap signals; conformal guarantee fails on DocFinQA</a:t>
            </a:r>
            <a:endParaRPr lang="en-US" sz="1600" dirty="0"/>
          </a:p>
        </p:txBody>
      </p:sp>
      <p:sp>
        <p:nvSpPr>
          <p:cNvPr id="11" name="Text 8"/>
          <p:cNvSpPr/>
          <p:nvPr/>
        </p:nvSpPr>
        <p:spPr>
          <a:xfrm>
            <a:off x="594360" y="4471416"/>
            <a:ext cx="6675120" cy="804672"/>
          </a:xfrm>
          <a:prstGeom prst="rect">
            <a:avLst/>
          </a:prstGeom>
          <a:noFill/>
          <a:ln/>
        </p:spPr>
        <p:txBody>
          <a:bodyPr wrap="square" lIns="0" tIns="0" rIns="0" bIns="0" rtlCol="0" anchor="t"/>
          <a:lstStyle/>
          <a:p>
            <a:pPr marL="0" indent="0" algn="l">
              <a:buNone/>
            </a:pPr>
            <a:r>
              <a:rPr lang="en-US" sz="1600" b="1" dirty="0">
                <a:solidFill>
                  <a:srgbClr val="FFFFFF"/>
                </a:solidFill>
                <a:latin typeface="Calibri" pitchFamily="34" charset="0"/>
                <a:ea typeface="Calibri" pitchFamily="34" charset="-122"/>
                <a:cs typeface="Calibri" pitchFamily="34" charset="-120"/>
              </a:rPr>
              <a:t>narrative check over-flags</a:t>
            </a:r>
            <a:endParaRPr lang="en-US" sz="1600" dirty="0"/>
          </a:p>
          <a:p>
            <a:pPr marL="0" indent="0" algn="l">
              <a:buNone/>
            </a:pPr>
            <a:r>
              <a:rPr lang="en-US" sz="1400" dirty="0">
                <a:solidFill>
                  <a:srgbClr val="9CA3AF"/>
                </a:solidFill>
                <a:latin typeface="Calibri" pitchFamily="34" charset="0"/>
                <a:ea typeface="Calibri" pitchFamily="34" charset="-122"/>
                <a:cs typeface="Calibri" pitchFamily="34" charset="-120"/>
              </a:rPr>
              <a:t>173 of 400 correct answers flagged (43%)</a:t>
            </a:r>
            <a:endParaRPr lang="en-US" sz="1600" dirty="0"/>
          </a:p>
        </p:txBody>
      </p:sp>
      <p:sp>
        <p:nvSpPr>
          <p:cNvPr id="12" name="Text 9"/>
          <p:cNvSpPr/>
          <p:nvPr/>
        </p:nvSpPr>
        <p:spPr>
          <a:xfrm>
            <a:off x="594360" y="5321808"/>
            <a:ext cx="6675120" cy="804672"/>
          </a:xfrm>
          <a:prstGeom prst="rect">
            <a:avLst/>
          </a:prstGeom>
          <a:noFill/>
          <a:ln/>
        </p:spPr>
        <p:txBody>
          <a:bodyPr wrap="square" lIns="0" tIns="0" rIns="0" bIns="0" rtlCol="0" anchor="t"/>
          <a:lstStyle/>
          <a:p>
            <a:pPr marL="0" indent="0" algn="l">
              <a:buNone/>
            </a:pPr>
            <a:r>
              <a:rPr lang="en-US" sz="1600" b="1" dirty="0">
                <a:solidFill>
                  <a:srgbClr val="FFFFFF"/>
                </a:solidFill>
                <a:latin typeface="Calibri" pitchFamily="34" charset="0"/>
                <a:ea typeface="Calibri" pitchFamily="34" charset="-122"/>
                <a:cs typeface="Calibri" pitchFamily="34" charset="-120"/>
              </a:rPr>
              <a:t>abstains often</a:t>
            </a:r>
            <a:endParaRPr lang="en-US" sz="1600" dirty="0"/>
          </a:p>
          <a:p>
            <a:pPr marL="0" indent="0" algn="l">
              <a:buNone/>
            </a:pPr>
            <a:r>
              <a:rPr lang="en-US" sz="1400" dirty="0">
                <a:solidFill>
                  <a:srgbClr val="9CA3AF"/>
                </a:solidFill>
                <a:latin typeface="Calibri" pitchFamily="34" charset="0"/>
                <a:ea typeface="Calibri" pitchFamily="34" charset="-122"/>
                <a:cs typeface="Calibri" pitchFamily="34" charset="-120"/>
              </a:rPr>
              <a:t>63% of TableBench questions get no answer</a:t>
            </a:r>
            <a:endParaRPr lang="en-US" sz="1600" dirty="0"/>
          </a:p>
        </p:txBody>
      </p:sp>
      <p:sp>
        <p:nvSpPr>
          <p:cNvPr id="13" name="Shape 10"/>
          <p:cNvSpPr/>
          <p:nvPr/>
        </p:nvSpPr>
        <p:spPr>
          <a:xfrm>
            <a:off x="7726680" y="1463040"/>
            <a:ext cx="4142232" cy="4800600"/>
          </a:xfrm>
          <a:prstGeom prst="roundRect">
            <a:avLst>
              <a:gd name="adj" fmla="val 2208"/>
            </a:avLst>
          </a:prstGeom>
          <a:solidFill>
            <a:srgbClr val="0B0B0B"/>
          </a:solidFill>
          <a:ln w="15875">
            <a:solidFill>
              <a:srgbClr val="22D3EE"/>
            </a:solidFill>
            <a:prstDash val="dash"/>
          </a:ln>
        </p:spPr>
      </p:sp>
      <p:sp>
        <p:nvSpPr>
          <p:cNvPr id="14" name="Text 11"/>
          <p:cNvSpPr/>
          <p:nvPr/>
        </p:nvSpPr>
        <p:spPr>
          <a:xfrm>
            <a:off x="7909560" y="1536192"/>
            <a:ext cx="3776472" cy="292608"/>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next steps</a:t>
            </a:r>
            <a:endParaRPr lang="en-US" sz="1300" dirty="0"/>
          </a:p>
        </p:txBody>
      </p:sp>
      <p:sp>
        <p:nvSpPr>
          <p:cNvPr id="15" name="Shape 12"/>
          <p:cNvSpPr/>
          <p:nvPr/>
        </p:nvSpPr>
        <p:spPr>
          <a:xfrm>
            <a:off x="7955280" y="1965960"/>
            <a:ext cx="3685032" cy="841248"/>
          </a:xfrm>
          <a:prstGeom prst="roundRect">
            <a:avLst>
              <a:gd name="adj" fmla="val 8696"/>
            </a:avLst>
          </a:prstGeom>
          <a:solidFill>
            <a:srgbClr val="0B0B0B"/>
          </a:solidFill>
          <a:ln w="12700">
            <a:solidFill>
              <a:srgbClr val="FFFFFF"/>
            </a:solidFill>
            <a:prstDash val="solid"/>
          </a:ln>
        </p:spPr>
      </p:sp>
      <p:sp>
        <p:nvSpPr>
          <p:cNvPr id="16" name="Text 13"/>
          <p:cNvSpPr/>
          <p:nvPr/>
        </p:nvSpPr>
        <p:spPr>
          <a:xfrm>
            <a:off x="8010144" y="2002536"/>
            <a:ext cx="3575304" cy="768096"/>
          </a:xfrm>
          <a:prstGeom prst="rect">
            <a:avLst/>
          </a:prstGeom>
          <a:noFill/>
          <a:ln/>
        </p:spPr>
        <p:txBody>
          <a:bodyPr wrap="square" lIns="76200" tIns="76200" rIns="76200" bIns="762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sign / scale / range checks on numbers</a:t>
            </a:r>
            <a:endParaRPr lang="en-US" sz="1500" dirty="0"/>
          </a:p>
        </p:txBody>
      </p:sp>
      <p:sp>
        <p:nvSpPr>
          <p:cNvPr id="17" name="Shape 14"/>
          <p:cNvSpPr/>
          <p:nvPr/>
        </p:nvSpPr>
        <p:spPr>
          <a:xfrm>
            <a:off x="7955280" y="2990088"/>
            <a:ext cx="3685032" cy="841248"/>
          </a:xfrm>
          <a:prstGeom prst="roundRect">
            <a:avLst>
              <a:gd name="adj" fmla="val 8696"/>
            </a:avLst>
          </a:prstGeom>
          <a:solidFill>
            <a:srgbClr val="0B0B0B"/>
          </a:solidFill>
          <a:ln w="12700">
            <a:solidFill>
              <a:srgbClr val="FFFFFF"/>
            </a:solidFill>
            <a:prstDash val="solid"/>
          </a:ln>
        </p:spPr>
      </p:sp>
      <p:sp>
        <p:nvSpPr>
          <p:cNvPr id="18" name="Text 15"/>
          <p:cNvSpPr/>
          <p:nvPr/>
        </p:nvSpPr>
        <p:spPr>
          <a:xfrm>
            <a:off x="8010144" y="3026664"/>
            <a:ext cx="3575304" cy="768096"/>
          </a:xfrm>
          <a:prstGeom prst="rect">
            <a:avLst/>
          </a:prstGeom>
          <a:noFill/>
          <a:ln/>
        </p:spPr>
        <p:txBody>
          <a:bodyPr wrap="square" lIns="76200" tIns="76200" rIns="76200" bIns="762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Markovian control in the app (today: benchmark only)</a:t>
            </a:r>
            <a:endParaRPr lang="en-US" sz="1500" dirty="0"/>
          </a:p>
        </p:txBody>
      </p:sp>
      <p:sp>
        <p:nvSpPr>
          <p:cNvPr id="19" name="Shape 16"/>
          <p:cNvSpPr/>
          <p:nvPr/>
        </p:nvSpPr>
        <p:spPr>
          <a:xfrm>
            <a:off x="7955280" y="4014216"/>
            <a:ext cx="3685032" cy="841248"/>
          </a:xfrm>
          <a:prstGeom prst="roundRect">
            <a:avLst>
              <a:gd name="adj" fmla="val 8696"/>
            </a:avLst>
          </a:prstGeom>
          <a:solidFill>
            <a:srgbClr val="0B0B0B"/>
          </a:solidFill>
          <a:ln w="12700">
            <a:solidFill>
              <a:srgbClr val="FFFFFF"/>
            </a:solidFill>
            <a:prstDash val="solid"/>
          </a:ln>
        </p:spPr>
      </p:sp>
      <p:sp>
        <p:nvSpPr>
          <p:cNvPr id="20" name="Text 17"/>
          <p:cNvSpPr/>
          <p:nvPr/>
        </p:nvSpPr>
        <p:spPr>
          <a:xfrm>
            <a:off x="8010144" y="4050792"/>
            <a:ext cx="3575304" cy="768096"/>
          </a:xfrm>
          <a:prstGeom prst="rect">
            <a:avLst/>
          </a:prstGeom>
          <a:noFill/>
          <a:ln/>
        </p:spPr>
        <p:txBody>
          <a:bodyPr wrap="square" lIns="76200" tIns="76200" rIns="76200" bIns="762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a non-author evaluation set</a:t>
            </a:r>
            <a:endParaRPr lang="en-US" sz="1500" dirty="0"/>
          </a:p>
        </p:txBody>
      </p:sp>
      <p:sp>
        <p:nvSpPr>
          <p:cNvPr id="21" name="Shape 18"/>
          <p:cNvSpPr/>
          <p:nvPr/>
        </p:nvSpPr>
        <p:spPr>
          <a:xfrm>
            <a:off x="7955280" y="5038344"/>
            <a:ext cx="3685032" cy="841248"/>
          </a:xfrm>
          <a:prstGeom prst="roundRect">
            <a:avLst>
              <a:gd name="adj" fmla="val 8696"/>
            </a:avLst>
          </a:prstGeom>
          <a:solidFill>
            <a:srgbClr val="0B0B0B"/>
          </a:solidFill>
          <a:ln w="12700">
            <a:solidFill>
              <a:srgbClr val="FFFFFF"/>
            </a:solidFill>
            <a:prstDash val="solid"/>
          </a:ln>
        </p:spPr>
      </p:sp>
      <p:sp>
        <p:nvSpPr>
          <p:cNvPr id="22" name="Text 19"/>
          <p:cNvSpPr/>
          <p:nvPr/>
        </p:nvSpPr>
        <p:spPr>
          <a:xfrm>
            <a:off x="8010144" y="5074920"/>
            <a:ext cx="3575304" cy="768096"/>
          </a:xfrm>
          <a:prstGeom prst="rect">
            <a:avLst/>
          </a:prstGeom>
          <a:noFill/>
          <a:ln/>
        </p:spPr>
        <p:txBody>
          <a:bodyPr wrap="square" lIns="76200" tIns="76200" rIns="76200" bIns="76200" rtlCol="0" anchor="ctr"/>
          <a:lstStyle/>
          <a:p>
            <a:pPr marL="0" indent="0" algn="l">
              <a:buNone/>
            </a:pPr>
            <a:r>
              <a:rPr lang="en-US" sz="1500" dirty="0">
                <a:solidFill>
                  <a:srgbClr val="FFFFFF"/>
                </a:solidFill>
                <a:latin typeface="Calibri" pitchFamily="34" charset="0"/>
                <a:ea typeface="Calibri" pitchFamily="34" charset="-122"/>
                <a:cs typeface="Calibri" pitchFamily="34" charset="-120"/>
              </a:rPr>
              <a:t>more KPI families</a:t>
            </a:r>
            <a:endParaRPr lang="en-US" sz="1500" dirty="0"/>
          </a:p>
        </p:txBody>
      </p:sp>
      <p:sp>
        <p:nvSpPr>
          <p:cNvPr id="23" name="Text 20"/>
          <p:cNvSpPr/>
          <p:nvPr/>
        </p:nvSpPr>
        <p:spPr>
          <a:xfrm>
            <a:off x="548640" y="6419088"/>
            <a:ext cx="9144000" cy="274320"/>
          </a:xfrm>
          <a:prstGeom prst="rect">
            <a:avLst/>
          </a:prstGeom>
          <a:noFill/>
          <a:ln/>
        </p:spPr>
        <p:txBody>
          <a:bodyPr wrap="square" lIns="0" tIns="0" rIns="0" bIns="0" rtlCol="0" anchor="ctr"/>
          <a:lstStyle/>
          <a:p>
            <a:pPr marL="0" indent="0" algn="l">
              <a:buNone/>
            </a:pPr>
            <a:r>
              <a:rPr lang="en-US" sz="1100" dirty="0">
                <a:solidFill>
                  <a:srgbClr val="9CA3AF"/>
                </a:solidFill>
                <a:latin typeface="Consolas" pitchFamily="34" charset="0"/>
                <a:ea typeface="Consolas" pitchFamily="34" charset="-122"/>
                <a:cs typeface="Consolas" pitchFamily="34" charset="-120"/>
              </a:rPr>
              <a:t>Green = runs in the product today · Amber = benchmark harness only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AI usage, pre-existing work, and how to run it</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Declared in README “AI and Model Usage” and docs/PRE_EXISTING_WORK.md</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12</a:t>
            </a:r>
            <a:endParaRPr lang="en-US" sz="1100" dirty="0"/>
          </a:p>
        </p:txBody>
      </p:sp>
      <p:sp>
        <p:nvSpPr>
          <p:cNvPr id="6" name="Shape 3"/>
          <p:cNvSpPr/>
          <p:nvPr/>
        </p:nvSpPr>
        <p:spPr>
          <a:xfrm>
            <a:off x="548640" y="1554480"/>
            <a:ext cx="3611880" cy="3931920"/>
          </a:xfrm>
          <a:prstGeom prst="roundRect">
            <a:avLst>
              <a:gd name="adj" fmla="val 2025"/>
            </a:avLst>
          </a:prstGeom>
          <a:solidFill>
            <a:srgbClr val="0B0B0B"/>
          </a:solidFill>
          <a:ln w="12700">
            <a:solidFill>
              <a:srgbClr val="FFFFFF"/>
            </a:solidFill>
            <a:prstDash val="solid"/>
          </a:ln>
        </p:spPr>
      </p:sp>
      <p:sp>
        <p:nvSpPr>
          <p:cNvPr id="7" name="Text 4"/>
          <p:cNvSpPr/>
          <p:nvPr/>
        </p:nvSpPr>
        <p:spPr>
          <a:xfrm>
            <a:off x="731520" y="1691640"/>
            <a:ext cx="3246120" cy="365760"/>
          </a:xfrm>
          <a:prstGeom prst="rect">
            <a:avLst/>
          </a:prstGeom>
          <a:noFill/>
          <a:ln/>
        </p:spPr>
        <p:txBody>
          <a:bodyPr wrap="square" lIns="0" tIns="0" rIns="0" bIns="0" rtlCol="0" anchor="t"/>
          <a:lstStyle/>
          <a:p>
            <a:pPr marL="0" indent="0" algn="l">
              <a:buNone/>
            </a:pPr>
            <a:r>
              <a:rPr lang="en-US" sz="1500" dirty="0">
                <a:solidFill>
                  <a:srgbClr val="FFFFFF"/>
                </a:solidFill>
                <a:latin typeface="Consolas" pitchFamily="34" charset="0"/>
                <a:ea typeface="Consolas" pitchFamily="34" charset="-122"/>
                <a:cs typeface="Consolas" pitchFamily="34" charset="-120"/>
              </a:rPr>
              <a:t>AI and Model Usage</a:t>
            </a:r>
            <a:endParaRPr lang="en-US" sz="1500" dirty="0"/>
          </a:p>
        </p:txBody>
      </p:sp>
      <p:sp>
        <p:nvSpPr>
          <p:cNvPr id="8" name="Text 5"/>
          <p:cNvSpPr/>
          <p:nvPr/>
        </p:nvSpPr>
        <p:spPr>
          <a:xfrm>
            <a:off x="731520" y="2194560"/>
            <a:ext cx="3246120" cy="3749040"/>
          </a:xfrm>
          <a:prstGeom prst="rect">
            <a:avLst/>
          </a:prstGeom>
          <a:noFill/>
          <a:ln/>
        </p:spPr>
        <p:txBody>
          <a:bodyPr wrap="square" lIns="0" tIns="0" rIns="0" bIns="0" rtlCol="0" anchor="t"/>
          <a:lstStyle/>
          <a:p>
            <a:pPr marL="0" indent="0" algn="l">
              <a:buNone/>
            </a:pPr>
            <a:r>
              <a:rPr lang="en-US" sz="1500" dirty="0">
                <a:solidFill>
                  <a:srgbClr val="D1D5DB"/>
                </a:solidFill>
                <a:latin typeface="Calibri" pitchFamily="34" charset="0"/>
                <a:ea typeface="Calibri" pitchFamily="34" charset="-122"/>
                <a:cs typeface="Calibri" pitchFamily="34" charset="-120"/>
              </a:rPr>
              <a:t>Runtime: Nemotron 3.5 Lightning 30B (S1) and Nemotron 3 Ultra (S2) through Meterless Nightshift, pinned and receipted per call.</a:t>
            </a:r>
            <a:endParaRPr lang="en-US" sz="1500" dirty="0"/>
          </a:p>
          <a:p>
            <a:pPr marL="0" indent="0" algn="l">
              <a:buNone/>
            </a:pPr>
            <a:endParaRPr lang="en-US" sz="1500" dirty="0"/>
          </a:p>
          <a:p>
            <a:pPr marL="0" indent="0" algn="l">
              <a:buNone/>
            </a:pPr>
            <a:r>
              <a:rPr lang="en-US" sz="1500" dirty="0">
                <a:solidFill>
                  <a:srgbClr val="D1D5DB"/>
                </a:solidFill>
                <a:latin typeface="Calibri" pitchFamily="34" charset="0"/>
                <a:ea typeface="Calibri" pitchFamily="34" charset="-122"/>
                <a:cs typeface="Calibri" pitchFamily="34" charset="-120"/>
              </a:rPr>
              <a:t>Code: written during the build window by AI coding agents (Grok Bot) under the author’s direction; reviewed, tested and committed by the author.</a:t>
            </a:r>
            <a:endParaRPr lang="en-US" sz="1500" dirty="0"/>
          </a:p>
          <a:p>
            <a:pPr marL="0" indent="0" algn="l">
              <a:buNone/>
            </a:pPr>
            <a:endParaRPr lang="en-US" sz="1500" dirty="0"/>
          </a:p>
          <a:p>
            <a:pPr marL="0" indent="0" algn="l">
              <a:buNone/>
            </a:pPr>
            <a:r>
              <a:rPr lang="en-US" sz="1500" dirty="0">
                <a:solidFill>
                  <a:srgbClr val="D1D5DB"/>
                </a:solidFill>
                <a:latin typeface="Calibri" pitchFamily="34" charset="0"/>
                <a:ea typeface="Calibri" pitchFamily="34" charset="-122"/>
                <a:cs typeface="Calibri" pitchFamily="34" charset="-120"/>
              </a:rPr>
              <a:t>Cursor was not used to write this code; the organisers’ announcement of 22 Oct 2026 made it optional.</a:t>
            </a:r>
            <a:endParaRPr lang="en-US" sz="1500" dirty="0"/>
          </a:p>
        </p:txBody>
      </p:sp>
      <p:sp>
        <p:nvSpPr>
          <p:cNvPr id="9" name="Shape 6"/>
          <p:cNvSpPr/>
          <p:nvPr/>
        </p:nvSpPr>
        <p:spPr>
          <a:xfrm>
            <a:off x="4343400" y="1554480"/>
            <a:ext cx="3611880" cy="3931920"/>
          </a:xfrm>
          <a:prstGeom prst="roundRect">
            <a:avLst>
              <a:gd name="adj" fmla="val 2025"/>
            </a:avLst>
          </a:prstGeom>
          <a:solidFill>
            <a:srgbClr val="0B0B0B"/>
          </a:solidFill>
          <a:ln w="12700">
            <a:solidFill>
              <a:srgbClr val="FFFFFF"/>
            </a:solidFill>
            <a:prstDash val="solid"/>
          </a:ln>
        </p:spPr>
      </p:sp>
      <p:sp>
        <p:nvSpPr>
          <p:cNvPr id="10" name="Text 7"/>
          <p:cNvSpPr/>
          <p:nvPr/>
        </p:nvSpPr>
        <p:spPr>
          <a:xfrm>
            <a:off x="4526280" y="1691640"/>
            <a:ext cx="3246120" cy="365760"/>
          </a:xfrm>
          <a:prstGeom prst="rect">
            <a:avLst/>
          </a:prstGeom>
          <a:noFill/>
          <a:ln/>
        </p:spPr>
        <p:txBody>
          <a:bodyPr wrap="square" lIns="0" tIns="0" rIns="0" bIns="0" rtlCol="0" anchor="t"/>
          <a:lstStyle/>
          <a:p>
            <a:pPr marL="0" indent="0" algn="l">
              <a:buNone/>
            </a:pPr>
            <a:r>
              <a:rPr lang="en-US" sz="1500" dirty="0">
                <a:solidFill>
                  <a:srgbClr val="FFFFFF"/>
                </a:solidFill>
                <a:latin typeface="Consolas" pitchFamily="34" charset="0"/>
                <a:ea typeface="Consolas" pitchFamily="34" charset="-122"/>
                <a:cs typeface="Consolas" pitchFamily="34" charset="-120"/>
              </a:rPr>
              <a:t>Pre-existing work</a:t>
            </a:r>
            <a:endParaRPr lang="en-US" sz="1500" dirty="0"/>
          </a:p>
        </p:txBody>
      </p:sp>
      <p:sp>
        <p:nvSpPr>
          <p:cNvPr id="11" name="Text 8"/>
          <p:cNvSpPr/>
          <p:nvPr/>
        </p:nvSpPr>
        <p:spPr>
          <a:xfrm>
            <a:off x="4526280" y="2194560"/>
            <a:ext cx="3246120" cy="3749040"/>
          </a:xfrm>
          <a:prstGeom prst="rect">
            <a:avLst/>
          </a:prstGeom>
          <a:noFill/>
          <a:ln/>
        </p:spPr>
        <p:txBody>
          <a:bodyPr wrap="square" lIns="0" tIns="0" rIns="0" bIns="0" rtlCol="0" anchor="t"/>
          <a:lstStyle/>
          <a:p>
            <a:pPr marL="0" indent="0" algn="l">
              <a:buNone/>
            </a:pPr>
            <a:r>
              <a:rPr lang="en-US" sz="1500" dirty="0">
                <a:solidFill>
                  <a:srgbClr val="D1D5DB"/>
                </a:solidFill>
                <a:latin typeface="Calibri" pitchFamily="34" charset="0"/>
                <a:ea typeface="Calibri" pitchFamily="34" charset="-122"/>
                <a:cs typeface="Calibri" pitchFamily="34" charset="-120"/>
              </a:rPr>
              <a:t>Environment setup (Zetaris platform, API keys), a throwaway connectivity scaffold not in this repo, design material (diagrams v2–v6.2, architecture documents) and the empty repository skeleton.</a:t>
            </a:r>
            <a:endParaRPr lang="en-US" sz="1500" dirty="0"/>
          </a:p>
          <a:p>
            <a:pPr marL="0" indent="0" algn="l">
              <a:buNone/>
            </a:pPr>
            <a:endParaRPr lang="en-US" sz="1500" dirty="0"/>
          </a:p>
          <a:p>
            <a:pPr marL="0" indent="0" algn="l">
              <a:buNone/>
            </a:pPr>
            <a:r>
              <a:rPr lang="en-US" sz="1500" dirty="0">
                <a:solidFill>
                  <a:srgbClr val="D1D5DB"/>
                </a:solidFill>
                <a:latin typeface="Calibri" pitchFamily="34" charset="0"/>
                <a:ea typeface="Calibri" pitchFamily="34" charset="-122"/>
                <a:cs typeface="Calibri" pitchFamily="34" charset="-120"/>
              </a:rPr>
              <a:t>Open-source Meterless engines (Apache-2.0) and the public Olist dataset (CC BY-NC-SA 4.0) used under their licences.</a:t>
            </a:r>
            <a:endParaRPr lang="en-US" sz="1500" dirty="0"/>
          </a:p>
        </p:txBody>
      </p:sp>
      <p:sp>
        <p:nvSpPr>
          <p:cNvPr id="12" name="Shape 9"/>
          <p:cNvSpPr/>
          <p:nvPr/>
        </p:nvSpPr>
        <p:spPr>
          <a:xfrm>
            <a:off x="8138160" y="1554480"/>
            <a:ext cx="3502152" cy="2743200"/>
          </a:xfrm>
          <a:prstGeom prst="roundRect">
            <a:avLst>
              <a:gd name="adj" fmla="val 2667"/>
            </a:avLst>
          </a:prstGeom>
          <a:solidFill>
            <a:srgbClr val="0B0B0B"/>
          </a:solidFill>
          <a:ln w="15875">
            <a:solidFill>
              <a:srgbClr val="4ADE80"/>
            </a:solidFill>
            <a:prstDash val="dash"/>
          </a:ln>
        </p:spPr>
      </p:sp>
      <p:sp>
        <p:nvSpPr>
          <p:cNvPr id="13" name="Text 10"/>
          <p:cNvSpPr/>
          <p:nvPr/>
        </p:nvSpPr>
        <p:spPr>
          <a:xfrm>
            <a:off x="8321040" y="1691640"/>
            <a:ext cx="3154680" cy="365760"/>
          </a:xfrm>
          <a:prstGeom prst="rect">
            <a:avLst/>
          </a:prstGeom>
          <a:noFill/>
          <a:ln/>
        </p:spPr>
        <p:txBody>
          <a:bodyPr wrap="square" lIns="0" tIns="0" rIns="0" bIns="0" rtlCol="0" anchor="t"/>
          <a:lstStyle/>
          <a:p>
            <a:pPr marL="0" indent="0" algn="l">
              <a:buNone/>
            </a:pPr>
            <a:r>
              <a:rPr lang="en-US" sz="1500" dirty="0">
                <a:solidFill>
                  <a:srgbClr val="4ADE80"/>
                </a:solidFill>
                <a:latin typeface="Consolas" pitchFamily="34" charset="0"/>
                <a:ea typeface="Consolas" pitchFamily="34" charset="-122"/>
                <a:cs typeface="Consolas" pitchFamily="34" charset="-120"/>
              </a:rPr>
              <a:t>Run it (no credentials)</a:t>
            </a:r>
            <a:endParaRPr lang="en-US" sz="1500" dirty="0"/>
          </a:p>
        </p:txBody>
      </p:sp>
      <p:sp>
        <p:nvSpPr>
          <p:cNvPr id="14" name="Text 11"/>
          <p:cNvSpPr/>
          <p:nvPr/>
        </p:nvSpPr>
        <p:spPr>
          <a:xfrm>
            <a:off x="8321040" y="2148840"/>
            <a:ext cx="3200400" cy="1600200"/>
          </a:xfrm>
          <a:prstGeom prst="rect">
            <a:avLst/>
          </a:prstGeom>
          <a:noFill/>
          <a:ln/>
        </p:spPr>
        <p:txBody>
          <a:bodyPr wrap="square" lIns="0" tIns="0" rIns="0" bIns="0" rtlCol="0" anchor="t"/>
          <a:lstStyle/>
          <a:p>
            <a:pPr marL="0" indent="0" algn="l">
              <a:buNone/>
            </a:pPr>
            <a:r>
              <a:rPr lang="en-US" sz="1100" dirty="0">
                <a:solidFill>
                  <a:srgbClr val="FFFFFF"/>
                </a:solidFill>
                <a:latin typeface="Consolas" pitchFamily="34" charset="0"/>
                <a:ea typeface="Consolas" pitchFamily="34" charset="-122"/>
                <a:cs typeface="Consolas" pitchFamily="34" charset="-120"/>
              </a:rPr>
              <a:t>git clone https://github.com/</a:t>
            </a:r>
            <a:endParaRPr lang="en-US" sz="1100" dirty="0"/>
          </a:p>
          <a:p>
            <a:pPr marL="0" indent="0" algn="l">
              <a:buNone/>
            </a:pPr>
            <a:r>
              <a:rPr lang="en-US" sz="1100" dirty="0">
                <a:solidFill>
                  <a:srgbClr val="FFFFFF"/>
                </a:solidFill>
                <a:latin typeface="Consolas" pitchFamily="34" charset="0"/>
                <a:ea typeface="Consolas" pitchFamily="34" charset="-122"/>
                <a:cs typeface="Consolas" pitchFamily="34" charset="-120"/>
              </a:rPr>
              <a:t>AlonsoAlviraa/veriagent-why</a:t>
            </a:r>
            <a:endParaRPr lang="en-US" sz="1100" dirty="0"/>
          </a:p>
          <a:p>
            <a:pPr marL="0" indent="0" algn="l">
              <a:buNone/>
            </a:pPr>
            <a:r>
              <a:rPr lang="en-US" sz="1100" dirty="0">
                <a:solidFill>
                  <a:srgbClr val="FFFFFF"/>
                </a:solidFill>
                <a:latin typeface="Consolas" pitchFamily="34" charset="0"/>
                <a:ea typeface="Consolas" pitchFamily="34" charset="-122"/>
                <a:cs typeface="Consolas" pitchFamily="34" charset="-120"/>
              </a:rPr>
              <a:t>cd veriagent-why</a:t>
            </a:r>
            <a:endParaRPr lang="en-US" sz="1100" dirty="0"/>
          </a:p>
          <a:p>
            <a:pPr marL="0" indent="0" algn="l">
              <a:buNone/>
            </a:pPr>
            <a:r>
              <a:rPr lang="en-US" sz="1100" dirty="0">
                <a:solidFill>
                  <a:srgbClr val="FFFFFF"/>
                </a:solidFill>
                <a:latin typeface="Consolas" pitchFamily="34" charset="0"/>
                <a:ea typeface="Consolas" pitchFamily="34" charset="-122"/>
                <a:cs typeface="Consolas" pitchFamily="34" charset="-120"/>
              </a:rPr>
              <a:t>pip install -r requirements.txt</a:t>
            </a:r>
            <a:endParaRPr lang="en-US" sz="1100" dirty="0"/>
          </a:p>
          <a:p>
            <a:pPr marL="0" indent="0" algn="l">
              <a:buNone/>
            </a:pPr>
            <a:r>
              <a:rPr lang="en-US" sz="1100" dirty="0">
                <a:solidFill>
                  <a:srgbClr val="FFFFFF"/>
                </a:solidFill>
                <a:latin typeface="Consolas" pitchFamily="34" charset="0"/>
                <a:ea typeface="Consolas" pitchFamily="34" charset="-122"/>
                <a:cs typeface="Consolas" pitchFamily="34" charset="-120"/>
              </a:rPr>
              <a:t>python run.py --input \</a:t>
            </a:r>
            <a:endParaRPr lang="en-US" sz="1100" dirty="0"/>
          </a:p>
          <a:p>
            <a:pPr marL="0" indent="0" algn="l">
              <a:buNone/>
            </a:pPr>
            <a:r>
              <a:rPr lang="en-US" sz="1100" dirty="0">
                <a:solidFill>
                  <a:srgbClr val="FFFFFF"/>
                </a:solidFill>
                <a:latin typeface="Consolas" pitchFamily="34" charset="0"/>
                <a:ea typeface="Consolas" pitchFamily="34" charset="-122"/>
                <a:cs typeface="Consolas" pitchFamily="34" charset="-120"/>
              </a:rPr>
              <a:t>  input_examples/example_1.json</a:t>
            </a:r>
            <a:endParaRPr lang="en-US" sz="1100" dirty="0"/>
          </a:p>
        </p:txBody>
      </p:sp>
      <p:sp>
        <p:nvSpPr>
          <p:cNvPr id="15" name="Text 12"/>
          <p:cNvSpPr/>
          <p:nvPr/>
        </p:nvSpPr>
        <p:spPr>
          <a:xfrm>
            <a:off x="8321040" y="3703320"/>
            <a:ext cx="3200400" cy="365760"/>
          </a:xfrm>
          <a:prstGeom prst="rect">
            <a:avLst/>
          </a:prstGeom>
          <a:noFill/>
          <a:ln/>
        </p:spPr>
        <p:txBody>
          <a:bodyPr wrap="square" lIns="0" tIns="0" rIns="0" bIns="0" rtlCol="0" anchor="t"/>
          <a:lstStyle/>
          <a:p>
            <a:pPr marL="0" indent="0" algn="l">
              <a:buNone/>
            </a:pPr>
            <a:r>
              <a:rPr lang="en-US" sz="1000" dirty="0">
                <a:solidFill>
                  <a:srgbClr val="9CA3AF"/>
                </a:solidFill>
                <a:latin typeface="Consolas" pitchFamily="34" charset="0"/>
                <a:ea typeface="Consolas" pitchFamily="34" charset="-122"/>
                <a:cs typeface="Consolas" pitchFamily="34" charset="-120"/>
              </a:rPr>
              <a:t>SAMPLE_MODE fallback: DuckDB, no model</a:t>
            </a:r>
            <a:endParaRPr lang="en-US" sz="1000" dirty="0"/>
          </a:p>
        </p:txBody>
      </p:sp>
      <p:sp>
        <p:nvSpPr>
          <p:cNvPr id="16" name="Text 13"/>
          <p:cNvSpPr/>
          <p:nvPr/>
        </p:nvSpPr>
        <p:spPr>
          <a:xfrm>
            <a:off x="8138160" y="4526280"/>
            <a:ext cx="3502152" cy="411480"/>
          </a:xfrm>
          <a:prstGeom prst="rect">
            <a:avLst/>
          </a:prstGeom>
          <a:noFill/>
          <a:ln/>
        </p:spPr>
        <p:txBody>
          <a:bodyPr wrap="square" lIns="0" tIns="0" rIns="0" bIns="0" rtlCol="0" anchor="t"/>
          <a:lstStyle/>
          <a:p>
            <a:pPr marL="0" indent="0" algn="l">
              <a:buNone/>
            </a:pPr>
            <a:r>
              <a:rPr lang="en-US" sz="2200" b="1" dirty="0">
                <a:solidFill>
                  <a:srgbClr val="FFFFFF"/>
                </a:solidFill>
                <a:latin typeface="Calibri" pitchFamily="34" charset="0"/>
                <a:ea typeface="Calibri" pitchFamily="34" charset="-122"/>
                <a:cs typeface="Calibri" pitchFamily="34" charset="-120"/>
              </a:rPr>
              <a:t>Thanks</a:t>
            </a:r>
            <a:endParaRPr lang="en-US" sz="2200" dirty="0"/>
          </a:p>
        </p:txBody>
      </p:sp>
      <p:sp>
        <p:nvSpPr>
          <p:cNvPr id="17" name="Text 14"/>
          <p:cNvSpPr/>
          <p:nvPr/>
        </p:nvSpPr>
        <p:spPr>
          <a:xfrm>
            <a:off x="8138160" y="4937760"/>
            <a:ext cx="3502152" cy="64008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Zetaris · Meterless · NVIDIA</a:t>
            </a:r>
            <a:endParaRPr lang="en-US" sz="1400" dirty="0"/>
          </a:p>
          <a:p>
            <a:pPr marL="0" indent="0" algn="l">
              <a:buNone/>
            </a:pPr>
            <a:r>
              <a:rPr lang="en-US" sz="1400" dirty="0">
                <a:solidFill>
                  <a:srgbClr val="9CA3AF"/>
                </a:solidFill>
                <a:latin typeface="Calibri" pitchFamily="34" charset="0"/>
                <a:ea typeface="Calibri" pitchFamily="34" charset="-122"/>
                <a:cs typeface="Calibri" pitchFamily="34" charset="-120"/>
              </a:rPr>
              <a:t>Olist data (CC BY-NC-SA 4.0) · MIT licence</a:t>
            </a:r>
            <a:endParaRPr lang="en-US" sz="1400" dirty="0"/>
          </a:p>
        </p:txBody>
      </p:sp>
      <p:sp>
        <p:nvSpPr>
          <p:cNvPr id="18" name="Text 15"/>
          <p:cNvSpPr/>
          <p:nvPr/>
        </p:nvSpPr>
        <p:spPr>
          <a:xfrm>
            <a:off x="8138160" y="5669280"/>
            <a:ext cx="3502152" cy="365760"/>
          </a:xfrm>
          <a:prstGeom prst="rect">
            <a:avLst/>
          </a:prstGeom>
          <a:noFill/>
          <a:ln/>
        </p:spPr>
        <p:txBody>
          <a:bodyPr wrap="square" lIns="0" tIns="0" rIns="0" bIns="0" rtlCol="0" anchor="t"/>
          <a:lstStyle/>
          <a:p>
            <a:pPr marL="0" indent="0" algn="l">
              <a:buNone/>
            </a:pPr>
            <a:r>
              <a:rPr lang="en-US" sz="1300" dirty="0">
                <a:solidFill>
                  <a:srgbClr val="22D3EE"/>
                </a:solidFill>
                <a:latin typeface="Consolas" pitchFamily="34" charset="0"/>
                <a:ea typeface="Consolas" pitchFamily="34" charset="-122"/>
                <a:cs typeface="Consolas" pitchFamily="34" charset="-120"/>
              </a:rPr>
              <a:t>github.com/AlonsoAlviraa/veriagent-why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548640" y="502920"/>
            <a:ext cx="11091672" cy="5852160"/>
          </a:xfrm>
          <a:prstGeom prst="roundRect">
            <a:avLst>
              <a:gd name="adj" fmla="val 1563"/>
            </a:avLst>
          </a:prstGeom>
          <a:solidFill>
            <a:srgbClr val="0B0B0B"/>
          </a:solidFill>
          <a:ln w="15875">
            <a:solidFill>
              <a:srgbClr val="FBBF24"/>
            </a:solidFill>
            <a:prstDash val="dash"/>
          </a:ln>
        </p:spPr>
      </p:sp>
      <p:sp>
        <p:nvSpPr>
          <p:cNvPr id="4" name="Text 1"/>
          <p:cNvSpPr/>
          <p:nvPr/>
        </p:nvSpPr>
        <p:spPr>
          <a:xfrm>
            <a:off x="731520" y="576072"/>
            <a:ext cx="10725912" cy="292608"/>
          </a:xfrm>
          <a:prstGeom prst="rect">
            <a:avLst/>
          </a:prstGeom>
          <a:noFill/>
          <a:ln/>
        </p:spPr>
        <p:txBody>
          <a:bodyPr wrap="square" lIns="0" tIns="0" rIns="0" bIns="0" rtlCol="0" anchor="ctr"/>
          <a:lstStyle/>
          <a:p>
            <a:pPr marL="0" indent="0">
              <a:buNone/>
            </a:pPr>
            <a:r>
              <a:rPr lang="en-US" sz="1300" dirty="0">
                <a:solidFill>
                  <a:srgbClr val="FBBF24"/>
                </a:solidFill>
                <a:latin typeface="Consolas" pitchFamily="34" charset="0"/>
                <a:ea typeface="Consolas" pitchFamily="34" charset="-122"/>
                <a:cs typeface="Consolas" pitchFamily="34" charset="-120"/>
              </a:rPr>
              <a:t>appendix</a:t>
            </a:r>
            <a:endParaRPr lang="en-US" sz="1300" dirty="0"/>
          </a:p>
        </p:txBody>
      </p:sp>
      <p:sp>
        <p:nvSpPr>
          <p:cNvPr id="5" name="Text 2"/>
          <p:cNvSpPr/>
          <p:nvPr/>
        </p:nvSpPr>
        <p:spPr>
          <a:xfrm>
            <a:off x="1005840" y="2377440"/>
            <a:ext cx="10058400" cy="822960"/>
          </a:xfrm>
          <a:prstGeom prst="rect">
            <a:avLst/>
          </a:prstGeom>
          <a:noFill/>
          <a:ln/>
        </p:spPr>
        <p:txBody>
          <a:bodyPr wrap="square" lIns="0" tIns="0" rIns="0" bIns="0" rtlCol="0" anchor="t"/>
          <a:lstStyle/>
          <a:p>
            <a:pPr marL="0" indent="0" algn="l">
              <a:buNone/>
            </a:pPr>
            <a:r>
              <a:rPr lang="en-US" sz="4800" b="1" dirty="0">
                <a:solidFill>
                  <a:srgbClr val="FFFFFF"/>
                </a:solidFill>
                <a:latin typeface="Calibri" pitchFamily="34" charset="0"/>
                <a:ea typeface="Calibri" pitchFamily="34" charset="-122"/>
                <a:cs typeface="Calibri" pitchFamily="34" charset="-120"/>
              </a:rPr>
              <a:t>Everything generated</a:t>
            </a:r>
            <a:endParaRPr lang="en-US" sz="4800" dirty="0"/>
          </a:p>
        </p:txBody>
      </p:sp>
      <p:sp>
        <p:nvSpPr>
          <p:cNvPr id="6" name="Text 3"/>
          <p:cNvSpPr/>
          <p:nvPr/>
        </p:nvSpPr>
        <p:spPr>
          <a:xfrm>
            <a:off x="1005840" y="3246120"/>
            <a:ext cx="10058400" cy="457200"/>
          </a:xfrm>
          <a:prstGeom prst="rect">
            <a:avLst/>
          </a:prstGeom>
          <a:noFill/>
          <a:ln/>
        </p:spPr>
        <p:txBody>
          <a:bodyPr wrap="square" lIns="0" tIns="0" rIns="0" bIns="0" rtlCol="0" anchor="t"/>
          <a:lstStyle/>
          <a:p>
            <a:pPr marL="0" indent="0" algn="l">
              <a:buNone/>
            </a:pPr>
            <a:r>
              <a:rPr lang="en-US" sz="2200" dirty="0">
                <a:solidFill>
                  <a:srgbClr val="9CA3AF"/>
                </a:solidFill>
                <a:latin typeface="Calibri" pitchFamily="34" charset="0"/>
                <a:ea typeface="Calibri" pitchFamily="34" charset="-122"/>
                <a:cs typeface="Calibri" pitchFamily="34" charset="-120"/>
              </a:rPr>
              <a:t>replays of committed traces, receipts and results · recordings to add · file list</a:t>
            </a:r>
            <a:endParaRPr lang="en-US" sz="2200" dirty="0"/>
          </a:p>
        </p:txBody>
      </p:sp>
      <p:sp>
        <p:nvSpPr>
          <p:cNvPr id="7" name="Text 4"/>
          <p:cNvSpPr/>
          <p:nvPr/>
        </p:nvSpPr>
        <p:spPr>
          <a:xfrm>
            <a:off x="1005840" y="4023360"/>
            <a:ext cx="10058400" cy="365760"/>
          </a:xfrm>
          <a:prstGeom prst="rect">
            <a:avLst/>
          </a:prstGeom>
          <a:noFill/>
          <a:ln/>
        </p:spPr>
        <p:txBody>
          <a:bodyPr wrap="square" lIns="0" tIns="0" rIns="0" bIns="0" rtlCol="0" anchor="t"/>
          <a:lstStyle/>
          <a:p>
            <a:pPr marL="0" indent="0" algn="l">
              <a:buNone/>
            </a:pPr>
            <a:r>
              <a:rPr lang="en-US" sz="1400" dirty="0">
                <a:solidFill>
                  <a:srgbClr val="FBBF24"/>
                </a:solidFill>
                <a:latin typeface="Consolas" pitchFamily="34" charset="0"/>
                <a:ea typeface="Consolas" pitchFamily="34" charset="-122"/>
                <a:cs typeface="Consolas" pitchFamily="34" charset="-120"/>
              </a:rPr>
              <a:t>Every clip is a replay of a committed file, not a live screen recording.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Replays: example 1 and the honest “unresolved” case</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Committed traces in logs/examples/ (SAMPLE_MODE, synthetic data)</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14</a:t>
            </a:r>
            <a:endParaRPr lang="en-US" sz="1100" dirty="0"/>
          </a:p>
        </p:txBody>
      </p:sp>
      <p:sp>
        <p:nvSpPr>
          <p:cNvPr id="7" name="Shape 3"/>
          <p:cNvSpPr/>
          <p:nvPr/>
        </p:nvSpPr>
        <p:spPr>
          <a:xfrm>
            <a:off x="548640" y="1600200"/>
            <a:ext cx="5422392" cy="3054096"/>
          </a:xfrm>
          <a:prstGeom prst="rect">
            <a:avLst/>
          </a:prstGeom>
          <a:ln w="9525">
            <a:solidFill>
              <a:srgbClr val="374151"/>
            </a:solidFill>
            <a:prstDash val="solid"/>
          </a:ln>
        </p:spPr>
      </p:sp>
      <p:sp>
        <p:nvSpPr>
          <p:cNvPr id="9" name="Shape 4"/>
          <p:cNvSpPr/>
          <p:nvPr/>
        </p:nvSpPr>
        <p:spPr>
          <a:xfrm>
            <a:off x="6217920" y="1600200"/>
            <a:ext cx="5422392" cy="3054096"/>
          </a:xfrm>
          <a:prstGeom prst="rect">
            <a:avLst/>
          </a:prstGeom>
          <a:ln w="9525">
            <a:solidFill>
              <a:srgbClr val="374151"/>
            </a:solidFill>
            <a:prstDash val="solid"/>
          </a:ln>
        </p:spPr>
      </p:sp>
      <p:sp>
        <p:nvSpPr>
          <p:cNvPr id="10" name="Text 5"/>
          <p:cNvSpPr/>
          <p:nvPr/>
        </p:nvSpPr>
        <p:spPr>
          <a:xfrm>
            <a:off x="548640" y="4800600"/>
            <a:ext cx="5422392" cy="109728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Example 1, on-time drop: two rounds, send-back to the Planner, carrier_sla_breach, confidence 100. Source: logs/examples/trace-example-001.jsonl (16 s).</a:t>
            </a:r>
            <a:endParaRPr lang="en-US" sz="1400" dirty="0"/>
          </a:p>
        </p:txBody>
      </p:sp>
      <p:sp>
        <p:nvSpPr>
          <p:cNvPr id="11" name="Text 6"/>
          <p:cNvSpPr/>
          <p:nvPr/>
        </p:nvSpPr>
        <p:spPr>
          <a:xfrm>
            <a:off x="6217920" y="4800600"/>
            <a:ext cx="5422392" cy="109728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Example 3, return rate: every hypothesis refuted, no cause claimed (confidence 20 sample / 40 live). Also shows the 15 of 25 failed calls of the 25 Oct run, fixed by pacing: 20/20 OK live on 26 Oct (16.5 s).</a:t>
            </a:r>
            <a:endParaRPr lang="en-US" sz="1400" dirty="0"/>
          </a:p>
        </p:txBody>
      </p:sp>
      <p:pic>
        <p:nvPicPr>
          <p:cNvPr id="5" name="media-14-1">
            <a:hlinkClick r:id="" action="ppaction://media"/>
            <a:extLst>
              <a:ext uri="{FF2B5EF4-FFF2-40B4-BE49-F238E27FC236}">
                <a16:creationId xmlns:a16="http://schemas.microsoft.com/office/drawing/2014/main" id="{41098AB6-DAAA-46E8-99C1-FB8D668B9C2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600200"/>
            <a:ext cx="5429503" cy="3054096"/>
          </a:xfrm>
          <a:prstGeom prst="rect">
            <a:avLst/>
          </a:prstGeom>
        </p:spPr>
      </p:pic>
      <p:pic>
        <p:nvPicPr>
          <p:cNvPr id="6" name="media-14-4">
            <a:hlinkClick r:id="" action="ppaction://media"/>
            <a:extLst>
              <a:ext uri="{FF2B5EF4-FFF2-40B4-BE49-F238E27FC236}">
                <a16:creationId xmlns:a16="http://schemas.microsoft.com/office/drawing/2014/main" id="{D6DF7C2F-F071-4E32-98FE-177555906589}"/>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217920" y="1600200"/>
            <a:ext cx="5429503" cy="3054096"/>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Replays: per-call receipts and the benchmark result</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Live receipts from 26 Oct 2026 · V11 numbers from docs/V11_RESULTS.md</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15</a:t>
            </a:r>
            <a:endParaRPr lang="en-US" sz="1100" dirty="0"/>
          </a:p>
        </p:txBody>
      </p:sp>
      <p:sp>
        <p:nvSpPr>
          <p:cNvPr id="7" name="Shape 3"/>
          <p:cNvSpPr/>
          <p:nvPr/>
        </p:nvSpPr>
        <p:spPr>
          <a:xfrm>
            <a:off x="548640" y="1600200"/>
            <a:ext cx="5422392" cy="3054096"/>
          </a:xfrm>
          <a:prstGeom prst="rect">
            <a:avLst/>
          </a:prstGeom>
          <a:ln w="9525">
            <a:solidFill>
              <a:srgbClr val="374151"/>
            </a:solidFill>
            <a:prstDash val="solid"/>
          </a:ln>
        </p:spPr>
      </p:sp>
      <p:sp>
        <p:nvSpPr>
          <p:cNvPr id="9" name="Shape 4"/>
          <p:cNvSpPr/>
          <p:nvPr/>
        </p:nvSpPr>
        <p:spPr>
          <a:xfrm>
            <a:off x="6217920" y="1600200"/>
            <a:ext cx="5422392" cy="3054096"/>
          </a:xfrm>
          <a:prstGeom prst="rect">
            <a:avLst/>
          </a:prstGeom>
          <a:ln w="9525">
            <a:solidFill>
              <a:srgbClr val="374151"/>
            </a:solidFill>
            <a:prstDash val="solid"/>
          </a:ln>
        </p:spPr>
      </p:sp>
      <p:sp>
        <p:nvSpPr>
          <p:cNvPr id="10" name="Text 5"/>
          <p:cNvSpPr/>
          <p:nvPr/>
        </p:nvSpPr>
        <p:spPr>
          <a:xfrm>
            <a:off x="548640" y="4800600"/>
            <a:ext cx="5422392" cy="109728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All 25 receipts of the live planted-trap run: agent, tier, pinned Nemotron model, latency, ok, pin_ok, request id (truncated). Source: eval/nightshift_live/v2_agent_ids/zetaris-receipts-example-002.jsonl (15.6 s).</a:t>
            </a:r>
            <a:endParaRPr lang="en-US" sz="1400" dirty="0"/>
          </a:p>
        </p:txBody>
      </p:sp>
      <p:sp>
        <p:nvSpPr>
          <p:cNvPr id="11" name="Text 6"/>
          <p:cNvSpPr/>
          <p:nvPr/>
        </p:nvSpPr>
        <p:spPr>
          <a:xfrm>
            <a:off x="6217920" y="4800600"/>
            <a:ext cx="5422392" cy="1097280"/>
          </a:xfrm>
          <a:prstGeom prst="rect">
            <a:avLst/>
          </a:prstGeom>
          <a:noFill/>
          <a:ln/>
        </p:spPr>
        <p:txBody>
          <a:bodyPr wrap="square" lIns="0" tIns="0" rIns="0" bIns="0" rtlCol="0" anchor="t"/>
          <a:lstStyle/>
          <a:p>
            <a:pPr marL="0" indent="0" algn="l">
              <a:buNone/>
            </a:pPr>
            <a:r>
              <a:rPr lang="en-US" sz="1400" dirty="0">
                <a:solidFill>
                  <a:srgbClr val="9CA3AF"/>
                </a:solidFill>
                <a:latin typeface="Calibri" pitchFamily="34" charset="0"/>
                <a:ea typeface="Calibri" pitchFamily="34" charset="-122"/>
                <a:cs typeface="Calibri" pitchFamily="34" charset="-120"/>
              </a:rPr>
              <a:t>V11 TableBench (n = 361, pre-registered, single run): V7 48.2% vs plain RAG 32.7%, AUROC 0.834, 77.3% accurate at 36.6% coverage. Benchmark lane only (16 s).</a:t>
            </a:r>
            <a:endParaRPr lang="en-US" sz="1400" dirty="0"/>
          </a:p>
        </p:txBody>
      </p:sp>
      <p:pic>
        <p:nvPicPr>
          <p:cNvPr id="5" name="media-15-1">
            <a:hlinkClick r:id="" action="ppaction://media"/>
            <a:extLst>
              <a:ext uri="{FF2B5EF4-FFF2-40B4-BE49-F238E27FC236}">
                <a16:creationId xmlns:a16="http://schemas.microsoft.com/office/drawing/2014/main" id="{8D7C5452-EDB8-4AC2-838F-19D44C673668}"/>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600200"/>
            <a:ext cx="5429503" cy="3054096"/>
          </a:xfrm>
          <a:prstGeom prst="rect">
            <a:avLst/>
          </a:prstGeom>
        </p:spPr>
      </p:pic>
      <p:pic>
        <p:nvPicPr>
          <p:cNvPr id="6" name="media-15-4">
            <a:hlinkClick r:id="" action="ppaction://media"/>
            <a:extLst>
              <a:ext uri="{FF2B5EF4-FFF2-40B4-BE49-F238E27FC236}">
                <a16:creationId xmlns:a16="http://schemas.microsoft.com/office/drawing/2014/main" id="{03490ED0-935E-47B2-8621-3C74A99560D1}"/>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217920" y="1600200"/>
            <a:ext cx="5429503" cy="3054096"/>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Live machine clips: Zetaris, memo PDF, and mutation</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Captured on Alonso’s PC (UI :8501 · API :8000 · Zetaris :3000/:10000 · PostgreSQL :5433 · REST :8765)</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16</a:t>
            </a:r>
            <a:endParaRPr lang="en-US" sz="1100" dirty="0"/>
          </a:p>
        </p:txBody>
      </p:sp>
      <p:sp>
        <p:nvSpPr>
          <p:cNvPr id="6" name="Shape 3"/>
          <p:cNvSpPr/>
          <p:nvPr/>
        </p:nvSpPr>
        <p:spPr>
          <a:xfrm>
            <a:off x="548640" y="1600200"/>
            <a:ext cx="3566160" cy="2005965"/>
          </a:xfrm>
          <a:prstGeom prst="rect">
            <a:avLst/>
          </a:prstGeom>
          <a:noFill/>
          <a:ln w="9525">
            <a:solidFill>
              <a:srgbClr val="374151"/>
            </a:solidFill>
          </a:ln>
        </p:spPr>
      </p:sp>
      <p:sp>
        <p:nvSpPr>
          <p:cNvPr id="7" name="Text 4"/>
          <p:cNvSpPr/>
          <p:nvPr/>
        </p:nvSpPr>
        <p:spPr>
          <a:xfrm>
            <a:off x="548640" y="3740000"/>
            <a:ext cx="3566160" cy="1180000"/>
          </a:xfrm>
          <a:prstGeom prst="rect">
            <a:avLst/>
          </a:prstGeom>
          <a:noFill/>
          <a:ln/>
        </p:spPr>
        <p:txBody>
          <a:bodyPr wrap="square" lIns="0" tIns="0" rIns="0" bIns="0" rtlCol="0" anchor="t"/>
          <a:lstStyle/>
          <a:p>
            <a:pPr marL="0" indent="0" algn="l">
              <a:buNone/>
            </a:pPr>
            <a:r>
              <a:rPr lang="en-US" sz="1250" dirty="0">
                <a:solidFill>
                  <a:srgbClr val="D1D5DB"/>
                </a:solidFill>
                <a:latin typeface="Calibri" pitchFamily="34" charset="0"/>
                <a:ea typeface="Calibri" pitchFamily="34" charset="-122"/>
                <a:cs typeface="Calibri" pitchFamily="34" charset="-120"/>
              </a:rPr>
              <a:t>Zetaris Lightning 2.4.3 catalog &amp; live JDBC check: veriagent_pg (PostgreSQL 16) + veriagent_rest (HTTP JSON) federated into 5 SchemaStore views and verified via cross-source SQL join.</a:t>
            </a:r>
            <a:endParaRPr lang="en-US" sz="1250" dirty="0"/>
          </a:p>
        </p:txBody>
      </p:sp>
      <p:sp>
        <p:nvSpPr>
          <p:cNvPr id="8" name="Text 5"/>
          <p:cNvSpPr/>
          <p:nvPr/>
        </p:nvSpPr>
        <p:spPr>
          <a:xfrm>
            <a:off x="548640" y="5020000"/>
            <a:ext cx="3566160" cy="480000"/>
          </a:xfrm>
          <a:prstGeom prst="rect">
            <a:avLst/>
          </a:prstGeom>
          <a:noFill/>
          <a:ln/>
        </p:spPr>
        <p:txBody>
          <a:bodyPr wrap="square" lIns="0" tIns="0" rIns="0" bIns="0" rtlCol="0" anchor="t"/>
          <a:lstStyle/>
          <a:p>
            <a:pPr marL="0" indent="0" algn="l">
              <a:buNone/>
            </a:pPr>
            <a:r>
              <a:rPr lang="en-US" sz="1000" dirty="0">
                <a:solidFill>
                  <a:srgbClr val="9CA3AF"/>
                </a:solidFill>
                <a:latin typeface="Consolas" pitchFamily="34" charset="0"/>
                <a:ea typeface="Consolas" pitchFamily="34" charset="-122"/>
                <a:cs typeface="Consolas" pitchFamily="34" charset="-120"/>
              </a:rPr>
              <a:t>scripts/zetaris_check.py · 5/5 veriagent + 4/4 olist views OK</a:t>
            </a:r>
            <a:endParaRPr lang="en-US" sz="1000" dirty="0"/>
          </a:p>
        </p:txBody>
      </p:sp>
      <p:sp>
        <p:nvSpPr>
          <p:cNvPr id="9" name="Shape 6"/>
          <p:cNvSpPr/>
          <p:nvPr/>
        </p:nvSpPr>
        <p:spPr>
          <a:xfrm>
            <a:off x="4315968" y="1600200"/>
            <a:ext cx="3566160" cy="2005965"/>
          </a:xfrm>
          <a:prstGeom prst="rect">
            <a:avLst/>
          </a:prstGeom>
          <a:noFill/>
          <a:ln w="9525">
            <a:solidFill>
              <a:srgbClr val="374151"/>
            </a:solidFill>
          </a:ln>
        </p:spPr>
      </p:sp>
      <p:sp>
        <p:nvSpPr>
          <p:cNvPr id="10" name="Text 7"/>
          <p:cNvSpPr/>
          <p:nvPr/>
        </p:nvSpPr>
        <p:spPr>
          <a:xfrm>
            <a:off x="4315968" y="3740000"/>
            <a:ext cx="3566160" cy="1180000"/>
          </a:xfrm>
          <a:prstGeom prst="rect">
            <a:avLst/>
          </a:prstGeom>
          <a:noFill/>
          <a:ln/>
        </p:spPr>
        <p:txBody>
          <a:bodyPr wrap="square" lIns="0" tIns="0" rIns="0" bIns="0" rtlCol="0" anchor="t"/>
          <a:lstStyle/>
          <a:p>
            <a:pPr marL="0" indent="0" algn="l">
              <a:buNone/>
            </a:pPr>
            <a:r>
              <a:rPr lang="en-US" sz="1250" dirty="0">
                <a:solidFill>
                  <a:srgbClr val="D1D5DB"/>
                </a:solidFill>
                <a:latin typeface="Calibri" pitchFamily="34" charset="0"/>
                <a:ea typeface="Calibri" pitchFamily="34" charset="-122"/>
                <a:cs typeface="Calibri" pitchFamily="34" charset="-120"/>
              </a:rPr>
              <a:t>Generated 2-page Decision Memo PDF for example-002: refuted promotion trap (93.88% on-time), 3/3 cross-view agreement, and 25/25 Meterless Nightshift receipts.</a:t>
            </a:r>
            <a:endParaRPr lang="en-US" sz="1250" dirty="0"/>
          </a:p>
        </p:txBody>
      </p:sp>
      <p:sp>
        <p:nvSpPr>
          <p:cNvPr id="11" name="Text 8"/>
          <p:cNvSpPr/>
          <p:nvPr/>
        </p:nvSpPr>
        <p:spPr>
          <a:xfrm>
            <a:off x="4315968" y="5020000"/>
            <a:ext cx="3566160" cy="480000"/>
          </a:xfrm>
          <a:prstGeom prst="rect">
            <a:avLst/>
          </a:prstGeom>
          <a:noFill/>
          <a:ln/>
        </p:spPr>
        <p:txBody>
          <a:bodyPr wrap="square" lIns="0" tIns="0" rIns="0" bIns="0" rtlCol="0" anchor="t"/>
          <a:lstStyle/>
          <a:p>
            <a:pPr marL="0" indent="0" algn="l">
              <a:buNone/>
            </a:pPr>
            <a:r>
              <a:rPr lang="en-US" sz="1000" dirty="0">
                <a:solidFill>
                  <a:srgbClr val="9CA3AF"/>
                </a:solidFill>
                <a:latin typeface="Consolas" pitchFamily="34" charset="0"/>
                <a:ea typeface="Consolas" pitchFamily="34" charset="-122"/>
                <a:cs typeface="Consolas" pitchFamily="34" charset="-120"/>
              </a:rPr>
              <a:t>GET /api/memo/example-002.pdf · logs/demo_video/memo-example-002.pdf</a:t>
            </a:r>
            <a:endParaRPr lang="en-US" sz="1000" dirty="0"/>
          </a:p>
        </p:txBody>
      </p:sp>
      <p:sp>
        <p:nvSpPr>
          <p:cNvPr id="12" name="Shape 9"/>
          <p:cNvSpPr/>
          <p:nvPr/>
        </p:nvSpPr>
        <p:spPr>
          <a:xfrm>
            <a:off x="8074152" y="1600200"/>
            <a:ext cx="3566160" cy="2005965"/>
          </a:xfrm>
          <a:prstGeom prst="rect">
            <a:avLst/>
          </a:prstGeom>
          <a:noFill/>
          <a:ln w="9525">
            <a:solidFill>
              <a:srgbClr val="374151"/>
            </a:solidFill>
          </a:ln>
        </p:spPr>
      </p:sp>
      <p:sp>
        <p:nvSpPr>
          <p:cNvPr id="13" name="Text 10"/>
          <p:cNvSpPr/>
          <p:nvPr/>
        </p:nvSpPr>
        <p:spPr>
          <a:xfrm>
            <a:off x="8074152" y="3740000"/>
            <a:ext cx="3566160" cy="1180000"/>
          </a:xfrm>
          <a:prstGeom prst="rect">
            <a:avLst/>
          </a:prstGeom>
          <a:noFill/>
          <a:ln/>
        </p:spPr>
        <p:txBody>
          <a:bodyPr wrap="square" lIns="0" tIns="0" rIns="0" bIns="0" rtlCol="0" anchor="t"/>
          <a:lstStyle/>
          <a:p>
            <a:pPr marL="0" indent="0" algn="l">
              <a:buNone/>
            </a:pPr>
            <a:r>
              <a:rPr lang="en-US" sz="1250" dirty="0">
                <a:solidFill>
                  <a:srgbClr val="D1D5DB"/>
                </a:solidFill>
                <a:latin typeface="Calibri" pitchFamily="34" charset="0"/>
                <a:ea typeface="Calibri" pitchFamily="34" charset="-122"/>
                <a:cs typeface="Calibri" pitchFamily="34" charset="-120"/>
              </a:rPr>
              <a:t>Live Zetaris JDBC mutation check: mutating 5 cited rows in PostgreSQL flips claim C_ontime_period GREEN (44.16%) → RED (50.65% drift) → GREEN (44.16% restored).</a:t>
            </a:r>
            <a:endParaRPr lang="en-US" sz="1250" dirty="0"/>
          </a:p>
        </p:txBody>
      </p:sp>
      <p:sp>
        <p:nvSpPr>
          <p:cNvPr id="14" name="Text 11"/>
          <p:cNvSpPr/>
          <p:nvPr/>
        </p:nvSpPr>
        <p:spPr>
          <a:xfrm>
            <a:off x="8074152" y="5020000"/>
            <a:ext cx="3566160" cy="480000"/>
          </a:xfrm>
          <a:prstGeom prst="rect">
            <a:avLst/>
          </a:prstGeom>
          <a:noFill/>
          <a:ln/>
        </p:spPr>
        <p:txBody>
          <a:bodyPr wrap="square" lIns="0" tIns="0" rIns="0" bIns="0" rtlCol="0" anchor="t"/>
          <a:lstStyle/>
          <a:p>
            <a:pPr marL="0" indent="0" algn="l">
              <a:buNone/>
            </a:pPr>
            <a:r>
              <a:rPr lang="en-US" sz="1000" dirty="0">
                <a:solidFill>
                  <a:srgbClr val="9CA3AF"/>
                </a:solidFill>
                <a:latin typeface="Consolas" pitchFamily="34" charset="0"/>
                <a:ea typeface="Consolas" pitchFamily="34" charset="-122"/>
                <a:cs typeface="Consolas" pitchFamily="34" charset="-120"/>
              </a:rPr>
              <a:t>demo_video.ps1 -Step mutate · logs/trace-verify-demo-9eb5df.jsonl</a:t>
            </a:r>
            <a:endParaRPr lang="en-US" sz="1000" dirty="0"/>
          </a:p>
        </p:txBody>
      </p:sp>
      <p:sp>
        <p:nvSpPr>
          <p:cNvPr id="15" name="Text 12"/>
          <p:cNvSpPr/>
          <p:nvPr/>
        </p:nvSpPr>
        <p:spPr>
          <a:xfrm>
            <a:off x="548640" y="5806440"/>
            <a:ext cx="11064240" cy="548640"/>
          </a:xfrm>
          <a:prstGeom prst="rect">
            <a:avLst/>
          </a:prstGeom>
          <a:noFill/>
          <a:ln/>
        </p:spPr>
        <p:txBody>
          <a:bodyPr wrap="square" lIns="0" tIns="0" rIns="0" bIns="0" rtlCol="0" anchor="t"/>
          <a:lstStyle/>
          <a:p>
            <a:pPr marL="0" indent="0" algn="l">
              <a:buNone/>
            </a:pPr>
            <a:r>
              <a:rPr lang="en-US" sz="1250" dirty="0">
                <a:solidFill>
                  <a:srgbClr val="9CA3AF"/>
                </a:solidFill>
                <a:latin typeface="Calibri" pitchFamily="34" charset="0"/>
                <a:ea typeface="Calibri" pitchFamily="34" charset="-122"/>
                <a:cs typeface="Calibri" pitchFamily="34" charset="-120"/>
              </a:rPr>
              <a:t>All 3 clips above are embedded from live executions on this machine (Zetaris JDBC :10000, FastAPI :8000, Web UI :8501, Meterless Nightshift :8088).</a:t>
            </a:r>
            <a:endParaRPr lang="en-US" sz="1250" dirty="0"/>
          </a:p>
        </p:txBody>
      </p:sp>
      <p:pic>
        <p:nvPicPr>
          <p:cNvPr id="5" name="media-16-1">
            <a:hlinkClick r:id="" action="ppaction://media"/>
            <a:extLst>
              <a:ext uri="{FF2B5EF4-FFF2-40B4-BE49-F238E27FC236}">
                <a16:creationId xmlns:a16="http://schemas.microsoft.com/office/drawing/2014/main" id="{1BF67E19-2C22-4D6C-9ACF-7DF0726ED2E0}"/>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548640" y="1600201"/>
            <a:ext cx="3566160" cy="2005965"/>
          </a:xfrm>
          <a:prstGeom prst="rect">
            <a:avLst/>
          </a:prstGeom>
        </p:spPr>
      </p:pic>
      <p:pic>
        <p:nvPicPr>
          <p:cNvPr id="16" name="media-16-2">
            <a:hlinkClick r:id="" action="ppaction://media"/>
            <a:extLst>
              <a:ext uri="{FF2B5EF4-FFF2-40B4-BE49-F238E27FC236}">
                <a16:creationId xmlns:a16="http://schemas.microsoft.com/office/drawing/2014/main" id="{872292E3-3527-4CD2-946C-1C71D0D8F652}"/>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4315968" y="1600201"/>
            <a:ext cx="3566160" cy="2005965"/>
          </a:xfrm>
          <a:prstGeom prst="rect">
            <a:avLst/>
          </a:prstGeom>
        </p:spPr>
      </p:pic>
      <p:pic>
        <p:nvPicPr>
          <p:cNvPr id="17" name="media-16-3">
            <a:hlinkClick r:id="" action="ppaction://media"/>
            <a:extLst>
              <a:ext uri="{FF2B5EF4-FFF2-40B4-BE49-F238E27FC236}">
                <a16:creationId xmlns:a16="http://schemas.microsoft.com/office/drawing/2014/main" id="{8571F653-5129-46C3-B9E7-53B6416F5648}"/>
              </a:ext>
            </a:extLst>
          </p:cNvPr>
          <p:cNvPicPr>
            <a:picLocks noChangeAspect="1"/>
          </p:cNvPicPr>
          <p:nvPr>
            <a:videoFile r:link="rId6"/>
            <p:extLst>
              <p:ext uri="{DAA4B4D4-6D71-4841-9C94-3DE7FCFB9230}">
                <p14:media xmlns:p14="http://schemas.microsoft.com/office/powerpoint/2010/main" r:embed="rId5"/>
              </p:ext>
            </p:extLst>
          </p:nvPr>
        </p:nvPicPr>
        <p:blipFill>
          <a:blip r:embed="rId11"/>
          <a:stretch>
            <a:fillRect/>
          </a:stretch>
        </p:blipFill>
        <p:spPr>
          <a:xfrm>
            <a:off x="8074152" y="1600201"/>
            <a:ext cx="3566160" cy="2005965"/>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video>
              <p:cMediaNode vol="80000">
                <p:cTn id="13" fill="hold" display="0">
                  <p:stCondLst>
                    <p:cond delay="indefinite"/>
                  </p:stCondLst>
                </p:cTn>
                <p:tgtEl>
                  <p:spTgt spid="16"/>
                </p:tgtEl>
              </p:cMediaNode>
            </p:video>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7"/>
                                        </p:tgtEl>
                                      </p:cBhvr>
                                    </p:cmd>
                                  </p:childTnLst>
                                </p:cTn>
                              </p:par>
                            </p:childTnLst>
                          </p:cTn>
                        </p:par>
                      </p:childTnLst>
                    </p:cTn>
                  </p:par>
                </p:childTnLst>
              </p:cTn>
              <p:nextCondLst>
                <p:cond evt="onClick" delay="0">
                  <p:tgtEl>
                    <p:spTgt spid="17"/>
                  </p:tgtEl>
                </p:cond>
              </p:nextCondLst>
            </p:seq>
            <p:video>
              <p:cMediaNode vol="80000">
                <p:cTn id="19" fill="hold" display="0">
                  <p:stCondLst>
                    <p:cond delay="indefinite"/>
                  </p:stCondLst>
                </p:cTn>
                <p:tgtEl>
                  <p:spTgt spid="17"/>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110642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Everything generated: files in the repository</a:t>
            </a:r>
            <a:endParaRPr lang="en-US" sz="34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700" dirty="0">
                <a:solidFill>
                  <a:srgbClr val="9CA3AF"/>
                </a:solidFill>
                <a:latin typeface="Calibri" pitchFamily="34" charset="0"/>
                <a:ea typeface="Calibri" pitchFamily="34" charset="-122"/>
                <a:cs typeface="Calibri" pitchFamily="34" charset="-120"/>
              </a:rPr>
              <a:t>github.com/AlonsoAlviraa/veriagent-why (main @ ee3db6a)</a:t>
            </a:r>
            <a:endParaRPr lang="en-US" sz="1700" dirty="0"/>
          </a:p>
        </p:txBody>
      </p:sp>
      <p:sp>
        <p:nvSpPr>
          <p:cNvPr id="4" name="Text 2"/>
          <p:cNvSpPr/>
          <p:nvPr/>
        </p:nvSpPr>
        <p:spPr>
          <a:xfrm>
            <a:off x="11274552" y="6419088"/>
            <a:ext cx="457200" cy="274320"/>
          </a:xfrm>
          <a:prstGeom prst="rect">
            <a:avLst/>
          </a:prstGeom>
          <a:noFill/>
          <a:ln/>
        </p:spPr>
        <p:txBody>
          <a:bodyPr wrap="square" lIns="0" tIns="0" rIns="0" bIns="0" rtlCol="0" anchor="ctr"/>
          <a:lstStyle/>
          <a:p>
            <a:pPr marL="0" indent="0" algn="r">
              <a:buNone/>
            </a:pPr>
            <a:r>
              <a:rPr lang="en-US" sz="1100" dirty="0">
                <a:solidFill>
                  <a:srgbClr val="6B7280"/>
                </a:solidFill>
                <a:latin typeface="Consolas" pitchFamily="34" charset="0"/>
                <a:ea typeface="Consolas" pitchFamily="34" charset="-122"/>
                <a:cs typeface="Consolas" pitchFamily="34" charset="-120"/>
              </a:rPr>
              <a:t>17</a:t>
            </a:r>
            <a:endParaRPr lang="en-US" sz="1100" dirty="0"/>
          </a:p>
        </p:txBody>
      </p:sp>
      <p:sp>
        <p:nvSpPr>
          <p:cNvPr id="6" name="Shape 3"/>
          <p:cNvSpPr/>
          <p:nvPr/>
        </p:nvSpPr>
        <p:spPr>
          <a:xfrm>
            <a:off x="548640" y="1554480"/>
            <a:ext cx="3593592" cy="4160520"/>
          </a:xfrm>
          <a:prstGeom prst="roundRect">
            <a:avLst>
              <a:gd name="adj" fmla="val 2036"/>
            </a:avLst>
          </a:prstGeom>
          <a:solidFill>
            <a:srgbClr val="0B0B0B"/>
          </a:solidFill>
          <a:ln w="15875">
            <a:solidFill>
              <a:srgbClr val="4ADE80"/>
            </a:solidFill>
            <a:prstDash val="dash"/>
          </a:ln>
        </p:spPr>
      </p:sp>
      <p:sp>
        <p:nvSpPr>
          <p:cNvPr id="7" name="Text 4"/>
          <p:cNvSpPr/>
          <p:nvPr/>
        </p:nvSpPr>
        <p:spPr>
          <a:xfrm>
            <a:off x="731520" y="1664208"/>
            <a:ext cx="3200400" cy="365760"/>
          </a:xfrm>
          <a:prstGeom prst="rect">
            <a:avLst/>
          </a:prstGeom>
          <a:noFill/>
          <a:ln/>
        </p:spPr>
        <p:txBody>
          <a:bodyPr wrap="square" lIns="0" tIns="0" rIns="0" bIns="0" rtlCol="0" anchor="t"/>
          <a:lstStyle/>
          <a:p>
            <a:pPr marL="0" indent="0" algn="l">
              <a:buNone/>
            </a:pPr>
            <a:r>
              <a:rPr lang="en-US" sz="1500" dirty="0">
                <a:solidFill>
                  <a:srgbClr val="4ADE80"/>
                </a:solidFill>
                <a:latin typeface="Consolas" pitchFamily="34" charset="0"/>
                <a:ea typeface="Consolas" pitchFamily="34" charset="-122"/>
                <a:cs typeface="Consolas" pitchFamily="34" charset="-120"/>
              </a:rPr>
              <a:t>outputs &amp; runs</a:t>
            </a:r>
            <a:endParaRPr lang="en-US" sz="1500" dirty="0"/>
          </a:p>
        </p:txBody>
      </p:sp>
      <p:sp>
        <p:nvSpPr>
          <p:cNvPr id="8" name="Text 5"/>
          <p:cNvSpPr/>
          <p:nvPr/>
        </p:nvSpPr>
        <p:spPr>
          <a:xfrm>
            <a:off x="658368" y="2148840"/>
            <a:ext cx="3291840" cy="3474720"/>
          </a:xfrm>
          <a:prstGeom prst="rect">
            <a:avLst/>
          </a:prstGeom>
          <a:noFill/>
          <a:ln/>
        </p:spPr>
        <p:txBody>
          <a:bodyPr wrap="none" lIns="0" tIns="0" rIns="0" bIns="0" rtlCol="0" anchor="t"/>
          <a:lstStyle/>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output_examples/example_1..3.json</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  SAMPLE_MODE outputs</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output_examples/example_4_live_nightshift.json</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output_examples/example_5_live_zetaris_nightshift.json</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logs/examples/trace-example-00{1,2,3}.jsonl</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logs/examples/memo-example-00{1,2,3}.md</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logs/examples/hmem-ledger-example-00{1,2,3}.jsonl</a:t>
            </a:r>
            <a:endParaRPr lang="en-US" sz="850" dirty="0"/>
          </a:p>
        </p:txBody>
      </p:sp>
      <p:sp>
        <p:nvSpPr>
          <p:cNvPr id="9" name="Shape 6"/>
          <p:cNvSpPr/>
          <p:nvPr/>
        </p:nvSpPr>
        <p:spPr>
          <a:xfrm>
            <a:off x="4297680" y="1554480"/>
            <a:ext cx="3593592" cy="4160520"/>
          </a:xfrm>
          <a:prstGeom prst="roundRect">
            <a:avLst>
              <a:gd name="adj" fmla="val 2036"/>
            </a:avLst>
          </a:prstGeom>
          <a:solidFill>
            <a:srgbClr val="0B0B0B"/>
          </a:solidFill>
          <a:ln w="15875">
            <a:solidFill>
              <a:srgbClr val="4ADE80"/>
            </a:solidFill>
            <a:prstDash val="dash"/>
          </a:ln>
        </p:spPr>
      </p:sp>
      <p:sp>
        <p:nvSpPr>
          <p:cNvPr id="10" name="Text 7"/>
          <p:cNvSpPr/>
          <p:nvPr/>
        </p:nvSpPr>
        <p:spPr>
          <a:xfrm>
            <a:off x="4480560" y="1664208"/>
            <a:ext cx="3200400" cy="365760"/>
          </a:xfrm>
          <a:prstGeom prst="rect">
            <a:avLst/>
          </a:prstGeom>
          <a:noFill/>
          <a:ln/>
        </p:spPr>
        <p:txBody>
          <a:bodyPr wrap="square" lIns="0" tIns="0" rIns="0" bIns="0" rtlCol="0" anchor="t"/>
          <a:lstStyle/>
          <a:p>
            <a:pPr marL="0" indent="0" algn="l">
              <a:buNone/>
            </a:pPr>
            <a:r>
              <a:rPr lang="en-US" sz="1500" dirty="0">
                <a:solidFill>
                  <a:srgbClr val="4ADE80"/>
                </a:solidFill>
                <a:latin typeface="Consolas" pitchFamily="34" charset="0"/>
                <a:ea typeface="Consolas" pitchFamily="34" charset="-122"/>
                <a:cs typeface="Consolas" pitchFamily="34" charset="-120"/>
              </a:rPr>
              <a:t>live sessions &amp; receipts</a:t>
            </a:r>
            <a:endParaRPr lang="en-US" sz="1500" dirty="0"/>
          </a:p>
        </p:txBody>
      </p:sp>
      <p:sp>
        <p:nvSpPr>
          <p:cNvPr id="11" name="Text 8"/>
          <p:cNvSpPr/>
          <p:nvPr/>
        </p:nvSpPr>
        <p:spPr>
          <a:xfrm>
            <a:off x="4480560" y="2148840"/>
            <a:ext cx="3291840" cy="3474720"/>
          </a:xfrm>
          <a:prstGeom prst="rect">
            <a:avLst/>
          </a:prstGeom>
          <a:noFill/>
          <a:ln/>
        </p:spPr>
        <p:txBody>
          <a:bodyPr wrap="none" lIns="0" tIns="0" rIns="0" bIns="0" rtlCol="0" anchor="t"/>
          <a:lstStyle/>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eval/nightshift_live/v2_agent_ids/</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  zetaris-receipts-example-00{1,2,3}.jsonl</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  sample-receipts-example-00{1,2,3}.jsonl</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logs/olist_zetaris_session_20261024_1041/</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  traces, results, memos olist_q1..q3</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logs/zetaris_session_20261024_1015/</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docs/OLIST_ZETARIS_SESSION_20261024.md</a:t>
            </a:r>
            <a:endParaRPr lang="en-US" sz="850" dirty="0"/>
          </a:p>
        </p:txBody>
      </p:sp>
      <p:sp>
        <p:nvSpPr>
          <p:cNvPr id="12" name="Shape 9"/>
          <p:cNvSpPr/>
          <p:nvPr/>
        </p:nvSpPr>
        <p:spPr>
          <a:xfrm>
            <a:off x="8046720" y="1554480"/>
            <a:ext cx="3593592" cy="4160520"/>
          </a:xfrm>
          <a:prstGeom prst="roundRect">
            <a:avLst>
              <a:gd name="adj" fmla="val 2036"/>
            </a:avLst>
          </a:prstGeom>
          <a:solidFill>
            <a:srgbClr val="0B0B0B"/>
          </a:solidFill>
          <a:ln w="15875">
            <a:solidFill>
              <a:srgbClr val="FBBF24"/>
            </a:solidFill>
            <a:prstDash val="dash"/>
          </a:ln>
        </p:spPr>
      </p:sp>
      <p:sp>
        <p:nvSpPr>
          <p:cNvPr id="13" name="Text 10"/>
          <p:cNvSpPr/>
          <p:nvPr/>
        </p:nvSpPr>
        <p:spPr>
          <a:xfrm>
            <a:off x="8229600" y="1664208"/>
            <a:ext cx="3200400" cy="365760"/>
          </a:xfrm>
          <a:prstGeom prst="rect">
            <a:avLst/>
          </a:prstGeom>
          <a:noFill/>
          <a:ln/>
        </p:spPr>
        <p:txBody>
          <a:bodyPr wrap="square" lIns="0" tIns="0" rIns="0" bIns="0" rtlCol="0" anchor="t"/>
          <a:lstStyle/>
          <a:p>
            <a:pPr marL="0" indent="0" algn="l">
              <a:buNone/>
            </a:pPr>
            <a:r>
              <a:rPr lang="en-US" sz="1500" dirty="0">
                <a:solidFill>
                  <a:srgbClr val="FBBF24"/>
                </a:solidFill>
                <a:latin typeface="Consolas" pitchFamily="34" charset="0"/>
                <a:ea typeface="Consolas" pitchFamily="34" charset="-122"/>
                <a:cs typeface="Consolas" pitchFamily="34" charset="-120"/>
              </a:rPr>
              <a:t>evaluation &amp; benchmarks</a:t>
            </a:r>
            <a:endParaRPr lang="en-US" sz="1500" dirty="0"/>
          </a:p>
        </p:txBody>
      </p:sp>
      <p:sp>
        <p:nvSpPr>
          <p:cNvPr id="14" name="Text 11"/>
          <p:cNvSpPr/>
          <p:nvPr/>
        </p:nvSpPr>
        <p:spPr>
          <a:xfrm>
            <a:off x="8229600" y="2148840"/>
            <a:ext cx="3291840" cy="3474720"/>
          </a:xfrm>
          <a:prstGeom prst="rect">
            <a:avLst/>
          </a:prstGeom>
          <a:noFill/>
          <a:ln/>
        </p:spPr>
        <p:txBody>
          <a:bodyPr wrap="none" lIns="0" tIns="0" rIns="0" bIns="0" rtlCol="0" anchor="t"/>
          <a:lstStyle/>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eval/RESULTS_dev_nightshift.md</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eval/RESULTS_dev_nvidia.md, RESULTS_dev_sample.md</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docs/V11_RESULTS.md + docs/v11/MANIFEST.sha256</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docs/V10_RESULTS.md, TEST500_RESULTS.md</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docs/V9_GENERALIZATION_RESULTS.md</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docs/TEST_BATTERY_REPORT.md</a:t>
            </a:r>
            <a:endParaRPr lang="en-US" sz="850" dirty="0"/>
          </a:p>
          <a:p>
            <a:pPr marL="0" indent="0" algn="l">
              <a:spcAft>
                <a:spcPts val="500"/>
              </a:spcAft>
              <a:buNone/>
            </a:pPr>
            <a:r>
              <a:rPr lang="en-US" sz="850" dirty="0">
                <a:solidFill>
                  <a:srgbClr val="D1D5DB"/>
                </a:solidFill>
                <a:latin typeface="Consolas" pitchFamily="34" charset="0"/>
                <a:ea typeface="Consolas" pitchFamily="34" charset="-122"/>
                <a:cs typeface="Consolas" pitchFamily="34" charset="-120"/>
              </a:rPr>
              <a:t>docs/trace_audit/TEST500_ERRORS.md</a:t>
            </a:r>
            <a:endParaRPr lang="en-US" sz="850" dirty="0"/>
          </a:p>
        </p:txBody>
      </p:sp>
      <p:sp>
        <p:nvSpPr>
          <p:cNvPr id="15" name="Text 12"/>
          <p:cNvSpPr/>
          <p:nvPr/>
        </p:nvSpPr>
        <p:spPr>
          <a:xfrm>
            <a:off x="548640" y="5852160"/>
            <a:ext cx="11064240" cy="45720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Also: docs/diagrams/veriagent_why_arch_FINAL.png · docs/PRE_EXISTING_WORK.md · README (setup, AI and Model Usage, limits) · clips in this deck replay these files.</a:t>
            </a:r>
            <a:endParaRPr lang="en-US" sz="1300" dirty="0"/>
          </a:p>
        </p:txBody>
      </p:sp>
      <p:sp>
        <p:nvSpPr>
          <p:cNvPr id="16" name="Text 13"/>
          <p:cNvSpPr/>
          <p:nvPr/>
        </p:nvSpPr>
        <p:spPr>
          <a:xfrm>
            <a:off x="548640" y="6419088"/>
            <a:ext cx="9144000" cy="274320"/>
          </a:xfrm>
          <a:prstGeom prst="rect">
            <a:avLst/>
          </a:prstGeom>
          <a:noFill/>
          <a:ln/>
        </p:spPr>
        <p:txBody>
          <a:bodyPr wrap="square" lIns="0" tIns="0" rIns="0" bIns="0" rtlCol="0" anchor="ctr"/>
          <a:lstStyle/>
          <a:p>
            <a:pPr marL="0" indent="0" algn="l">
              <a:buNone/>
            </a:pPr>
            <a:r>
              <a:rPr lang="en-US" sz="1100" dirty="0">
                <a:solidFill>
                  <a:srgbClr val="9CA3AF"/>
                </a:solidFill>
                <a:latin typeface="Consolas" pitchFamily="34" charset="0"/>
                <a:ea typeface="Consolas" pitchFamily="34" charset="-122"/>
                <a:cs typeface="Consolas" pitchFamily="34" charset="-120"/>
              </a:rPr>
              <a:t>Green = runs in the product today · Amber = benchmark harness only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3856</Words>
  <Application>Microsoft Office PowerPoint</Application>
  <PresentationFormat>Panorámica</PresentationFormat>
  <Paragraphs>386</Paragraphs>
  <Slides>17</Slides>
  <Notes>17</Notes>
  <HiddenSlides>0</HiddenSlides>
  <MMClips>10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VeriAgent Why</dc:title>
  <dc:subject>PptxGenJS Presentation</dc:subject>
  <dc:creator>Alonso Alvira Ballano</dc:creator>
  <cp:lastModifiedBy>Mariano</cp:lastModifiedBy>
  <cp:revision>2</cp:revision>
  <dcterms:created xsi:type="dcterms:W3CDTF">2026-10-26T18:11:27Z</dcterms:created>
  <dcterms:modified xsi:type="dcterms:W3CDTF">2026-10-26T18:59:50Z</dcterms:modified>
</cp:coreProperties>
</file>